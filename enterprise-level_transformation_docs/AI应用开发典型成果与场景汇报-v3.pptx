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1365" cy="6858000" type="screen4x3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3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微软雅黑" panose="020B0503020204020204" charset="-122"/>
                <a:ea typeface="微软雅黑" panose="020B0503020204020204" charset="-122"/>
              </a:rPr>
              <a:t>企业级 AI 应用成果汇报</a:t>
            </a:r>
            <a:endParaRPr sz="1600" b="1">
              <a:solidFill>
                <a:srgbClr val="99F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成果积累  ·  使用场景与效果分享</a:t>
            </a:r>
            <a:endParaRPr sz="20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面向能源电力工业场景  |  基座能力 + 业务应用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 / 14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汇报结构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488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定位与价值</a:t>
            </a:r>
            <a:endParaRPr sz="1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平台是什么，解决什么问题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14884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3320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成果积累</a:t>
            </a:r>
            <a:endParaRPr sz="1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49040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基座能力 · 关键技术 · 简要说明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79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21488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39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场景与效果</a:t>
            </a:r>
            <a:endParaRPr sz="1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59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已落地应用与文字效果描述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3999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12679" y="214884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79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81159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收束展望</a:t>
            </a:r>
            <a:endParaRPr sz="1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79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可复制、可演示、可深化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平台定位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一句话说清我们在做什么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面向能源电力工业场景的企业级 AI 应用基座：统一沉淀推理、检索、问数与多轮会话能力，并交付开箱即用的业务应用。</a:t>
            </a:r>
            <a:endParaRPr sz="16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73152" cy="2468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统一基座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推理 · 检索 · 问数 · 会话
收敛为一套服务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7472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971800"/>
            <a:ext cx="73152" cy="24688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生产可控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只读 SQL · 知识域隔离
Prompt 治理 · HITL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71800"/>
            <a:ext cx="73152" cy="2468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场景可扩展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新业务优先配置接入
少改底层引擎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971800"/>
            <a:ext cx="73152" cy="24688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双轮驱动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非结构化知识 + 结构化数据
而非「只包一层 Chat」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成果总览：分层架构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可复用基座 + 可交付应用 + 可复制部署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6988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4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基座核心能力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上层场景共享复用的核心能力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pilla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28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6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企业级关键技术能力（精选）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相对通用 LLM 封装的差异化深化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指代消解 P0～P3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「它 / 上次那个」可绑定续问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80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645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0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章节大纲续问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90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「上面第 N 点」结构化回锚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66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76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滑动窗口切块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76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长规程连贯，降低切缝漏召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52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62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图文关联召回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2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问文字可带出附图依据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738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48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NL2SQL 双闭环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48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校验/执行失败可 refine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C-RAG 质量闭环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低质召回不硬答，可重写澄清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880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3931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90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分析并行 + 质量门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990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多维取数，不足则降级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166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276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看图三臂 + HITL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76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视觉 ‖ 问数 ‖ 知识可确认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452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600" y="3931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62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检修分块并行抽取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562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三阶段 LLM，长文档结构化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738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15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848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Prompt 配置治理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48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版本可控 · 场景可扩展</a:t>
            </a:r>
            <a:endParaRPr sz="11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7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关键能力简要说明（1/2）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精选能力 01～05：解决什么问题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1435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指代消解 P0～P3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14538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「它 / 上次那个」可绑定续问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1764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规则判型后融合检索 query，并可叠加对话锚块、会话槽位与灰区 Coref，让多轮弱指代仍能答到正确实体与话题。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22860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章节大纲续问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「上面第 N 点」结构化回锚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2724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助手回答后异步抽取条目大纲并保存；用户按「第几点」追问时可精确回锚对应要点，与指代消解互补。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3355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滑动窗口切块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0" y="33741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长规程连贯，降低切缝漏召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00200" y="3685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知识摄入按结构/语义切分，超长段用 overlap 滑动窗口保留相邻上下文，缓解答案落在切缝导致的漏召。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图文关联召回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问文字可带出附图依据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002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正文与图块双向关联入库；正文命中后可扩展召回附图，支撑规程/案例类「问文字、见附图」。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36752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200" y="5276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NL2SQL 双闭环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0" y="5294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校验/执行失败可 refine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605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生成校验失败与 EXPLAIN/执行失败均可自动修正 SQL，且修正后仍须过完整安全校验，不能绕过只读边界。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8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关键能力简要说明（2/2）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精选能力 06～10：解决什么问题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1435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C-RAG 质量闭环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14538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低质召回不硬答，可重写澄清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1764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对检索质量做门控：不足则重写 query、有限次重试；仍不达标则转澄清，避免低质量上下文硬答。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22860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分析并行 + 质量门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多维取数，不足则降级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2724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分析计划按依赖分层并行 NL2SQL 取数；数据不足时降级提示而非编造，保障报告可用性与可信度。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3355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看图三臂 + HITL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0" y="33741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视觉 ‖ 问数 ‖ 知识可确认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00200" y="3685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视觉判定、历史问数、业务知识三路并行后合成；机组/范围不确定时可人机确认，降低取错数风险。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检修分块并行抽取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三阶段 LLM，长文档结构化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002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长检修报告分块后走 parse→classify→repair 三阶段并行 LLM 抽取，输出可入库的标准缺陷结构化数据。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36752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200" y="5276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Prompt 配置治理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0" y="5294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版本可控 · 场景可扩展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605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Prompt 与报告规格集中配置、可按场景/版本分流；新专题优先加配置扩展，少改核心引擎。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9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sz="1600" b="1">
              <a:solidFill>
                <a:srgbClr val="99F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使用场景及效果分享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FBF1"/>
                </a:solidFill>
                <a:latin typeface="微软雅黑" panose="020B0503020204020204" charset="-122"/>
                <a:ea typeface="微软雅黑" panose="020B0503020204020204" charset="-122"/>
              </a:rPr>
              <a:t>效果以文字描述为主，后续可扩展应用截图 / 演示素材</a:t>
            </a:r>
            <a:endParaRPr sz="1500" b="0">
              <a:solidFill>
                <a:srgbClr val="CCFB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场景全景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已落地应用按三类入口归集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scen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45175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核心场景与效果</a:t>
            </a:r>
            <a:endParaRPr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9436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9436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AI问答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规程问答 + 台账查数一站式入口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82296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7×24 自然语言入口；少翻册、少写 SQL；支持「它 / 第几点」续问。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38912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7"/>
            </p:custDataLst>
          </p:nvPr>
        </p:nvSpPr>
        <p:spPr>
          <a:xfrm>
            <a:off x="4389120" y="1371600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6177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超温 / 专项分析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4617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并行取数生成结构化分析报告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461772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缩短信息收集与初判时间；报告结构统一；数据不足可降级提示。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11"/>
            </p:custDataLst>
          </p:nvPr>
        </p:nvSpPr>
        <p:spPr>
          <a:xfrm>
            <a:off x="818388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818388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看图诊断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现场拍照 + 历史数据 + 规程知识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巡检/停机「拍即诊」；风险与处置建议可讨论；范围可人确认。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16"/>
            </p:custDataLst>
          </p:nvPr>
        </p:nvSpPr>
        <p:spPr>
          <a:xfrm>
            <a:off x="59436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17"/>
            </p:custDataLst>
          </p:nvPr>
        </p:nvSpPr>
        <p:spPr>
          <a:xfrm>
            <a:off x="59436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82296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检修报告抽取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82296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Word/PDF → 标准缺陷 JSON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82296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录入由抄录转为复核；格式统一可入库；长文档分块并行抽取。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438912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22"/>
            </p:custDataLst>
          </p:nvPr>
        </p:nvSpPr>
        <p:spPr>
          <a:xfrm>
            <a:off x="4389120" y="3749039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461772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泄爆溯源分析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461772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五类×三层结构化溯源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5"/>
            </p:custDataLst>
          </p:nvPr>
        </p:nvSpPr>
        <p:spPr>
          <a:xfrm>
            <a:off x="461772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事故调查有规范草稿起步；案例与规程可引用、可复查。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>
            <p:custDataLst>
              <p:tags r:id="rId26"/>
            </p:custDataLst>
          </p:nvPr>
        </p:nvSpPr>
        <p:spPr>
          <a:xfrm>
            <a:off x="818388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>
            <p:custDataLst>
              <p:tags r:id="rId27"/>
            </p:custDataLst>
          </p:nvPr>
        </p:nvSpPr>
        <p:spPr>
          <a:xfrm>
            <a:off x="818388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>
            <p:custDataLst>
              <p:tags r:id="rId28"/>
            </p:custDataLst>
          </p:nvPr>
        </p:nvSpPr>
        <p:spPr>
          <a:xfrm>
            <a:off x="841248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知识库运维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>
            <p:custDataLst>
              <p:tags r:id="rId29"/>
            </p:custDataLst>
          </p:nvPr>
        </p:nvSpPr>
        <p:spPr>
          <a:xfrm>
            <a:off x="841248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文档摄入 · 域隔离 · 检索调优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30"/>
            </p:custDataLst>
          </p:nvPr>
        </p:nvSpPr>
        <p:spPr>
          <a:xfrm>
            <a:off x="841248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知识资产可运营；支撑客服与分析「答得准、不串域」。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核心场景与效果</a:t>
            </a:r>
            <a:r>
              <a:rPr 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 - AI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问答</a:t>
            </a:r>
            <a:endParaRPr lang="zh-CN" altLang="en-US"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280" y="975995"/>
            <a:ext cx="9121775" cy="53803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核心场景与效果</a:t>
            </a:r>
            <a:r>
              <a:rPr 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超温专项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lang="zh-CN" altLang="en-US"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515" y="948690"/>
            <a:ext cx="8564880" cy="5507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核心场景与效果</a:t>
            </a:r>
            <a:r>
              <a:rPr 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看图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诊断</a:t>
            </a:r>
            <a:endParaRPr lang="zh-CN" altLang="en-US"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370" y="929640"/>
            <a:ext cx="8377555" cy="54654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核心场景与效果</a:t>
            </a:r>
            <a:r>
              <a:rPr 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检修报告结构化数据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抽取</a:t>
            </a:r>
            <a:endParaRPr lang="zh-CN" altLang="en-US"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10648315" cy="51549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场景与效果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核心场景与效果</a:t>
            </a:r>
            <a:r>
              <a:rPr 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lang="zh-CN" altLang="en-US" sz="26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运维</a:t>
            </a:r>
            <a:endParaRPr lang="zh-CN" altLang="en-US" sz="26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大模型在线应用平台  ·  AI 应用成果汇报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75" y="975360"/>
            <a:ext cx="10085705" cy="54902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3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4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5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6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7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8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9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0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1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2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3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4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5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6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7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8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19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0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1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2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3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4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5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6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7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8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29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30.xml><?xml version="1.0" encoding="utf-8"?>
<p:tagLst xmlns:p="http://schemas.openxmlformats.org/presentationml/2006/main">
  <p:tag name="KSO_WM_DIAGRAM_VIRTUALLY_FRAME" val="{&quot;height&quot;:356.3999212598425,&quot;left&quot;:46.8,&quot;top&quot;:108,&quot;width&quot;:882}"/>
</p:tagLst>
</file>

<file path=ppt/tags/tag31.xml><?xml version="1.0" encoding="utf-8"?>
<p:tagLst xmlns:p="http://schemas.openxmlformats.org/presentationml/2006/main">
  <p:tag name="commondata" val="eyJoZGlkIjoiZDMwNGY4NTQ1YTUyZDg5YTJhMjljZWJiMjI1MzcxNz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2567</Words>
  <Application>WPS 演示</Application>
  <PresentationFormat>On-screen Show (4:3)</PresentationFormat>
  <Paragraphs>358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gaocf</cp:lastModifiedBy>
  <cp:revision>18</cp:revision>
  <dcterms:created xsi:type="dcterms:W3CDTF">2013-01-27T09:14:00Z</dcterms:created>
  <dcterms:modified xsi:type="dcterms:W3CDTF">2026-07-20T09:26:50Z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503986C723394350BB1050B488D90C5B_12</vt:lpwstr>
  </property>
  <property fmtid="{D5CDD505-2E9C-101B-9397-08002B2CF9AE}" pid="3" name="KSOProductBuildVer">
    <vt:lpwstr>2052-12.1.0.18276</vt:lpwstr>
  </property>
</Properties>
</file>