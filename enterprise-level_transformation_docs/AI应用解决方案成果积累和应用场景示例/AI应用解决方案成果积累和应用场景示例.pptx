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1365" cy="6858000" type="screen4x3"/>
  <p:notesSz cx="6858000" cy="9144000"/>
  <p:custDataLst>
    <p:tags r:id="rId2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gs" Target="tags/tag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99F6E4"/>
                </a:solidFill>
                <a:latin typeface="微软雅黑" panose="020B0503020204020204" charset="-122"/>
                <a:ea typeface="微软雅黑" panose="020B0503020204020204" charset="-122"/>
              </a:rPr>
              <a:t>企业级 AI 应用解决方案</a:t>
            </a:r>
            <a:endParaRPr sz="1600" b="1">
              <a:solidFill>
                <a:srgbClr val="99F6E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5840" y="2331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成果积累与应用场景示例</a:t>
            </a:r>
            <a:endParaRPr sz="3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5840" y="33832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</a:rPr>
              <a:t>行业场景解决方案  ·  典型应用示例</a:t>
            </a:r>
            <a:endParaRPr sz="1800" b="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5840" y="5120640"/>
            <a:ext cx="914400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能源电力</a:t>
            </a:r>
            <a:r>
              <a:rPr lang="zh-CN" sz="13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等</a:t>
            </a:r>
            <a:r>
              <a:rPr sz="13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工业场景  |  大模型在线应用平台</a:t>
            </a:r>
            <a:endParaRPr sz="13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AI 应用解决方案  ·  成果积累与应用场景示例</a:t>
            </a:r>
            <a:endParaRPr sz="10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1 / 22</a:t>
            </a:r>
            <a:endParaRPr sz="10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11480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4747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汇报结构</a:t>
            </a:r>
            <a:endParaRPr sz="24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行业方案成果 + 应用场景示例</a:t>
            </a:r>
            <a:endParaRPr sz="13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417320" y="1828800"/>
            <a:ext cx="310896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560320" y="2194560"/>
            <a:ext cx="822960" cy="82296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2359152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00200" y="3246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定位与主张</a:t>
            </a:r>
            <a:endParaRPr sz="15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45920" y="38404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我们交付什么</a:t>
            </a:r>
            <a:endParaRPr sz="12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800600" y="1828800"/>
            <a:ext cx="310896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43600" y="2194560"/>
            <a:ext cx="822960" cy="822960"/>
          </a:xfrm>
          <a:prstGeom prst="ellipse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2359152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983480" y="3246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行业场景方案</a:t>
            </a:r>
            <a:endParaRPr sz="15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29200" y="38404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总览 + 要点 + 详解</a:t>
            </a:r>
            <a:endParaRPr sz="12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183880" y="1828800"/>
            <a:ext cx="310896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326880" y="2194560"/>
            <a:ext cx="822960" cy="82296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2359152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366760" y="3246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应用场景示例</a:t>
            </a:r>
            <a:endParaRPr sz="15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412480" y="38404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项目落地实例</a:t>
            </a:r>
            <a:endParaRPr sz="12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AI 应用解决方案  ·  成果积累与应用场景示例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2 / 22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11480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4747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定位与核心主张</a:t>
            </a:r>
            <a:endParaRPr sz="24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行业可交付 · 场景可落地 · 生产可用</a:t>
            </a:r>
            <a:endParaRPr sz="13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332"/>
                </a:solidFill>
                <a:latin typeface="微软雅黑" panose="020B0503020204020204" charset="-122"/>
                <a:ea typeface="微软雅黑" panose="020B0503020204020204" charset="-122"/>
              </a:rPr>
              <a:t>面向能源及同类工业场景，沉淀可跨行业复用的解决方案包，并交付可落地的业务应用。</a:t>
            </a:r>
            <a:endParaRPr sz="1500" b="0">
              <a:solidFill>
                <a:srgbClr val="1A23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" y="2880360"/>
            <a:ext cx="26974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880360"/>
            <a:ext cx="91440" cy="27432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108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行业方案可复制</a:t>
            </a:r>
            <a:endParaRPr sz="14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8680" y="3749039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问答、分析、现场研判、文档整理
按场景打包，换客户主要接知识与数据</a:t>
            </a:r>
            <a:endParaRPr sz="12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474720" y="2880360"/>
            <a:ext cx="26974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74720" y="2880360"/>
            <a:ext cx="91440" cy="27432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3108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场景可落地</a:t>
            </a:r>
            <a:endParaRPr sz="14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703320" y="3749039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通用方案已有项目实例
可演示、可推广</a:t>
            </a:r>
            <a:endParaRPr sz="12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309360" y="2880360"/>
            <a:ext cx="26974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2880360"/>
            <a:ext cx="91440" cy="27432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3108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双轮驱动</a:t>
            </a:r>
            <a:endParaRPr sz="14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537960" y="3749039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企业知识
+ 业务数据协同</a:t>
            </a:r>
            <a:endParaRPr sz="12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144000" y="2880360"/>
            <a:ext cx="26974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2880360"/>
            <a:ext cx="91440" cy="27432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72600" y="3108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生产可用</a:t>
            </a:r>
            <a:endParaRPr sz="14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372600" y="3749039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只读查数 · 知识隔离
关键环节可人工确认</a:t>
            </a:r>
            <a:endParaRPr sz="12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AI 应用解决方案  ·  成果积累与应用场景示例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3 / 22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PART 01  ·  成果积累</a:t>
            </a:r>
            <a:endParaRPr sz="11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成果总览</a:t>
            </a:r>
            <a:endParaRPr sz="24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行业方案包 + 已落地场景</a:t>
            </a:r>
            <a:endParaRPr sz="13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Picture 7" descr="overvie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11247120" cy="448283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AI 应用解决方案  ·  成果积累与应用场景示例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4 / 22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PART 01  ·  成果积累</a:t>
            </a:r>
            <a:endParaRPr sz="11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行业场景解决方案</a:t>
            </a:r>
            <a:endParaRPr sz="24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914400"/>
            <a:ext cx="1051560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sz="13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Picture 7" descr="indust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11155680" cy="44463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AI 应用解决方案  ·  成果积累与应用场景示例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5 / 22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PART 01  ·  成果积累</a:t>
            </a:r>
            <a:endParaRPr sz="11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行业方案要点</a:t>
            </a:r>
            <a:endParaRPr sz="24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914400"/>
            <a:ext cx="1051560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问题 → 价值（跨行业可套用）</a:t>
            </a:r>
            <a:endParaRPr sz="13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36576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91440" cy="2194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08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知识问答与数据查询一体化</a:t>
            </a:r>
            <a:endParaRPr sz="14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2057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</a:rPr>
              <a:t>问题：资料分散、台账难查</a:t>
            </a:r>
            <a:endParaRPr sz="1100" b="0">
              <a:solidFill>
                <a:srgbClr val="B4530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256032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价值：统一入口问知识、查数据，支持多轮续问</a:t>
            </a:r>
            <a:endParaRPr sz="12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343400" y="1325880"/>
            <a:ext cx="36576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325880"/>
            <a:ext cx="91440" cy="219456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508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多源业务综合分析</a:t>
            </a:r>
            <a:endParaRPr sz="14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0" y="2057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</a:rPr>
              <a:t>问题：分析拼数慢、格式乱</a:t>
            </a:r>
            <a:endParaRPr sz="1100" b="0">
              <a:solidFill>
                <a:srgbClr val="B4530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72000" y="256032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价值：自动取数生成结构化分析报告</a:t>
            </a:r>
            <a:endParaRPr sz="12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183880" y="1325880"/>
            <a:ext cx="36576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80" y="1325880"/>
            <a:ext cx="91440" cy="2194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508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多模态现场研判</a:t>
            </a:r>
            <a:endParaRPr sz="14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412480" y="2057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</a:rPr>
              <a:t>问题：拍照后仍要回办公室查</a:t>
            </a:r>
            <a:endParaRPr sz="1100" b="0">
              <a:solidFill>
                <a:srgbClr val="B4530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412480" y="256032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价值：图像联历史与规范，辅助现场处置</a:t>
            </a:r>
            <a:endParaRPr sz="12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965960" y="3794760"/>
            <a:ext cx="3977639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965960" y="3794760"/>
            <a:ext cx="91440" cy="201168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395935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业务文档结构化整理</a:t>
            </a:r>
            <a:endParaRPr sz="14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194560" y="44348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</a:rPr>
              <a:t>问题：人工录入慢、字段乱</a:t>
            </a:r>
            <a:endParaRPr sz="1100" b="0">
              <a:solidFill>
                <a:srgbClr val="B4530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194560" y="484632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价值：文档自动整理为可入库标准记录</a:t>
            </a:r>
            <a:endParaRPr sz="12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172200" y="3794760"/>
            <a:ext cx="3977639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72200" y="3794760"/>
            <a:ext cx="91440" cy="20116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95935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作业风险行为检测与研判</a:t>
            </a:r>
            <a:endParaRPr sz="14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400800" y="44348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</a:rPr>
              <a:t>问题：复杂现场误报高、难懂行为语义</a:t>
            </a:r>
            <a:endParaRPr sz="1100" b="0">
              <a:solidFill>
                <a:srgbClr val="B4530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400800" y="484632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价值：小模型检出后，多模态大模型二次确认并分级</a:t>
            </a:r>
            <a:endParaRPr sz="12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AI 应用解决方案  ·  成果积累与应用场景示例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6 / 22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PART 01  ·  行业方案详解</a:t>
            </a:r>
            <a:endParaRPr sz="11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详解①  知识问答与业务数据查询一体化</a:t>
            </a:r>
            <a:endParaRPr sz="24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行业场景痛点 → 解决方案 → 可交付能力</a:t>
            </a:r>
            <a:endParaRPr sz="13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7200" y="1234440"/>
            <a:ext cx="58064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91440" cy="15544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25880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</a:rPr>
              <a:t>行业场景痛点</a:t>
            </a:r>
            <a:endParaRPr sz="1200" b="1">
              <a:solidFill>
                <a:srgbClr val="B4530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" y="1618488"/>
            <a:ext cx="5440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2332"/>
                </a:solidFill>
                <a:latin typeface="微软雅黑" panose="020B0503020204020204" charset="-122"/>
                <a:ea typeface="微软雅黑" panose="020B0503020204020204" charset="-122"/>
              </a:rPr>
              <a:t>· 制度/规程/案例分散，一线翻册、找人成本高</a:t>
            </a:r>
            <a:endParaRPr sz="1200" b="0">
              <a:solidFill>
                <a:srgbClr val="1A233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332"/>
                </a:solidFill>
                <a:latin typeface="微软雅黑" panose="020B0503020204020204" charset="-122"/>
                <a:ea typeface="微软雅黑" panose="020B0503020204020204" charset="-122"/>
              </a:rPr>
              <a:t>· 台账统计常依赖专人写查询，响应慢</a:t>
            </a:r>
            <a:endParaRPr sz="1200" b="0">
              <a:solidFill>
                <a:srgbClr val="1A233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332"/>
                </a:solidFill>
                <a:latin typeface="微软雅黑" panose="020B0503020204020204" charset="-122"/>
                <a:ea typeface="微软雅黑" panose="020B0503020204020204" charset="-122"/>
              </a:rPr>
              <a:t>· 多轮追问「它 / 上次那个 / 第几点」易答偏</a:t>
            </a:r>
            <a:endParaRPr sz="1200" b="0">
              <a:solidFill>
                <a:srgbClr val="1A23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57200" y="2926080"/>
            <a:ext cx="58064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926080"/>
            <a:ext cx="91440" cy="14173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017520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解决方案</a:t>
            </a:r>
            <a:endParaRPr sz="12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5800" y="3310128"/>
            <a:ext cx="5440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2332"/>
                </a:solidFill>
                <a:latin typeface="微软雅黑" panose="020B0503020204020204" charset="-122"/>
                <a:ea typeface="微软雅黑" panose="020B0503020204020204" charset="-122"/>
              </a:rPr>
              <a:t>· 统一入口自动分流：问知识 / 查数据</a:t>
            </a:r>
            <a:endParaRPr sz="1200" b="0">
              <a:solidFill>
                <a:srgbClr val="1A233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332"/>
                </a:solidFill>
                <a:latin typeface="微软雅黑" panose="020B0503020204020204" charset="-122"/>
                <a:ea typeface="微软雅黑" panose="020B0503020204020204" charset="-122"/>
              </a:rPr>
              <a:t>· 知识库检索 + 自然语言只读查数</a:t>
            </a:r>
            <a:endParaRPr sz="1200" b="0">
              <a:solidFill>
                <a:srgbClr val="1A233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332"/>
                </a:solidFill>
                <a:latin typeface="微软雅黑" panose="020B0503020204020204" charset="-122"/>
                <a:ea typeface="微软雅黑" panose="020B0503020204020204" charset="-122"/>
              </a:rPr>
              <a:t>· 支持指代消解、条目续问与推荐追问</a:t>
            </a:r>
            <a:endParaRPr sz="1200" b="0">
              <a:solidFill>
                <a:srgbClr val="1A23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57200" y="4480560"/>
            <a:ext cx="58064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80560"/>
            <a:ext cx="91440" cy="1234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572000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可交付能力</a:t>
            </a:r>
            <a:endParaRPr sz="12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85800" y="4864608"/>
            <a:ext cx="5440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2332"/>
                </a:solidFill>
                <a:latin typeface="微软雅黑" panose="020B0503020204020204" charset="-122"/>
                <a:ea typeface="微软雅黑" panose="020B0503020204020204" charset="-122"/>
              </a:rPr>
              <a:t>· AI问答 · 知识库运营 · 安全只读查数</a:t>
            </a:r>
            <a:endParaRPr sz="1200" b="0">
              <a:solidFill>
                <a:srgbClr val="1A233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332"/>
                </a:solidFill>
                <a:latin typeface="微软雅黑" panose="020B0503020204020204" charset="-122"/>
                <a:ea typeface="微软雅黑" panose="020B0503020204020204" charset="-122"/>
              </a:rPr>
              <a:t>· 多轮会话 · 流式交互</a:t>
            </a:r>
            <a:endParaRPr sz="1200" b="0">
              <a:solidFill>
                <a:srgbClr val="1A23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02920" y="5852160"/>
            <a:ext cx="5806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本项目映射：AI问答（规程/案例 + 台账查数）</a:t>
            </a:r>
            <a:endParaRPr sz="12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446520" y="1234440"/>
            <a:ext cx="5212080" cy="4892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detail_q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371600"/>
            <a:ext cx="5488988" cy="46177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AI 应用解决方案  ·  成果积累与应用场景示例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7 / 22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PART 01  ·  行业方案详解</a:t>
            </a:r>
            <a:endParaRPr sz="11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详解②  多源业务综合分析</a:t>
            </a:r>
            <a:endParaRPr sz="24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行业场景痛点 → 解决方案 → 可交付能力</a:t>
            </a:r>
            <a:endParaRPr sz="13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7200" y="1234440"/>
            <a:ext cx="58064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91440" cy="15544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25880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</a:rPr>
              <a:t>行业场景痛点</a:t>
            </a:r>
            <a:endParaRPr sz="1200" b="1">
              <a:solidFill>
                <a:srgbClr val="B4530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" y="1618488"/>
            <a:ext cx="5440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2332"/>
                </a:solidFill>
                <a:latin typeface="微软雅黑" panose="020B0503020204020204" charset="-122"/>
                <a:ea typeface="微软雅黑" panose="020B0503020204020204" charset="-122"/>
              </a:rPr>
              <a:t>· 异常/策略/事故研判需跨系统拼数，周期长</a:t>
            </a:r>
            <a:endParaRPr sz="1200" b="0">
              <a:solidFill>
                <a:srgbClr val="1A233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332"/>
                </a:solidFill>
                <a:latin typeface="微软雅黑" panose="020B0503020204020204" charset="-122"/>
                <a:ea typeface="微软雅黑" panose="020B0503020204020204" charset="-122"/>
              </a:rPr>
              <a:t>· 报告格式因人而异，交接复核成本高</a:t>
            </a:r>
            <a:endParaRPr sz="1200" b="0">
              <a:solidFill>
                <a:srgbClr val="1A233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332"/>
                </a:solidFill>
                <a:latin typeface="微软雅黑" panose="020B0503020204020204" charset="-122"/>
                <a:ea typeface="微软雅黑" panose="020B0503020204020204" charset="-122"/>
              </a:rPr>
              <a:t>· 数据不全时易硬编，缺少缺口说明</a:t>
            </a:r>
            <a:endParaRPr sz="1200" b="0">
              <a:solidFill>
                <a:srgbClr val="1A23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57200" y="2926080"/>
            <a:ext cx="58064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926080"/>
            <a:ext cx="91440" cy="141732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017520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解决方案</a:t>
            </a:r>
            <a:endParaRPr sz="12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5800" y="3310128"/>
            <a:ext cx="5440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2332"/>
                </a:solidFill>
                <a:latin typeface="微软雅黑" panose="020B0503020204020204" charset="-122"/>
                <a:ea typeface="微软雅黑" panose="020B0503020204020204" charset="-122"/>
              </a:rPr>
              <a:t>· 按专题配置取数计划与报告模板</a:t>
            </a:r>
            <a:endParaRPr sz="1200" b="0">
              <a:solidFill>
                <a:srgbClr val="1A233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332"/>
                </a:solidFill>
                <a:latin typeface="微软雅黑" panose="020B0503020204020204" charset="-122"/>
                <a:ea typeface="微软雅黑" panose="020B0503020204020204" charset="-122"/>
              </a:rPr>
              <a:t>· 多维数据与知识并行获取 + 质量门控</a:t>
            </a:r>
            <a:endParaRPr sz="1200" b="0">
              <a:solidFill>
                <a:srgbClr val="1A233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332"/>
                </a:solidFill>
                <a:latin typeface="微软雅黑" panose="020B0503020204020204" charset="-122"/>
                <a:ea typeface="微软雅黑" panose="020B0503020204020204" charset="-122"/>
              </a:rPr>
              <a:t>· 输出结构化报告（含溯源类模板）</a:t>
            </a:r>
            <a:endParaRPr sz="1200" b="0">
              <a:solidFill>
                <a:srgbClr val="1A23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57200" y="4480560"/>
            <a:ext cx="58064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80560"/>
            <a:ext cx="91440" cy="1234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572000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可交付能力</a:t>
            </a:r>
            <a:endParaRPr sz="12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85800" y="4864608"/>
            <a:ext cx="5440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2332"/>
                </a:solidFill>
                <a:latin typeface="微软雅黑" panose="020B0503020204020204" charset="-122"/>
                <a:ea typeface="微软雅黑" panose="020B0503020204020204" charset="-122"/>
              </a:rPr>
              <a:t>· 可配置专题分析服务 · 并行取数</a:t>
            </a:r>
            <a:endParaRPr sz="1200" b="0">
              <a:solidFill>
                <a:srgbClr val="1A233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332"/>
                </a:solidFill>
                <a:latin typeface="微软雅黑" panose="020B0503020204020204" charset="-122"/>
                <a:ea typeface="微软雅黑" panose="020B0503020204020204" charset="-122"/>
              </a:rPr>
              <a:t>· 质量门控 · 结构化报告生成</a:t>
            </a:r>
            <a:endParaRPr sz="1200" b="0">
              <a:solidFill>
                <a:srgbClr val="1A23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02920" y="5852160"/>
            <a:ext cx="5806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本项目映射：超温 / 检修策略 / 四管健康 / 泄爆溯源</a:t>
            </a:r>
            <a:endParaRPr sz="12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446520" y="1234440"/>
            <a:ext cx="5212080" cy="4892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detail_analysi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371600"/>
            <a:ext cx="5488988" cy="46177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AI 应用解决方案  ·  成果积累与应用场景示例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8 / 22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PART 01  ·  行业方案详解</a:t>
            </a:r>
            <a:endParaRPr sz="11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详解③  多模态现场研判</a:t>
            </a:r>
            <a:endParaRPr sz="24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行业场景痛点 → 解决方案 → 可交付能力</a:t>
            </a:r>
            <a:endParaRPr sz="13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7200" y="1234440"/>
            <a:ext cx="58064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91440" cy="15544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25880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</a:rPr>
              <a:t>行业场景痛点</a:t>
            </a:r>
            <a:endParaRPr sz="1200" b="1">
              <a:solidFill>
                <a:srgbClr val="B4530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" y="1618488"/>
            <a:ext cx="5440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2332"/>
                </a:solidFill>
                <a:latin typeface="微软雅黑" panose="020B0503020204020204" charset="-122"/>
                <a:ea typeface="微软雅黑" panose="020B0503020204020204" charset="-122"/>
              </a:rPr>
              <a:t>· 现场拍照后仍要回办公室查历史与规范</a:t>
            </a:r>
            <a:endParaRPr sz="1200" b="0">
              <a:solidFill>
                <a:srgbClr val="1A233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332"/>
                </a:solidFill>
                <a:latin typeface="微软雅黑" panose="020B0503020204020204" charset="-122"/>
                <a:ea typeface="微软雅黑" panose="020B0503020204020204" charset="-122"/>
              </a:rPr>
              <a:t>· 图像、历史数据、规程知识彼此割裂</a:t>
            </a:r>
            <a:endParaRPr sz="1200" b="0">
              <a:solidFill>
                <a:srgbClr val="1A233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332"/>
                </a:solidFill>
                <a:latin typeface="微软雅黑" panose="020B0503020204020204" charset="-122"/>
                <a:ea typeface="微软雅黑" panose="020B0503020204020204" charset="-122"/>
              </a:rPr>
              <a:t>· 对象/范围不清时全自动硬推易误判</a:t>
            </a:r>
            <a:endParaRPr sz="1200" b="0">
              <a:solidFill>
                <a:srgbClr val="1A23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57200" y="2926080"/>
            <a:ext cx="58064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926080"/>
            <a:ext cx="91440" cy="14173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017520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解决方案</a:t>
            </a:r>
            <a:endParaRPr sz="12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5800" y="3310128"/>
            <a:ext cx="5440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2332"/>
                </a:solidFill>
                <a:latin typeface="微软雅黑" panose="020B0503020204020204" charset="-122"/>
                <a:ea typeface="微软雅黑" panose="020B0503020204020204" charset="-122"/>
              </a:rPr>
              <a:t>· 视觉研判 ‖ 历史取数 ‖ 规范检索并行</a:t>
            </a:r>
            <a:endParaRPr sz="1200" b="0">
              <a:solidFill>
                <a:srgbClr val="1A233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332"/>
                </a:solidFill>
                <a:latin typeface="微软雅黑" panose="020B0503020204020204" charset="-122"/>
                <a:ea typeface="微软雅黑" panose="020B0503020204020204" charset="-122"/>
              </a:rPr>
              <a:t>· 合成研判与处置建议</a:t>
            </a:r>
            <a:endParaRPr sz="1200" b="0">
              <a:solidFill>
                <a:srgbClr val="1A233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332"/>
                </a:solidFill>
                <a:latin typeface="微软雅黑" panose="020B0503020204020204" charset="-122"/>
                <a:ea typeface="微软雅黑" panose="020B0503020204020204" charset="-122"/>
              </a:rPr>
              <a:t>· 关键处可人工确认后再续跑</a:t>
            </a:r>
            <a:endParaRPr sz="1200" b="0">
              <a:solidFill>
                <a:srgbClr val="1A23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57200" y="4480560"/>
            <a:ext cx="58064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80560"/>
            <a:ext cx="91440" cy="1234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572000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可交付能力</a:t>
            </a:r>
            <a:endParaRPr sz="12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85800" y="4864608"/>
            <a:ext cx="5440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2332"/>
                </a:solidFill>
                <a:latin typeface="微软雅黑" panose="020B0503020204020204" charset="-122"/>
                <a:ea typeface="微软雅黑" panose="020B0503020204020204" charset="-122"/>
              </a:rPr>
              <a:t>· 图片预处理 · 多模态研判 · 历史联动</a:t>
            </a:r>
            <a:endParaRPr sz="1200" b="0">
              <a:solidFill>
                <a:srgbClr val="1A233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332"/>
                </a:solidFill>
                <a:latin typeface="微软雅黑" panose="020B0503020204020204" charset="-122"/>
                <a:ea typeface="微软雅黑" panose="020B0503020204020204" charset="-122"/>
              </a:rPr>
              <a:t>· 知识检索 · 人机确认续跑</a:t>
            </a:r>
            <a:endParaRPr sz="1200" b="0">
              <a:solidFill>
                <a:srgbClr val="1A23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02920" y="5852160"/>
            <a:ext cx="5806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本项目映射：看图诊断（缺陷识别 / 泄爆辅助）</a:t>
            </a:r>
            <a:endParaRPr sz="12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446520" y="1234440"/>
            <a:ext cx="5212080" cy="4892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detail_vis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371600"/>
            <a:ext cx="5488988" cy="46177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AI 应用解决方案  ·  成果积累与应用场景示例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9 / 22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PART 01  ·  行业方案详解</a:t>
            </a:r>
            <a:endParaRPr sz="11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详解④  业务文档结构化整理</a:t>
            </a:r>
            <a:endParaRPr sz="24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行业场景痛点 → 解决方案 → 可交付能力</a:t>
            </a:r>
            <a:endParaRPr sz="13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7200" y="1234440"/>
            <a:ext cx="58064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91440" cy="15544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25880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</a:rPr>
              <a:t>行业场景痛点</a:t>
            </a:r>
            <a:endParaRPr sz="1200" b="1">
              <a:solidFill>
                <a:srgbClr val="B4530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" y="1618488"/>
            <a:ext cx="5440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2332"/>
                </a:solidFill>
                <a:latin typeface="微软雅黑" panose="020B0503020204020204" charset="-122"/>
                <a:ea typeface="微软雅黑" panose="020B0503020204020204" charset="-122"/>
              </a:rPr>
              <a:t>· Word/PDF 报告人工录入耗时长</a:t>
            </a:r>
            <a:endParaRPr sz="1200" b="0">
              <a:solidFill>
                <a:srgbClr val="1A233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332"/>
                </a:solidFill>
                <a:latin typeface="微软雅黑" panose="020B0503020204020204" charset="-122"/>
                <a:ea typeface="微软雅黑" panose="020B0503020204020204" charset="-122"/>
              </a:rPr>
              <a:t>· 字段口径不统一，难入库、难统计</a:t>
            </a:r>
            <a:endParaRPr sz="1200" b="0">
              <a:solidFill>
                <a:srgbClr val="1A233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332"/>
                </a:solidFill>
                <a:latin typeface="微软雅黑" panose="020B0503020204020204" charset="-122"/>
                <a:ea typeface="微软雅黑" panose="020B0503020204020204" charset="-122"/>
              </a:rPr>
              <a:t>· 扫描件与复杂表格抄录易错</a:t>
            </a:r>
            <a:endParaRPr sz="1200" b="0">
              <a:solidFill>
                <a:srgbClr val="1A23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57200" y="2926080"/>
            <a:ext cx="58064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926080"/>
            <a:ext cx="91440" cy="141732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017520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解决方案</a:t>
            </a:r>
            <a:endParaRPr sz="12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5800" y="3310128"/>
            <a:ext cx="5440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2332"/>
                </a:solidFill>
                <a:latin typeface="微软雅黑" panose="020B0503020204020204" charset="-122"/>
                <a:ea typeface="微软雅黑" panose="020B0503020204020204" charset="-122"/>
              </a:rPr>
              <a:t>· 长文档解析分块 → 多阶段智能抽取</a:t>
            </a:r>
            <a:endParaRPr sz="1200" b="0">
              <a:solidFill>
                <a:srgbClr val="1A233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332"/>
                </a:solidFill>
                <a:latin typeface="微软雅黑" panose="020B0503020204020204" charset="-122"/>
                <a:ea typeface="微软雅黑" panose="020B0503020204020204" charset="-122"/>
              </a:rPr>
              <a:t>· 输出标准业务记录（支持扫描件/复杂表）</a:t>
            </a:r>
            <a:endParaRPr sz="1200" b="0">
              <a:solidFill>
                <a:srgbClr val="1A233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332"/>
                </a:solidFill>
                <a:latin typeface="微软雅黑" panose="020B0503020204020204" charset="-122"/>
                <a:ea typeface="微软雅黑" panose="020B0503020204020204" charset="-122"/>
              </a:rPr>
              <a:t>· 结果可复核后入库</a:t>
            </a:r>
            <a:endParaRPr sz="1200" b="0">
              <a:solidFill>
                <a:srgbClr val="1A23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57200" y="4480560"/>
            <a:ext cx="58064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80560"/>
            <a:ext cx="91440" cy="1234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572000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可交付能力</a:t>
            </a:r>
            <a:endParaRPr sz="12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85800" y="4864608"/>
            <a:ext cx="5440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2332"/>
                </a:solidFill>
                <a:latin typeface="微软雅黑" panose="020B0503020204020204" charset="-122"/>
                <a:ea typeface="微软雅黑" panose="020B0503020204020204" charset="-122"/>
              </a:rPr>
              <a:t>· 异步文档处理 · 分块并行抽取</a:t>
            </a:r>
            <a:endParaRPr sz="1200" b="0">
              <a:solidFill>
                <a:srgbClr val="1A233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332"/>
                </a:solidFill>
                <a:latin typeface="微软雅黑" panose="020B0503020204020204" charset="-122"/>
                <a:ea typeface="微软雅黑" panose="020B0503020204020204" charset="-122"/>
              </a:rPr>
              <a:t>· 结构化校验输出 · 任务状态与入库衔接</a:t>
            </a:r>
            <a:endParaRPr sz="1200" b="0">
              <a:solidFill>
                <a:srgbClr val="1A23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02920" y="5852160"/>
            <a:ext cx="5806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本项目映射：检修报告结构化提取</a:t>
            </a:r>
            <a:endParaRPr sz="12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446520" y="1234440"/>
            <a:ext cx="5212080" cy="4892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detail_do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371600"/>
            <a:ext cx="5488988" cy="46177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AI 应用解决方案  ·  成果积累与应用场景示例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10 / 22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PART 01  ·  行业方案详解</a:t>
            </a:r>
            <a:endParaRPr sz="11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详解⑤  作业风险行为检测与研判</a:t>
            </a:r>
            <a:endParaRPr sz="24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行业场景痛点 → 解决方案 → 可交付能力</a:t>
            </a:r>
            <a:endParaRPr sz="13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7200" y="1234440"/>
            <a:ext cx="58064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91440" cy="15544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25880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</a:rPr>
              <a:t>行业场景痛点</a:t>
            </a:r>
            <a:endParaRPr sz="1200" b="1">
              <a:solidFill>
                <a:srgbClr val="B4530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" y="1618488"/>
            <a:ext cx="5440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2332"/>
                </a:solidFill>
                <a:latin typeface="微软雅黑" panose="020B0503020204020204" charset="-122"/>
                <a:ea typeface="微软雅黑" panose="020B0503020204020204" charset="-122"/>
              </a:rPr>
              <a:t>· 专业小模型易误报，告警噪音大</a:t>
            </a:r>
            <a:endParaRPr sz="1200" b="0">
              <a:solidFill>
                <a:srgbClr val="1A233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332"/>
                </a:solidFill>
                <a:latin typeface="微软雅黑" panose="020B0503020204020204" charset="-122"/>
                <a:ea typeface="微软雅黑" panose="020B0503020204020204" charset="-122"/>
              </a:rPr>
              <a:t>· 人—设备—环境关系与行为语义难判</a:t>
            </a:r>
            <a:endParaRPr sz="1200" b="0">
              <a:solidFill>
                <a:srgbClr val="1A233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332"/>
                </a:solidFill>
                <a:latin typeface="微软雅黑" panose="020B0503020204020204" charset="-122"/>
                <a:ea typeface="微软雅黑" panose="020B0503020204020204" charset="-122"/>
              </a:rPr>
              <a:t>· 风险分级高度依赖人工复核</a:t>
            </a:r>
            <a:endParaRPr sz="1200" b="0">
              <a:solidFill>
                <a:srgbClr val="1A23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57200" y="2926080"/>
            <a:ext cx="58064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926080"/>
            <a:ext cx="91440" cy="14173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017520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解决方案</a:t>
            </a:r>
            <a:endParaRPr sz="12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5800" y="3310128"/>
            <a:ext cx="5440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2332"/>
                </a:solidFill>
                <a:latin typeface="微软雅黑" panose="020B0503020204020204" charset="-122"/>
                <a:ea typeface="微软雅黑" panose="020B0503020204020204" charset="-122"/>
              </a:rPr>
              <a:t>· 小模型先做目标检测并上送疑似画面</a:t>
            </a:r>
            <a:endParaRPr sz="1200" b="0">
              <a:solidFill>
                <a:srgbClr val="1A233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332"/>
                </a:solidFill>
                <a:latin typeface="微软雅黑" panose="020B0503020204020204" charset="-122"/>
                <a:ea typeface="微软雅黑" panose="020B0503020204020204" charset="-122"/>
              </a:rPr>
              <a:t>· 多模态大模型二次风险行为检测与研判</a:t>
            </a:r>
            <a:endParaRPr sz="1200" b="0">
              <a:solidFill>
                <a:srgbClr val="1A233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332"/>
                </a:solidFill>
                <a:latin typeface="微软雅黑" panose="020B0503020204020204" charset="-122"/>
                <a:ea typeface="微软雅黑" panose="020B0503020204020204" charset="-122"/>
              </a:rPr>
              <a:t>· 确认真伪并自动分级，回写预警链路</a:t>
            </a:r>
            <a:endParaRPr sz="1200" b="0">
              <a:solidFill>
                <a:srgbClr val="1A23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57200" y="4480560"/>
            <a:ext cx="58064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80560"/>
            <a:ext cx="91440" cy="1234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572000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可交付能力</a:t>
            </a:r>
            <a:endParaRPr sz="12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85800" y="4864608"/>
            <a:ext cx="5440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2332"/>
                </a:solidFill>
                <a:latin typeface="微软雅黑" panose="020B0503020204020204" charset="-122"/>
                <a:ea typeface="微软雅黑" panose="020B0503020204020204" charset="-122"/>
              </a:rPr>
              <a:t>· 小模型接入 · 疑似风险上送</a:t>
            </a:r>
            <a:endParaRPr sz="1200" b="0">
              <a:solidFill>
                <a:srgbClr val="1A233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332"/>
                </a:solidFill>
                <a:latin typeface="微软雅黑" panose="020B0503020204020204" charset="-122"/>
                <a:ea typeface="微软雅黑" panose="020B0503020204020204" charset="-122"/>
              </a:rPr>
              <a:t>· 大模型二次研判 · 风险自动分级</a:t>
            </a:r>
            <a:endParaRPr sz="1200" b="0">
              <a:solidFill>
                <a:srgbClr val="1A23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02920" y="5852160"/>
            <a:ext cx="5806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本项目映射：安全生产准实时风险研判（大小模型协同）</a:t>
            </a:r>
            <a:endParaRPr sz="12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446520" y="1234440"/>
            <a:ext cx="5212080" cy="4892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detail_ris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371600"/>
            <a:ext cx="5488988" cy="46177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AI 应用解决方案  ·  成果积累与应用场景示例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11 / 22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PART 01  ·  行业方案详解</a:t>
            </a:r>
            <a:endParaRPr sz="11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行业场景痛点 → 方案 → 交付</a:t>
            </a:r>
            <a:endParaRPr sz="24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一眼看清我们针对各类场景能提供什么</a:t>
            </a:r>
            <a:endParaRPr sz="13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Picture 7" descr="solma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34440"/>
            <a:ext cx="11338560" cy="47037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AI 应用解决方案  ·  成果积累与应用场景示例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12 / 22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377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99F6E4"/>
                </a:solidFill>
                <a:latin typeface="微软雅黑" panose="020B0503020204020204" charset="-122"/>
                <a:ea typeface="微软雅黑" panose="020B0503020204020204" charset="-122"/>
              </a:rPr>
              <a:t>PART 02</a:t>
            </a:r>
            <a:endParaRPr sz="1600" b="1">
              <a:solidFill>
                <a:srgbClr val="99F6E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5840" y="2880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应用场景示例</a:t>
            </a:r>
            <a:endParaRPr sz="3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5840" y="3794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FBF1"/>
                </a:solidFill>
                <a:latin typeface="微软雅黑" panose="020B0503020204020204" charset="-122"/>
                <a:ea typeface="微软雅黑" panose="020B0503020204020204" charset="-122"/>
              </a:rPr>
              <a:t>当前项目已落地的典型业务场景与效果描述</a:t>
            </a:r>
            <a:endParaRPr sz="1500" b="0">
              <a:solidFill>
                <a:srgbClr val="CCFBF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AI 应用解决方案  ·  成果积累与应用场景示例</a:t>
            </a:r>
            <a:endParaRPr sz="10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13 / 22</a:t>
            </a:r>
            <a:endParaRPr sz="10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PART 02  ·  应用场景示例</a:t>
            </a:r>
            <a:endParaRPr sz="11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典型场景与效果（项目实例）</a:t>
            </a:r>
            <a:endParaRPr sz="24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通用方案在电力项目中的落地示例；后页为各场景前端效果示意</a:t>
            </a:r>
            <a:endParaRPr sz="13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94360" y="1371600"/>
            <a:ext cx="36118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71600"/>
            <a:ext cx="91440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554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AI问答</a:t>
            </a:r>
            <a:endParaRPr sz="15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对应：知识问答与数据查询一体化</a:t>
            </a:r>
            <a:endParaRPr sz="1100" b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60" y="24231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少翻册、少找人；支持「它 / 第几点」续问。</a:t>
            </a:r>
            <a:endParaRPr sz="12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389120" y="1371600"/>
            <a:ext cx="36118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371600"/>
            <a:ext cx="91440" cy="21488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554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超温 / 专项分析</a:t>
            </a:r>
            <a:endParaRPr sz="15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1772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对应：多源业务综合分析</a:t>
            </a:r>
            <a:endParaRPr sz="1100" b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617720" y="24231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缩短初判与起稿时间；结构统一、缺口可说明。</a:t>
            </a:r>
            <a:endParaRPr sz="12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183880" y="1371600"/>
            <a:ext cx="36118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80" y="1371600"/>
            <a:ext cx="91440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554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看图诊断</a:t>
            </a:r>
            <a:endParaRPr sz="15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41248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对应：多模态现场研判</a:t>
            </a:r>
            <a:endParaRPr sz="1100" b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412480" y="24231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现场辅助研判；范围不清可人工确认。</a:t>
            </a:r>
            <a:endParaRPr sz="12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94360" y="3749039"/>
            <a:ext cx="36118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" y="3749039"/>
            <a:ext cx="91440" cy="21488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93191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检修报告提取</a:t>
            </a:r>
            <a:endParaRPr sz="15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22960" y="42976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对应：业务文档结构化整理</a:t>
            </a:r>
            <a:endParaRPr sz="1100" b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22960" y="4800599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录入由抄录转为复核，便于入库。</a:t>
            </a:r>
            <a:endParaRPr sz="12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389120" y="3749039"/>
            <a:ext cx="36118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89120" y="3749039"/>
            <a:ext cx="91440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17720" y="393191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泄爆溯源分析</a:t>
            </a:r>
            <a:endParaRPr sz="15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617720" y="42976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对应：多源业务综合分析</a:t>
            </a:r>
            <a:endParaRPr sz="1100" b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617720" y="4800599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事故调查有规范草稿起步，便于讨论复核。</a:t>
            </a:r>
            <a:endParaRPr sz="12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8183880" y="3749039"/>
            <a:ext cx="36118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83880" y="3749039"/>
            <a:ext cx="91440" cy="21488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0" y="393191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风险行为研判</a:t>
            </a:r>
            <a:endParaRPr sz="15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412480" y="42976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对应：作业风险行为检测与研判</a:t>
            </a:r>
            <a:endParaRPr sz="1100" b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412480" y="4800599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降低误报；理解作业语义；支持风险自动分级。</a:t>
            </a:r>
            <a:endParaRPr sz="12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AI 应用解决方案  ·  成果积累与应用场景示例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15 / 22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PART 02  ·  场景效果示意</a:t>
            </a:r>
            <a:endParaRPr sz="11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示例 · AI问答</a:t>
            </a:r>
            <a:endParaRPr sz="24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对应方案：知识问答与业务数据查询一体化</a:t>
            </a:r>
            <a:endParaRPr sz="13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11480" y="1234440"/>
            <a:ext cx="6903720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ui_cha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6720840" cy="503404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34440"/>
            <a:ext cx="4160520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79" y="1234440"/>
            <a:ext cx="91440" cy="49834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1417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场景说明</a:t>
            </a:r>
            <a:endParaRPr sz="14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0" y="1783080"/>
            <a:ext cx="3657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332"/>
                </a:solidFill>
                <a:latin typeface="微软雅黑" panose="020B0503020204020204" charset="-122"/>
                <a:ea typeface="微软雅黑" panose="020B0503020204020204" charset="-122"/>
              </a:rPr>
              <a:t>统一对话入口承接规程/案例问答与台账查数；指代续问与推荐追问降低重复描述成本。</a:t>
            </a:r>
            <a:endParaRPr sz="1200" b="0">
              <a:solidFill>
                <a:srgbClr val="1A23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0" y="3108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sz="14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0" y="3520440"/>
            <a:ext cx="3657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1.  值班/一线查规程、案例，少翻册、少找人，7×24 可用</a:t>
            </a:r>
            <a:endParaRPr sz="12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1400"/>
              </a:spcBef>
            </a:pPr>
            <a:r>
              <a:rPr sz="12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2.  运行台账统计用自然语言提问，不必找人写查询</a:t>
            </a:r>
            <a:endParaRPr sz="12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AI 应用解决方案  ·  成果积累与应用场景示例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16 / 22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PART 02  ·  场景效果示意</a:t>
            </a:r>
            <a:endParaRPr sz="11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示例 · 超温 / 专项分析</a:t>
            </a:r>
            <a:endParaRPr sz="24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对应方案：多源业务综合分析</a:t>
            </a:r>
            <a:endParaRPr sz="13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11480" y="1234440"/>
            <a:ext cx="6903720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ui_analysi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6720840" cy="503404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34440"/>
            <a:ext cx="4160520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79" y="1234440"/>
            <a:ext cx="91440" cy="49834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1417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场景说明</a:t>
            </a:r>
            <a:endParaRPr sz="14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0" y="1783080"/>
            <a:ext cx="3657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332"/>
                </a:solidFill>
                <a:latin typeface="微软雅黑" panose="020B0503020204020204" charset="-122"/>
                <a:ea typeface="微软雅黑" panose="020B0503020204020204" charset="-122"/>
              </a:rPr>
              <a:t>按机组、受热面、时间等条件自动取数，生成结构化分析报告，缩短专工初判与起稿时间。</a:t>
            </a:r>
            <a:endParaRPr sz="1200" b="0">
              <a:solidFill>
                <a:srgbClr val="1A23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0" y="3108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sz="14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0" y="3520440"/>
            <a:ext cx="3657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1.  超温异常发生后，专工快速拿到结构化初判报告</a:t>
            </a:r>
            <a:endParaRPr sz="12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1400"/>
              </a:spcBef>
            </a:pPr>
            <a:r>
              <a:rPr sz="12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2.  报告口径统一，便于交接复核与管理决策</a:t>
            </a:r>
            <a:endParaRPr sz="12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AI 应用解决方案  ·  成果积累与应用场景示例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17 / 22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PART 02  ·  场景效果示意</a:t>
            </a:r>
            <a:endParaRPr sz="11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示例 · 看图诊断</a:t>
            </a:r>
            <a:endParaRPr sz="24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对应方案：多模态现场研判</a:t>
            </a:r>
            <a:endParaRPr sz="13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11480" y="1234440"/>
            <a:ext cx="6903720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ui_vis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6720840" cy="503404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34440"/>
            <a:ext cx="4160520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79" y="1234440"/>
            <a:ext cx="91440" cy="49834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1417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场景说明</a:t>
            </a:r>
            <a:endParaRPr sz="14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0" y="1783080"/>
            <a:ext cx="3657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332"/>
                </a:solidFill>
                <a:latin typeface="微软雅黑" panose="020B0503020204020204" charset="-122"/>
                <a:ea typeface="微软雅黑" panose="020B0503020204020204" charset="-122"/>
              </a:rPr>
              <a:t>上传现场照片后，系统并行完成视觉研判、历史联动与规程对照，必要时弹出人机确认。</a:t>
            </a:r>
            <a:endParaRPr sz="1200" b="0">
              <a:solidFill>
                <a:srgbClr val="1A23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0" y="3108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sz="14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0" y="3520440"/>
            <a:ext cx="3657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1.  巡检/停机现场拍照即可辅助研判，减少回办公室查资料</a:t>
            </a:r>
            <a:endParaRPr sz="12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1400"/>
              </a:spcBef>
            </a:pPr>
            <a:r>
              <a:rPr sz="12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2.  历史缺陷与规程建议一并给出，支撑现场处置决策</a:t>
            </a:r>
            <a:endParaRPr sz="12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AI 应用解决方案  ·  成果积累与应用场景示例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18 / 22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PART 02  ·  场景效果示意</a:t>
            </a:r>
            <a:endParaRPr sz="11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示例 · 检修报告提取</a:t>
            </a:r>
            <a:endParaRPr sz="24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对应方案：业务文档结构化整理</a:t>
            </a:r>
            <a:endParaRPr sz="13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11480" y="1234440"/>
            <a:ext cx="6903720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ui_do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6720840" cy="503404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34440"/>
            <a:ext cx="4160520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79" y="1234440"/>
            <a:ext cx="91440" cy="49834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1417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场景说明</a:t>
            </a:r>
            <a:endParaRPr sz="14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0" y="1783080"/>
            <a:ext cx="3657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332"/>
                </a:solidFill>
                <a:latin typeface="微软雅黑" panose="020B0503020204020204" charset="-122"/>
                <a:ea typeface="微软雅黑" panose="020B0503020204020204" charset="-122"/>
              </a:rPr>
              <a:t>Word/PDF 检修报告自动抽取为标准缺陷字段，录入由「逐页抄录」转为「上传后复核」。</a:t>
            </a:r>
            <a:endParaRPr sz="1200" b="0">
              <a:solidFill>
                <a:srgbClr val="1A23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0" y="3108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sz="14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0" y="3520440"/>
            <a:ext cx="3657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1.  检修文档岗从抄录改为复核，显著缩短入库周期</a:t>
            </a:r>
            <a:endParaRPr sz="12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1400"/>
              </a:spcBef>
            </a:pPr>
            <a:r>
              <a:rPr sz="12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2.  缺陷字段口径统一，便于后续统计与专项分析</a:t>
            </a:r>
            <a:endParaRPr sz="12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AI 应用解决方案  ·  成果积累与应用场景示例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19 / 22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PART 02  ·  场景效果示意</a:t>
            </a:r>
            <a:endParaRPr sz="11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示例 · 泄爆溯源分析</a:t>
            </a:r>
            <a:endParaRPr sz="24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对应方案：多源业务综合分析</a:t>
            </a:r>
            <a:endParaRPr sz="13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11480" y="1234440"/>
            <a:ext cx="6903720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ui_rootcau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6720840" cy="503404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34440"/>
            <a:ext cx="4160520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79" y="1234440"/>
            <a:ext cx="91440" cy="49834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1417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场景说明</a:t>
            </a:r>
            <a:endParaRPr sz="14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0" y="1783080"/>
            <a:ext cx="3657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332"/>
                </a:solidFill>
                <a:latin typeface="微软雅黑" panose="020B0503020204020204" charset="-122"/>
                <a:ea typeface="微软雅黑" panose="020B0503020204020204" charset="-122"/>
              </a:rPr>
              <a:t>面向泄漏/爆管，按材料、运行、检修、设计等方向输出「直接原因→中期因素→根因」草稿。</a:t>
            </a:r>
            <a:endParaRPr sz="1200" b="0">
              <a:solidFill>
                <a:srgbClr val="1A23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0" y="3108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sz="14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0" y="3520440"/>
            <a:ext cx="3657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1.  事故调查有规范溯源草稿起步，减少遗漏排查方向</a:t>
            </a:r>
            <a:endParaRPr sz="12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1400"/>
              </a:spcBef>
            </a:pPr>
            <a:r>
              <a:rPr sz="12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2.  防控建议可讨论复核，缩短调查起稿与汇报准备时间</a:t>
            </a:r>
            <a:endParaRPr sz="12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AI 应用解决方案  ·  成果积累与应用场景示例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20 / 22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PART 02  ·  场景效果示意</a:t>
            </a:r>
            <a:endParaRPr sz="11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示例 · 风险行为研判</a:t>
            </a:r>
            <a:endParaRPr sz="24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对应方案：作业风险行为检测与研判</a:t>
            </a:r>
            <a:endParaRPr sz="13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11480" y="1234440"/>
            <a:ext cx="6903720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ui_ris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6720840" cy="503404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234440"/>
            <a:ext cx="4160520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79" y="1234440"/>
            <a:ext cx="91440" cy="49834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1417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场景说明</a:t>
            </a:r>
            <a:endParaRPr sz="14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0" y="1783080"/>
            <a:ext cx="3657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332"/>
                </a:solidFill>
                <a:latin typeface="微软雅黑" panose="020B0503020204020204" charset="-122"/>
                <a:ea typeface="微软雅黑" panose="020B0503020204020204" charset="-122"/>
              </a:rPr>
              <a:t>小模型检出人/设备目标后，多模态大模型做二次风险行为确认与自动分级，并回写预警。</a:t>
            </a:r>
            <a:endParaRPr sz="1200" b="0">
              <a:solidFill>
                <a:srgbClr val="1A23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0" y="3108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4B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sz="1400" b="1">
              <a:solidFill>
                <a:srgbClr val="1B3A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0" y="3520440"/>
            <a:ext cx="3657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1.  安监值守降低小模型误报干扰，聚焦真实高风险行为</a:t>
            </a:r>
            <a:endParaRPr sz="12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1400"/>
              </a:spcBef>
            </a:pPr>
            <a:r>
              <a:rPr sz="12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2.  复杂作业语义可理解并自动分级，支撑准实时预警处置</a:t>
            </a:r>
            <a:endParaRPr sz="12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AI 应用解决方案  ·  成果积累与应用场景示例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21 / 22</a:t>
            </a:r>
            <a:endParaRPr sz="1000" b="0">
              <a:solidFill>
                <a:srgbClr val="5B6B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DMwNGY4NTQ1YTUyZDg5YTJhMjljZWJiMjI1MzcxNzM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3645</Words>
  <Application>WPS 演示</Application>
  <PresentationFormat>On-screen Show (4:3)</PresentationFormat>
  <Paragraphs>447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gaocf</cp:lastModifiedBy>
  <cp:revision>6</cp:revision>
  <dcterms:created xsi:type="dcterms:W3CDTF">2013-01-27T09:14:00Z</dcterms:created>
  <dcterms:modified xsi:type="dcterms:W3CDTF">2026-07-21T03:04:40Z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791ED6350113488A82FC4130BAEB255B_12</vt:lpwstr>
  </property>
  <property fmtid="{D5CDD505-2E9C-101B-9397-08002B2CF9AE}" pid="3" name="KSOProductBuildVer">
    <vt:lpwstr>2052-12.1.0.18276</vt:lpwstr>
  </property>
</Properties>
</file>