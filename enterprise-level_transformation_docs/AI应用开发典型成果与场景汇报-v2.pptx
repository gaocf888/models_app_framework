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Microsoft YaHei"/>
                <a:ea typeface="Microsoft YaHei"/>
              </a:rPr>
              <a:t>企业级 AI 应用成果汇报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3317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</a:rPr>
              <a:t>大模型在线应用平台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383280"/>
            <a:ext cx="9601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CBD5E1"/>
                </a:solidFill>
                <a:latin typeface="Microsoft YaHei"/>
                <a:ea typeface="Microsoft YaHei"/>
              </a:rPr>
              <a:t>成果积累  ·  使用场景与效果分享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20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94A3B8"/>
                </a:solidFill>
                <a:latin typeface="Microsoft YaHei"/>
                <a:ea typeface="Microsoft YaHei"/>
              </a:rPr>
              <a:t>面向能源电力工业场景  |  基座能力 + 业务应用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 / 14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汇报结构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两条主线，概念先行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7724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45920" y="21488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45920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定位与价值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平台是什么，解决什么问题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66160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34840" y="214884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34840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成果积累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49040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基座能力 · 关键技术 · 简要说明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79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23759" y="2148840"/>
            <a:ext cx="822960" cy="82296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59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39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场景与效果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59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已落地应用与文字效果描述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143999" y="1828800"/>
            <a:ext cx="2606040" cy="3291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012679" y="2148840"/>
            <a:ext cx="822960" cy="82296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12679" y="2304288"/>
            <a:ext cx="8229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81159" y="3200400"/>
            <a:ext cx="2331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收束展望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26879" y="3794760"/>
            <a:ext cx="22402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可复制、可演示、可深化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411480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347472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平台定位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一句话说清我们在做什么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417320"/>
            <a:ext cx="1088136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64592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1A2332"/>
                </a:solidFill>
                <a:latin typeface="Microsoft YaHei"/>
                <a:ea typeface="Microsoft YaHei"/>
              </a:rPr>
              <a:t>面向能源电力工业场景的企业级 AI 应用基座：统一沉淀推理、检索、问数与多轮会话能力，并交付开箱即用的业务应用。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971800"/>
            <a:ext cx="73152" cy="2468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统一基座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推理 · 检索 · 问数 · 会话
收敛为一套服务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7472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474720" y="2971800"/>
            <a:ext cx="73152" cy="24688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7588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生产可控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只读 SQL · 知识域隔离
Prompt 治理 · HITL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09360" y="2971800"/>
            <a:ext cx="73152" cy="246888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1052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场景可扩展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新业务优先配置接入
少改底层引擎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0" y="2971800"/>
            <a:ext cx="2697480" cy="24688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9144000" y="2971800"/>
            <a:ext cx="73152" cy="246888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45168" y="3108960"/>
            <a:ext cx="237744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双轮驱动</a:t>
            </a:r>
          </a:p>
          <a:p>
            <a:pPr algn="l">
              <a:spcBef>
                <a:spcPts val="800"/>
              </a:spcBef>
            </a:pPr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非结构化知识 + 结构化数据
而非「只包一层 Chat」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成果总览：分层架构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可复用基座 + 可交付应用 + 可复制部署</a:t>
            </a:r>
          </a:p>
        </p:txBody>
      </p:sp>
      <p:pic>
        <p:nvPicPr>
          <p:cNvPr id="8" name="Picture 7" descr="ar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698874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基座能力：双轮驱动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知识检索与结构化问数并列</a:t>
            </a:r>
          </a:p>
        </p:txBody>
      </p:sp>
      <p:pic>
        <p:nvPicPr>
          <p:cNvPr id="8" name="Picture 7" descr="d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417320"/>
            <a:ext cx="10515600" cy="3781926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22960" y="58064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积累形态：不是零散 Demo，而是可复用、可交付、可复制的三位一体能力。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基座核心能力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上层场景共享复用的核心能力</a:t>
            </a:r>
          </a:p>
        </p:txBody>
      </p:sp>
      <p:pic>
        <p:nvPicPr>
          <p:cNvPr id="8" name="Picture 7" descr="pilla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11155680" cy="428717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企业级关键技术能力（精选）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相对通用 LLM 封装的差异化深化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71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指代消解 P0～P3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「它 / 上次那个」可绑定续问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880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3657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90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章节大纲续问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90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「上面第 N 点」结构化回锚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66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943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76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滑动窗口切块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276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长规程连贯，降低切缝漏召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452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0" y="1645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562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图文关联召回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562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问文字可带出附图依据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738360" y="1417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515600" y="1645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1719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48088" y="2286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NL2SQL 双闭环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2743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校验/执行失败可 refine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94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71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371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04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C-RAG 质量闭环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04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低质召回不硬答，可重写澄清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880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3657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657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990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分析并行 + 质量门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90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多维取数，不足则降级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5166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5943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276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看图三臂 + HITL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276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视觉 ‖ 问数 ‖ 知识可确认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452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8229600" y="3931920"/>
            <a:ext cx="502920" cy="502920"/>
          </a:xfrm>
          <a:prstGeom prst="ellipse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29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562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检修分块并行抽取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562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三阶段 LLM，长文档结构化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738360" y="3703320"/>
            <a:ext cx="2148840" cy="2011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10515600" y="3931920"/>
            <a:ext cx="502920" cy="502920"/>
          </a:xfrm>
          <a:prstGeom prst="ellipse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515600" y="4005072"/>
            <a:ext cx="502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848088" y="45720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3A4B"/>
                </a:solidFill>
                <a:latin typeface="Microsoft YaHei"/>
                <a:ea typeface="Microsoft YaHei"/>
              </a:rPr>
              <a:t>Prompt 配置治理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848088" y="5029200"/>
            <a:ext cx="1920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5B6B7C"/>
                </a:solidFill>
                <a:latin typeface="Microsoft YaHei"/>
                <a:ea typeface="Microsoft YaHei"/>
              </a:rPr>
              <a:t>版本可控 · 场景可扩展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关键能力简要说明（1/2）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精选能力 01～05：解决什么问题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指代消解 P0～P3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「它 / 上次那个」可绑定续问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规则判型后融合检索 query，并可叠加对话锚块、会话槽位与灰区 Coref，让多轮弱指代仍能答到正确实体与话题。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章节大纲续问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「上面第 N 点」结构化回锚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助手回答后异步抽取条目大纲并保存；用户按「第几点」追问时可精确回锚对应要点，与指代消解互补。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滑动窗口切块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长规程连贯，降低切缝漏召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知识摄入按结构/语义切分，超长段用 overlap 滑动窗口保留相邻上下文，缓解答案落在切缝导致的漏召。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图文关联召回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问文字可带出附图依据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正文与图块双向关联入库；正文命中后可扩展召回附图，支撑规程/案例类「问文字、见附图」。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NL2SQL 双闭环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校验/执行失败可 refine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生成校验失败与 EXPLAIN/执行失败均可自动修正 SQL，且修正后仍须过完整安全校验，不能绕过只读边界。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关键能力简要说明（2/2）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精选能力 06～10：解决什么问题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2588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77240" y="152704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160020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143560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C-RAG 质量闭环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145389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低质召回不硬答，可重写澄清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176479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对检索质量做门控：不足则重写 query、有限次重试；仍不达标则转澄清，避免低质量上下文硬答。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" y="228600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248716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25603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239572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分析并行 + 质量门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0" y="241401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多维取数，不足则降级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600200" y="272491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分析计划按依赖分层并行 NL2SQL 取数；数据不足时降级提示而非编造，保障报告可用性与可信度。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94360" y="324612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777240" y="344728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7240" y="352044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08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00200" y="335584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看图三臂 + HITL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37413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视觉 ‖ 问数 ‖ 知识可确认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00200" y="368503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视觉判定、历史问数、业务知识三路并行后合成；机组/范围不确定时可人机确认，降低取错数风险。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94360" y="420624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77240" y="440740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448056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09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600200" y="431596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检修分块并行抽取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0" y="433425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三阶段 LLM，长文档结构化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600200" y="464515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长检修报告分块后走 parse→classify→repair 三阶段并行 LLM 抽取，输出可入库的标准缺陷结构化数据。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94360" y="5166360"/>
            <a:ext cx="10972800" cy="868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777240" y="5367528"/>
            <a:ext cx="640080" cy="457200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44068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</a:rPr>
              <a:t>10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600200" y="5276088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B3A4B"/>
                </a:solidFill>
                <a:latin typeface="Microsoft YaHei"/>
                <a:ea typeface="Microsoft YaHei"/>
              </a:rPr>
              <a:t>Prompt 配置治理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0" y="5294376"/>
            <a:ext cx="5760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版本可控 · 场景可扩展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600200" y="5605272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Prompt 与报告规格集中配置、可按场景/版本分流；新专题优先加配置扩展，少改核心引擎。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01  ·  成果积累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差异化：平台 vs 单点封装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概念对比示意，突出能力广度与深度</a:t>
            </a:r>
          </a:p>
        </p:txBody>
      </p:sp>
      <p:pic>
        <p:nvPicPr>
          <p:cNvPr id="8" name="Picture 7" descr="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34440"/>
            <a:ext cx="5760720" cy="47079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309360" y="1554480"/>
            <a:ext cx="521208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754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关键差异一览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2286000"/>
            <a:ext cx="475488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知识问答：混合 RAG + 本厂隔离 + 指代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数据查询：安全只读 NL2SQL，非手写 SQL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多轮对话：热冷会话 + 大纲结构化续问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工业分析：并行取数 + 结构化报告输出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看图诊断：视觉 + 台账 + 规程三路合成</a:t>
            </a:r>
          </a:p>
          <a:p>
            <a:pPr algn="l">
              <a:spcBef>
                <a:spcPts val="12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●  文档智能：分块并行三阶段结构化抽取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3774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99F6E4"/>
                </a:solidFill>
                <a:latin typeface="Microsoft YaHei"/>
                <a:ea typeface="Microsoft YaHei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88036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Microsoft YaHei"/>
                <a:ea typeface="Microsoft YaHei"/>
              </a:rPr>
              <a:t>使用场景及效果分享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79476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CFBF1"/>
                </a:solidFill>
                <a:latin typeface="Microsoft YaHei"/>
                <a:ea typeface="Microsoft YaHei"/>
              </a:rPr>
              <a:t>效果以文字描述为主，后续可扩展应用截图 / 演示素材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94A3B8"/>
                </a:solidFill>
                <a:latin typeface="Microsoft YaHei"/>
                <a:ea typeface="Microsoft YaHei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02  ·  场景与效果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场景全景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已落地应用按三类入口归集</a:t>
            </a:r>
          </a:p>
        </p:txBody>
      </p:sp>
      <p:pic>
        <p:nvPicPr>
          <p:cNvPr id="8" name="Picture 7" descr="sce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451758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PART 02  ·  场景与效果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核心场景与效果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概念级效果描述，便于后续配图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AI问答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规程问答 + 台账查数一站式入口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7×24 自然语言入口；少翻册、少写 SQL；支持「它 / 第几点」续问。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89120" y="1371600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1772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超温 / 专项分析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772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并行取数生成结构化分析报告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772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缩短信息收集与初判时间；报告结构统一；数据不足可降级提示。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183880" y="1371600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83880" y="1371600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12480" y="155448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看图诊断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2480" y="19202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现场拍照 + 历史数据 + 规程知识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242316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巡检/停机「拍即诊」；风险与处置建议可讨论；范围可人确认。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9436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9436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检修报告抽取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Word/PDF → 标准缺陷 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录入由抄录转为复核；格式统一可入库；长文档分块并行抽取。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8912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389120" y="3749039"/>
            <a:ext cx="91440" cy="2148840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1772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泄爆溯源分析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1772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五类×三层结构化溯源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1772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事故调查有规范草稿起步；案例与规程可引用、可复查。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183880" y="3749039"/>
            <a:ext cx="3611880" cy="2148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83880" y="3749039"/>
            <a:ext cx="91440" cy="2148840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412480" y="3931919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B3A4B"/>
                </a:solidFill>
                <a:latin typeface="Microsoft YaHei"/>
                <a:ea typeface="Microsoft YaHei"/>
              </a:rPr>
              <a:t>知识库运维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297679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F766E"/>
                </a:solidFill>
                <a:latin typeface="Microsoft YaHei"/>
                <a:ea typeface="Microsoft YaHei"/>
              </a:rPr>
              <a:t>文档摄入 · 域隔离 · 检索调优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412480" y="4800599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B6B7C"/>
                </a:solidFill>
                <a:latin typeface="Microsoft YaHei"/>
                <a:ea typeface="Microsoft YaHei"/>
              </a:rPr>
              <a:t>知识资产可运营；支撑客服与分析「答得准、不串域」。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6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1B3A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256032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766E"/>
                </a:solidFill>
                <a:latin typeface="Microsoft YaHei"/>
                <a:ea typeface="Microsoft YaHei"/>
              </a:rPr>
              <a:t>收束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530352"/>
            <a:ext cx="73152" cy="329184"/>
          </a:xfrm>
          <a:prstGeom prst="rect">
            <a:avLst/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4572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B3A4B"/>
                </a:solidFill>
                <a:latin typeface="Microsoft YaHei"/>
                <a:ea typeface="Microsoft YaHei"/>
              </a:rPr>
              <a:t>效果共性与下一步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9144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B6B7C"/>
                </a:solidFill>
                <a:latin typeface="Microsoft YaHei"/>
                <a:ea typeface="Microsoft YaHei"/>
              </a:rPr>
              <a:t>提效 · 提质 · 可控 · 可复制</a:t>
            </a:r>
          </a:p>
        </p:txBody>
      </p:sp>
      <p:pic>
        <p:nvPicPr>
          <p:cNvPr id="8" name="Picture 7" descr="effec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6400800" cy="247958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040880" y="1463040"/>
            <a:ext cx="4480560" cy="429768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5DCE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0" y="169164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1B3A4B"/>
                </a:solidFill>
                <a:latin typeface="Microsoft YaHei"/>
                <a:ea typeface="Microsoft YaHei"/>
              </a:rPr>
              <a:t>下一步建议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2286000"/>
            <a:ext cx="40233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1.  选定 1～2 个高频场景做效果量化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2.  完善本厂知识域运营与更新机制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3.  按场景清单补截图 / 演示素材</a:t>
            </a:r>
          </a:p>
          <a:p>
            <a:pPr algn="l">
              <a:spcBef>
                <a:spcPts val="1400"/>
              </a:spcBef>
            </a:pPr>
            <a:r>
              <a:rPr sz="1300" b="0">
                <a:solidFill>
                  <a:srgbClr val="1A2332"/>
                </a:solidFill>
                <a:latin typeface="Microsoft YaHei"/>
                <a:ea typeface="Microsoft YaHei"/>
              </a:rPr>
              <a:t>4.  现场复制：接库 · 接知识 · 开场景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大模型在线应用平台  ·  AI 应用成果汇报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241280" y="649224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>
                <a:solidFill>
                  <a:srgbClr val="5B6B7C"/>
                </a:solidFill>
                <a:latin typeface="Microsoft YaHei"/>
                <a:ea typeface="Microsoft YaHei"/>
              </a:rPr>
              <a:t>14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