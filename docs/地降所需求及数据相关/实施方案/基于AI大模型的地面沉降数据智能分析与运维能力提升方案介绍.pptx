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自定义版式_图片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700000"/>
            <a:ext cx="7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4E4F8"/>
                </a:solidFill>
                <a:latin typeface="微软雅黑"/>
                <a:ea typeface="微软雅黑"/>
              </a:rPr>
              <a:t>人工智能 + 先进智算</a:t>
            </a:r>
          </a:p>
          <a:p>
            <a:pPr algn="l"/>
            <a:r>
              <a:rPr sz="1600" b="1">
                <a:solidFill>
                  <a:srgbClr val="24E4F8"/>
                </a:solidFill>
                <a:latin typeface="微软雅黑"/>
                <a:ea typeface="微软雅黑"/>
              </a:rPr>
              <a:t>深度智算、启承未来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00000"/>
            <a:ext cx="11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基于AI大模型的地面沉降数据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100000"/>
            <a:ext cx="11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智能分析与运维能力提升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3900000"/>
            <a:ext cx="11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4E4F8"/>
                </a:solidFill>
                <a:latin typeface="微软雅黑"/>
                <a:ea typeface="微软雅黑"/>
              </a:rPr>
              <a:t>方案介绍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5600000"/>
            <a:ext cx="110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北京市地面沉降监测系统运行（2026年）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北京深启科技有限公司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"/>
            <a:ext cx="160000" cy="82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00" y="220000"/>
            <a:ext cx="100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A366E"/>
                </a:solidFill>
                <a:latin typeface="微软雅黑"/>
                <a:ea typeface="微软雅黑"/>
              </a:rPr>
              <a:t>业务痛点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00" y="74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C8F"/>
                </a:solidFill>
                <a:latin typeface="微软雅黑"/>
                <a:ea typeface="微软雅黑"/>
              </a:rPr>
              <a:t>现有平台已较好解决「数据能汇、业务能管、结果能看」，「问得快、查得准、报得及时」仍有提升空间</a:t>
            </a:r>
          </a:p>
        </p:txBody>
      </p:sp>
      <p:pic>
        <p:nvPicPr>
          <p:cNvPr id="6" name="Picture 5" descr="内容页三_图片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000" y="180000"/>
            <a:ext cx="2000000" cy="43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0000" y="6450000"/>
            <a:ext cx="4500000" cy="250000"/>
          </a:xfrm>
          <a:prstGeom prst="roundRect">
            <a:avLst>
              <a:gd name="adj" fmla="val 3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" y="6470000"/>
            <a:ext cx="430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C8F"/>
                </a:solidFill>
                <a:latin typeface="微软雅黑"/>
                <a:ea typeface="微软雅黑"/>
              </a:rPr>
              <a:t>深启科技 · 地面沉降智能分析与运维能力提升方案</a:t>
            </a:r>
          </a:p>
        </p:txBody>
      </p:sp>
      <p:pic>
        <p:nvPicPr>
          <p:cNvPr id="9" name="Picture 8" descr="slide1_图片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000" y="6380000"/>
            <a:ext cx="1612406" cy="32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50000" y="1250000"/>
            <a:ext cx="5550000" cy="21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000" y="1250000"/>
            <a:ext cx="90000" cy="2100000"/>
          </a:xfrm>
          <a:prstGeom prst="rect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0000" y="1550000"/>
            <a:ext cx="480000" cy="480000"/>
          </a:xfrm>
          <a:prstGeom prst="ellipse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000" y="1590000"/>
            <a:ext cx="48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000" y="1600000"/>
            <a:ext cx="4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A366E"/>
                </a:solidFill>
                <a:latin typeface="微软雅黑"/>
                <a:ea typeface="微软雅黑"/>
              </a:rPr>
              <a:t>知识利用低效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00" y="2200000"/>
            <a:ext cx="5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政策制度、监测规范、设备手册、历史报告分散存放，检索成本高；经验依赖人工，专业问答难以即时、可溯源。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0000" y="1250000"/>
            <a:ext cx="5550000" cy="21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0000" y="1250000"/>
            <a:ext cx="90000" cy="210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00000" y="1550000"/>
            <a:ext cx="480000" cy="480000"/>
          </a:xfrm>
          <a:prstGeom prst="ellipse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0000" y="1590000"/>
            <a:ext cx="48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0000" y="1600000"/>
            <a:ext cx="4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A366E"/>
                </a:solidFill>
                <a:latin typeface="微软雅黑"/>
                <a:ea typeface="微软雅黑"/>
              </a:rPr>
              <a:t>数据查询门槛高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0" y="2200000"/>
            <a:ext cx="5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行政区/站点/时段统计对比、趋势分析、异常识别频度高、口径严；传统取数环节多、耗时长。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0000" y="3650000"/>
            <a:ext cx="5550000" cy="21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0000" y="3650000"/>
            <a:ext cx="90000" cy="2100000"/>
          </a:xfrm>
          <a:prstGeom prst="rect">
            <a:avLst/>
          </a:prstGeom>
          <a:solidFill>
            <a:srgbClr val="385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0000" y="3950000"/>
            <a:ext cx="480000" cy="480000"/>
          </a:xfrm>
          <a:prstGeom prst="ellipse">
            <a:avLst/>
          </a:prstGeom>
          <a:solidFill>
            <a:srgbClr val="385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0000" y="3990000"/>
            <a:ext cx="48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0000" y="4000000"/>
            <a:ext cx="4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A366E"/>
                </a:solidFill>
                <a:latin typeface="微软雅黑"/>
                <a:ea typeface="微软雅黑"/>
              </a:rPr>
              <a:t>报告编制负担重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000" y="4600000"/>
            <a:ext cx="5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周报、月报、季报及专题报告需模板填充、指标计算、图表制作与文字组织并行，成果时效受限。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0000" y="3650000"/>
            <a:ext cx="5550000" cy="21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50000" y="3650000"/>
            <a:ext cx="90000" cy="21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00000" y="3950000"/>
            <a:ext cx="480000" cy="48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0000" y="3990000"/>
            <a:ext cx="48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0000" y="4000000"/>
            <a:ext cx="4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A366E"/>
                </a:solidFill>
                <a:latin typeface="微软雅黑"/>
                <a:ea typeface="微软雅黑"/>
              </a:rPr>
              <a:t>安全与效率难兼顾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0000" y="4600000"/>
            <a:ext cx="5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跨区访问业务数据必须受控、可审计；智能化能力需在「数据不出域、最小暴露」前提下落地。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"/>
            <a:ext cx="160000" cy="82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00" y="220000"/>
            <a:ext cx="100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A366E"/>
                </a:solidFill>
                <a:latin typeface="微软雅黑"/>
                <a:ea typeface="微软雅黑"/>
              </a:rPr>
              <a:t>建设目标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00" y="74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C8F"/>
                </a:solidFill>
                <a:latin typeface="微软雅黑"/>
                <a:ea typeface="微软雅黑"/>
              </a:rPr>
              <a:t>围绕智能化、安全性、可用性、可维护性、可扩展性，构建三位一体智能核心引擎</a:t>
            </a:r>
          </a:p>
        </p:txBody>
      </p:sp>
      <p:pic>
        <p:nvPicPr>
          <p:cNvPr id="6" name="Picture 5" descr="内容页三_图片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000" y="180000"/>
            <a:ext cx="2000000" cy="43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0000" y="6450000"/>
            <a:ext cx="4500000" cy="250000"/>
          </a:xfrm>
          <a:prstGeom prst="roundRect">
            <a:avLst>
              <a:gd name="adj" fmla="val 3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" y="6470000"/>
            <a:ext cx="430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C8F"/>
                </a:solidFill>
                <a:latin typeface="微软雅黑"/>
                <a:ea typeface="微软雅黑"/>
              </a:rPr>
              <a:t>深启科技 · 地面沉降智能分析与运维能力提升方案</a:t>
            </a:r>
          </a:p>
        </p:txBody>
      </p:sp>
      <p:pic>
        <p:nvPicPr>
          <p:cNvPr id="9" name="Picture 8" descr="slide1_图片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000" y="6380000"/>
            <a:ext cx="1612406" cy="32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50000" y="1200000"/>
            <a:ext cx="11450000" cy="900000"/>
          </a:xfrm>
          <a:prstGeom prst="roundRect">
            <a:avLst>
              <a:gd name="adj" fmla="val 5000"/>
            </a:avLst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000" y="1320000"/>
            <a:ext cx="1105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形成以「智能问答 + NL2SQL数据查询 + 自动报告生成」为核心的三大智能化能力，推动地面沉降监测由信息化管理向智能化服务延伸。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000" y="2350000"/>
            <a:ext cx="2750000" cy="36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000" y="2350000"/>
            <a:ext cx="2750000" cy="110000"/>
          </a:xfrm>
          <a:prstGeom prst="rect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2650000"/>
            <a:ext cx="245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① 智能知识问答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00" y="3500000"/>
            <a:ext cx="2450000" cy="2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融合规程标准、监测规范、历史成果与运维知识，实现可引用、可追溯的专业问答。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0000" y="2350000"/>
            <a:ext cx="2750000" cy="36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50000" y="2350000"/>
            <a:ext cx="2750000" cy="11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0000" y="2650000"/>
            <a:ext cx="245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② 自然语言查数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0000" y="3500000"/>
            <a:ext cx="2450000" cy="2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业务人员用自然语言完成统计对比、趋势分析与异常查询，降低取数门槛。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0000" y="2350000"/>
            <a:ext cx="2750000" cy="36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0000" y="2350000"/>
            <a:ext cx="2750000" cy="11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000" y="2650000"/>
            <a:ext cx="245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③ 报告自动编制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000" y="3500000"/>
            <a:ext cx="2450000" cy="2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覆盖周/月/季报及专题报告，从取数、计算、图表到成文一键生成，人工复核把关。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0000" y="2350000"/>
            <a:ext cx="2750000" cy="36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0000" y="2350000"/>
            <a:ext cx="2750000" cy="110000"/>
          </a:xfrm>
          <a:prstGeom prst="rect">
            <a:avLst/>
          </a:prstGeom>
          <a:solidFill>
            <a:srgbClr val="E0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00000" y="2650000"/>
            <a:ext cx="245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④ 安全可控落地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0000" y="3500000"/>
            <a:ext cx="2450000" cy="2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政务外网部署 + 跨区只读最小访问；模型输出受引用、规则、模板与人工复核约束。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"/>
            <a:ext cx="160000" cy="82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00" y="220000"/>
            <a:ext cx="100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A366E"/>
                </a:solidFill>
                <a:latin typeface="微软雅黑"/>
                <a:ea typeface="微软雅黑"/>
              </a:rPr>
              <a:t>建设前  VS  建设后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00" y="74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C8F"/>
                </a:solidFill>
                <a:latin typeface="微软雅黑"/>
                <a:ea typeface="微软雅黑"/>
              </a:rPr>
              <a:t>从经验驱动、人工取数，迈向数据驱动、AI辅助、成果可追溯</a:t>
            </a:r>
          </a:p>
        </p:txBody>
      </p:sp>
      <p:pic>
        <p:nvPicPr>
          <p:cNvPr id="6" name="Picture 5" descr="内容页三_图片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000" y="180000"/>
            <a:ext cx="2000000" cy="43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0000" y="6450000"/>
            <a:ext cx="4500000" cy="250000"/>
          </a:xfrm>
          <a:prstGeom prst="roundRect">
            <a:avLst>
              <a:gd name="adj" fmla="val 3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" y="6470000"/>
            <a:ext cx="430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C8F"/>
                </a:solidFill>
                <a:latin typeface="微软雅黑"/>
                <a:ea typeface="微软雅黑"/>
              </a:rPr>
              <a:t>深启科技 · 地面沉降智能分析与运维能力提升方案</a:t>
            </a:r>
          </a:p>
        </p:txBody>
      </p:sp>
      <p:pic>
        <p:nvPicPr>
          <p:cNvPr id="9" name="Picture 8" descr="slide1_图片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000" y="6380000"/>
            <a:ext cx="1612406" cy="32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50000" y="1200000"/>
            <a:ext cx="5200000" cy="490000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50000" y="1200000"/>
            <a:ext cx="5200000" cy="49000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0000" y="1200000"/>
            <a:ext cx="5200000" cy="700000"/>
          </a:xfrm>
          <a:prstGeom prst="roundRect">
            <a:avLst>
              <a:gd name="adj" fmla="val 5000"/>
            </a:avLst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0000" y="1200000"/>
            <a:ext cx="5200000" cy="700000"/>
          </a:xfrm>
          <a:prstGeom prst="roundRect">
            <a:avLst>
              <a:gd name="adj" fmla="val 5000"/>
            </a:avLst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000" y="1250000"/>
            <a:ext cx="52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建设前 · 传统模式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0000" y="1250000"/>
            <a:ext cx="52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建设后 · 智能大模型</a:t>
            </a:r>
          </a:p>
        </p:txBody>
      </p:sp>
      <p:sp>
        <p:nvSpPr>
          <p:cNvPr id="16" name="Oval 15"/>
          <p:cNvSpPr/>
          <p:nvPr/>
        </p:nvSpPr>
        <p:spPr>
          <a:xfrm>
            <a:off x="550000" y="2200000"/>
            <a:ext cx="340000" cy="340000"/>
          </a:xfrm>
          <a:prstGeom prst="ellipse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000" y="210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微软雅黑"/>
                <a:ea typeface="微软雅黑"/>
              </a:rPr>
              <a:t>人找知识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000" y="240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C8F"/>
                </a:solidFill>
                <a:latin typeface="微软雅黑"/>
                <a:ea typeface="微软雅黑"/>
              </a:rPr>
              <a:t>规范、案例分散，检索效率低</a:t>
            </a:r>
          </a:p>
        </p:txBody>
      </p:sp>
      <p:sp>
        <p:nvSpPr>
          <p:cNvPr id="19" name="Oval 18"/>
          <p:cNvSpPr/>
          <p:nvPr/>
        </p:nvSpPr>
        <p:spPr>
          <a:xfrm>
            <a:off x="6650000" y="2200000"/>
            <a:ext cx="340000" cy="340000"/>
          </a:xfrm>
          <a:prstGeom prst="ellipse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0000" y="210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366E"/>
                </a:solidFill>
                <a:latin typeface="微软雅黑"/>
                <a:ea typeface="微软雅黑"/>
              </a:rPr>
              <a:t>知识找人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0000" y="240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智能问答秒级获取，引用可追溯</a:t>
            </a:r>
          </a:p>
        </p:txBody>
      </p:sp>
      <p:sp>
        <p:nvSpPr>
          <p:cNvPr id="22" name="Oval 21"/>
          <p:cNvSpPr/>
          <p:nvPr/>
        </p:nvSpPr>
        <p:spPr>
          <a:xfrm>
            <a:off x="550000" y="2940000"/>
            <a:ext cx="340000" cy="340000"/>
          </a:xfrm>
          <a:prstGeom prst="ellipse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0000" y="284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微软雅黑"/>
                <a:ea typeface="微软雅黑"/>
              </a:rPr>
              <a:t>数据分散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000" y="314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C8F"/>
                </a:solidFill>
                <a:latin typeface="微软雅黑"/>
                <a:ea typeface="微软雅黑"/>
              </a:rPr>
              <a:t>取数依赖人工，口径难统一</a:t>
            </a:r>
          </a:p>
        </p:txBody>
      </p:sp>
      <p:sp>
        <p:nvSpPr>
          <p:cNvPr id="25" name="Oval 24"/>
          <p:cNvSpPr/>
          <p:nvPr/>
        </p:nvSpPr>
        <p:spPr>
          <a:xfrm>
            <a:off x="6650000" y="2940000"/>
            <a:ext cx="340000" cy="340000"/>
          </a:xfrm>
          <a:prstGeom prst="ellipse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0000" y="284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366E"/>
                </a:solidFill>
                <a:latin typeface="微软雅黑"/>
                <a:ea typeface="微软雅黑"/>
              </a:rPr>
              <a:t>AI自动取数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0000" y="314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自然语言查库，图表结论一体</a:t>
            </a:r>
          </a:p>
        </p:txBody>
      </p:sp>
      <p:sp>
        <p:nvSpPr>
          <p:cNvPr id="28" name="Oval 27"/>
          <p:cNvSpPr/>
          <p:nvPr/>
        </p:nvSpPr>
        <p:spPr>
          <a:xfrm>
            <a:off x="550000" y="3680000"/>
            <a:ext cx="340000" cy="340000"/>
          </a:xfrm>
          <a:prstGeom prst="ellipse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0000" y="358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微软雅黑"/>
                <a:ea typeface="微软雅黑"/>
              </a:rPr>
              <a:t>人工分析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000" y="388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C8F"/>
                </a:solidFill>
                <a:latin typeface="微软雅黑"/>
                <a:ea typeface="微软雅黑"/>
              </a:rPr>
              <a:t>趋势对比与异常研判耗时长</a:t>
            </a:r>
          </a:p>
        </p:txBody>
      </p:sp>
      <p:sp>
        <p:nvSpPr>
          <p:cNvPr id="31" name="Oval 30"/>
          <p:cNvSpPr/>
          <p:nvPr/>
        </p:nvSpPr>
        <p:spPr>
          <a:xfrm>
            <a:off x="6650000" y="3680000"/>
            <a:ext cx="340000" cy="340000"/>
          </a:xfrm>
          <a:prstGeom prst="ellipse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00000" y="358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366E"/>
                </a:solidFill>
                <a:latin typeface="微软雅黑"/>
                <a:ea typeface="微软雅黑"/>
              </a:rPr>
              <a:t>AI智能分析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0000" y="388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自动统计、对比、异常与摘要</a:t>
            </a:r>
          </a:p>
        </p:txBody>
      </p:sp>
      <p:sp>
        <p:nvSpPr>
          <p:cNvPr id="34" name="Oval 33"/>
          <p:cNvSpPr/>
          <p:nvPr/>
        </p:nvSpPr>
        <p:spPr>
          <a:xfrm>
            <a:off x="550000" y="4420000"/>
            <a:ext cx="340000" cy="340000"/>
          </a:xfrm>
          <a:prstGeom prst="ellipse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0000" y="432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微软雅黑"/>
                <a:ea typeface="微软雅黑"/>
              </a:rPr>
              <a:t>人工写报告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000" y="462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C8F"/>
                </a:solidFill>
                <a:latin typeface="微软雅黑"/>
                <a:ea typeface="微软雅黑"/>
              </a:rPr>
              <a:t>填表、制图、写稿并行负担重</a:t>
            </a:r>
          </a:p>
        </p:txBody>
      </p:sp>
      <p:sp>
        <p:nvSpPr>
          <p:cNvPr id="37" name="Oval 36"/>
          <p:cNvSpPr/>
          <p:nvPr/>
        </p:nvSpPr>
        <p:spPr>
          <a:xfrm>
            <a:off x="6650000" y="4420000"/>
            <a:ext cx="340000" cy="340000"/>
          </a:xfrm>
          <a:prstGeom prst="ellipse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00000" y="432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366E"/>
                </a:solidFill>
                <a:latin typeface="微软雅黑"/>
                <a:ea typeface="微软雅黑"/>
              </a:rPr>
              <a:t>报告智能生成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0000" y="462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模板驱动一键成稿，人工复核</a:t>
            </a:r>
          </a:p>
        </p:txBody>
      </p:sp>
      <p:sp>
        <p:nvSpPr>
          <p:cNvPr id="40" name="Oval 39"/>
          <p:cNvSpPr/>
          <p:nvPr/>
        </p:nvSpPr>
        <p:spPr>
          <a:xfrm>
            <a:off x="550000" y="5160000"/>
            <a:ext cx="340000" cy="340000"/>
          </a:xfrm>
          <a:prstGeom prst="ellipse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0000" y="506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微软雅黑"/>
                <a:ea typeface="微软雅黑"/>
              </a:rPr>
              <a:t>经验难沉淀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0000" y="536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C8F"/>
                </a:solidFill>
                <a:latin typeface="微软雅黑"/>
                <a:ea typeface="微软雅黑"/>
              </a:rPr>
              <a:t>专家经验难以规模化复用</a:t>
            </a:r>
          </a:p>
        </p:txBody>
      </p:sp>
      <p:sp>
        <p:nvSpPr>
          <p:cNvPr id="43" name="Oval 42"/>
          <p:cNvSpPr/>
          <p:nvPr/>
        </p:nvSpPr>
        <p:spPr>
          <a:xfrm>
            <a:off x="6650000" y="5160000"/>
            <a:ext cx="340000" cy="340000"/>
          </a:xfrm>
          <a:prstGeom prst="ellipse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00000" y="506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366E"/>
                </a:solidFill>
                <a:latin typeface="微软雅黑"/>
                <a:ea typeface="微软雅黑"/>
              </a:rPr>
              <a:t>知识资产沉淀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00000" y="5360000"/>
            <a:ext cx="4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规程与成果持续入库、增量更新</a:t>
            </a:r>
          </a:p>
        </p:txBody>
      </p:sp>
      <p:sp>
        <p:nvSpPr>
          <p:cNvPr id="46" name="Oval 45"/>
          <p:cNvSpPr/>
          <p:nvPr/>
        </p:nvSpPr>
        <p:spPr>
          <a:xfrm>
            <a:off x="5550000" y="3300000"/>
            <a:ext cx="900000" cy="900000"/>
          </a:xfrm>
          <a:prstGeom prst="ellipse">
            <a:avLst/>
          </a:prstGeom>
          <a:solidFill>
            <a:srgbClr val="24E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50000" y="3500000"/>
            <a:ext cx="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A366E"/>
                </a:solidFill>
                <a:latin typeface="微软雅黑"/>
                <a:ea typeface="微软雅黑"/>
              </a:rPr>
              <a:t>VS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"/>
            <a:ext cx="160000" cy="82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00" y="220000"/>
            <a:ext cx="100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A366E"/>
                </a:solidFill>
                <a:latin typeface="微软雅黑"/>
                <a:ea typeface="微软雅黑"/>
              </a:rPr>
              <a:t>产品定位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00" y="74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C8F"/>
                </a:solidFill>
                <a:latin typeface="微软雅黑"/>
                <a:ea typeface="微软雅黑"/>
              </a:rPr>
              <a:t>以大模型为核心，融合领域知识与监测数据，服务地面沉降智能分析与运维</a:t>
            </a:r>
          </a:p>
        </p:txBody>
      </p:sp>
      <p:pic>
        <p:nvPicPr>
          <p:cNvPr id="6" name="Picture 5" descr="内容页三_图片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000" y="180000"/>
            <a:ext cx="2000000" cy="43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0000" y="6450000"/>
            <a:ext cx="4500000" cy="250000"/>
          </a:xfrm>
          <a:prstGeom prst="roundRect">
            <a:avLst>
              <a:gd name="adj" fmla="val 3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" y="6470000"/>
            <a:ext cx="430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C8F"/>
                </a:solidFill>
                <a:latin typeface="微软雅黑"/>
                <a:ea typeface="微软雅黑"/>
              </a:rPr>
              <a:t>深启科技 · 地面沉降智能分析与运维能力提升方案</a:t>
            </a:r>
          </a:p>
        </p:txBody>
      </p:sp>
      <p:pic>
        <p:nvPicPr>
          <p:cNvPr id="9" name="Picture 8" descr="slide1_图片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000" y="6380000"/>
            <a:ext cx="1612406" cy="32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50000" y="1400000"/>
            <a:ext cx="2900000" cy="12000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000" y="1400000"/>
            <a:ext cx="90000" cy="1200000"/>
          </a:xfrm>
          <a:prstGeom prst="rect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000" y="1650000"/>
            <a:ext cx="25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55A2"/>
                </a:solidFill>
                <a:latin typeface="微软雅黑"/>
                <a:ea typeface="微软雅黑"/>
              </a:rPr>
              <a:t>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000" y="2050000"/>
            <a:ext cx="2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规程、标准、手册、历史报告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000" y="2850000"/>
            <a:ext cx="2900000" cy="12000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" y="2850000"/>
            <a:ext cx="90000" cy="1200000"/>
          </a:xfrm>
          <a:prstGeom prst="rect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000" y="3100000"/>
            <a:ext cx="25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55A2"/>
                </a:solidFill>
                <a:latin typeface="微软雅黑"/>
                <a:ea typeface="微软雅黑"/>
              </a:rPr>
              <a:t>监测数据库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000" y="3500000"/>
            <a:ext cx="2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水准 / GNSS / InSAR / 地下水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0000" y="4300000"/>
            <a:ext cx="2900000" cy="12000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0000" y="4300000"/>
            <a:ext cx="90000" cy="1200000"/>
          </a:xfrm>
          <a:prstGeom prst="rect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000" y="4550000"/>
            <a:ext cx="25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55A2"/>
                </a:solidFill>
                <a:latin typeface="微软雅黑"/>
                <a:ea typeface="微软雅黑"/>
              </a:rPr>
              <a:t>报告模板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000" y="4950000"/>
            <a:ext cx="2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周报、月报、季报、专题报告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00000" y="1400000"/>
            <a:ext cx="2900000" cy="12000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610000" y="1400000"/>
            <a:ext cx="90000" cy="12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0000" y="1650000"/>
            <a:ext cx="25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55A2"/>
                </a:solidFill>
                <a:latin typeface="微软雅黑"/>
                <a:ea typeface="微软雅黑"/>
              </a:rPr>
              <a:t>智能问答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0000" y="2050000"/>
            <a:ext cx="2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政策解读 · 规范咨询 · 运维知识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00000" y="2850000"/>
            <a:ext cx="2900000" cy="12000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610000" y="2850000"/>
            <a:ext cx="90000" cy="12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100000"/>
            <a:ext cx="25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55A2"/>
                </a:solidFill>
                <a:latin typeface="微软雅黑"/>
                <a:ea typeface="微软雅黑"/>
              </a:rPr>
              <a:t>智能查数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0000" y="3500000"/>
            <a:ext cx="2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自然语言问数 · 图表结论一体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00000" y="4300000"/>
            <a:ext cx="2900000" cy="12000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610000" y="4300000"/>
            <a:ext cx="90000" cy="12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4550000"/>
            <a:ext cx="25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55A2"/>
                </a:solidFill>
                <a:latin typeface="微软雅黑"/>
                <a:ea typeface="微软雅黑"/>
              </a:rPr>
              <a:t>自动报告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0000" y="4950000"/>
            <a:ext cx="2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一键生成 · 人工复核 · 成果归档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0000" y="2700000"/>
            <a:ext cx="4600000" cy="1600000"/>
          </a:xfrm>
          <a:prstGeom prst="roundRect">
            <a:avLst>
              <a:gd name="adj" fmla="val 8000"/>
            </a:avLst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00000" y="2900000"/>
            <a:ext cx="4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地面沉降智能分析大模型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00000" y="3500000"/>
            <a:ext cx="4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4E4F8"/>
                </a:solidFill>
                <a:latin typeface="微软雅黑"/>
                <a:ea typeface="微软雅黑"/>
              </a:rPr>
              <a:t>通用大模型 + RAG专业知识检索</a:t>
            </a:r>
          </a:p>
          <a:p>
            <a:pPr algn="ctr"/>
            <a:r>
              <a:rPr sz="1300" b="0">
                <a:solidFill>
                  <a:srgbClr val="24E4F8"/>
                </a:solidFill>
                <a:latin typeface="微软雅黑"/>
                <a:ea typeface="微软雅黑"/>
              </a:rPr>
              <a:t>+ 受控SQL查询 + 模板引擎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00000" y="2100000"/>
            <a:ext cx="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3855CB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0000" y="2100000"/>
            <a:ext cx="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微软雅黑"/>
                <a:ea typeface="微软雅黑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"/>
            <a:ext cx="160000" cy="82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00" y="220000"/>
            <a:ext cx="100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A366E"/>
                </a:solidFill>
                <a:latin typeface="微软雅黑"/>
                <a:ea typeface="微软雅黑"/>
              </a:rP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00" y="74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C8F"/>
                </a:solidFill>
                <a:latin typeface="微软雅黑"/>
                <a:ea typeface="微软雅黑"/>
              </a:rPr>
              <a:t>交互 — 服务 — 数据 — 算力 四层构建；业务库远程只读，知识资产本地治理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00" y="6450000"/>
            <a:ext cx="4500000" cy="250000"/>
          </a:xfrm>
          <a:prstGeom prst="roundRect">
            <a:avLst>
              <a:gd name="adj" fmla="val 3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6470000"/>
            <a:ext cx="430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C8F"/>
                </a:solidFill>
                <a:latin typeface="微软雅黑"/>
                <a:ea typeface="微软雅黑"/>
              </a:rPr>
              <a:t>深启科技 · 地面沉降智能分析与运维能力提升方案</a:t>
            </a:r>
          </a:p>
        </p:txBody>
      </p:sp>
      <p:pic>
        <p:nvPicPr>
          <p:cNvPr id="8" name="Picture 7" descr="slide1_图片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000" y="6380000"/>
            <a:ext cx="1612406" cy="320000"/>
          </a:xfrm>
          <a:prstGeom prst="rect">
            <a:avLst/>
          </a:prstGeom>
        </p:spPr>
      </p:pic>
      <p:pic>
        <p:nvPicPr>
          <p:cNvPr id="9" name="Picture 8" descr="arch_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000" y="1120000"/>
            <a:ext cx="7500000" cy="50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"/>
            <a:ext cx="160000" cy="82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00" y="220000"/>
            <a:ext cx="100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A366E"/>
                </a:solidFill>
                <a:latin typeface="微软雅黑"/>
                <a:ea typeface="微软雅黑"/>
              </a:rPr>
              <a:t>架构要点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00" y="74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C8F"/>
                </a:solidFill>
                <a:latin typeface="微软雅黑"/>
                <a:ea typeface="微软雅黑"/>
              </a:rPr>
              <a:t>单机可交付、边界清晰、能力可扩展 — 兼顾落地性与长期演进</a:t>
            </a:r>
          </a:p>
        </p:txBody>
      </p:sp>
      <p:pic>
        <p:nvPicPr>
          <p:cNvPr id="6" name="Picture 5" descr="内容页三_图片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000" y="180000"/>
            <a:ext cx="2000000" cy="43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0000" y="6450000"/>
            <a:ext cx="4500000" cy="250000"/>
          </a:xfrm>
          <a:prstGeom prst="roundRect">
            <a:avLst>
              <a:gd name="adj" fmla="val 3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" y="6470000"/>
            <a:ext cx="430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C8F"/>
                </a:solidFill>
                <a:latin typeface="微软雅黑"/>
                <a:ea typeface="微软雅黑"/>
              </a:rPr>
              <a:t>深启科技 · 地面沉降智能分析与运维能力提升方案</a:t>
            </a:r>
          </a:p>
        </p:txBody>
      </p:sp>
      <p:pic>
        <p:nvPicPr>
          <p:cNvPr id="9" name="Picture 8" descr="slide1_图片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000" y="6380000"/>
            <a:ext cx="1612406" cy="32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50000" y="1250000"/>
            <a:ext cx="3650000" cy="22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000" y="1250000"/>
            <a:ext cx="3650000" cy="10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000" y="1550000"/>
            <a:ext cx="325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四层解耦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000" y="2150000"/>
            <a:ext cx="325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应用交互、业务服务、数据与知识、基础与模型分层部署，便于独立扩容与替换。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0000" y="1250000"/>
            <a:ext cx="3650000" cy="22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0000" y="1250000"/>
            <a:ext cx="3650000" cy="100000"/>
          </a:xfrm>
          <a:prstGeom prst="rect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0000" y="1550000"/>
            <a:ext cx="325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分栈组网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000" y="2150000"/>
            <a:ext cx="325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应用编排 / 数据知识 / 模型推理分栈容器化，故障域隔离，运维更清晰。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0000" y="1250000"/>
            <a:ext cx="3650000" cy="22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0000" y="1250000"/>
            <a:ext cx="3650000" cy="1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0000" y="1550000"/>
            <a:ext cx="325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数据最小暴露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0000" y="2150000"/>
            <a:ext cx="325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不对业务库整库拷贝；按任务远程只读拉取，结果最小缓存，避免形成第二业务库。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0000" y="3700000"/>
            <a:ext cx="3650000" cy="22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0000" y="3700000"/>
            <a:ext cx="3650000" cy="100000"/>
          </a:xfrm>
          <a:prstGeom prst="rect">
            <a:avLst/>
          </a:prstGeom>
          <a:solidFill>
            <a:srgbClr val="E0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0000" y="4000000"/>
            <a:ext cx="325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政务外网落地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000" y="4600000"/>
            <a:ext cx="325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大模型、知识库与应用服务统一部署于政务云政务外网区，满足安全管控要求。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0000" y="3700000"/>
            <a:ext cx="3650000" cy="22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0000" y="3700000"/>
            <a:ext cx="3650000" cy="100000"/>
          </a:xfrm>
          <a:prstGeom prst="rect">
            <a:avLst/>
          </a:prstGeom>
          <a:solidFill>
            <a:srgbClr val="2E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0000" y="4000000"/>
            <a:ext cx="325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国产化底座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0000" y="4600000"/>
            <a:ext cx="325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麒麟OS + 容器运行时 + Atlas 300I/昇腾NPU + 国产开源指令模型。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0000" y="3700000"/>
            <a:ext cx="3650000" cy="22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0000" y="3700000"/>
            <a:ext cx="3650000" cy="100000"/>
          </a:xfrm>
          <a:prstGeom prst="rect">
            <a:avLst/>
          </a:prstGeom>
          <a:solidFill>
            <a:srgbClr val="385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0000" y="4000000"/>
            <a:ext cx="325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能力可扩展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0000" y="4600000"/>
            <a:ext cx="325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可扩展站点、文档、数据表与报告类型；模型与知识支持热更新、增量接入。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"/>
            <a:ext cx="160000" cy="82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00" y="220000"/>
            <a:ext cx="100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A366E"/>
                </a:solidFill>
                <a:latin typeface="微软雅黑"/>
                <a:ea typeface="微软雅黑"/>
              </a:rPr>
              <a:t>核心能力处理流程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00" y="74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C8F"/>
                </a:solidFill>
                <a:latin typeface="微软雅黑"/>
                <a:ea typeface="微软雅黑"/>
              </a:rPr>
              <a:t>意图识别与路由 → 受控数据与知识检索 → 模型推理与分析编排 → 结构化输出与审计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00" y="6450000"/>
            <a:ext cx="4500000" cy="250000"/>
          </a:xfrm>
          <a:prstGeom prst="roundRect">
            <a:avLst>
              <a:gd name="adj" fmla="val 3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6470000"/>
            <a:ext cx="430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C8F"/>
                </a:solidFill>
                <a:latin typeface="微软雅黑"/>
                <a:ea typeface="微软雅黑"/>
              </a:rPr>
              <a:t>深启科技 · 地面沉降智能分析与运维能力提升方案</a:t>
            </a:r>
          </a:p>
        </p:txBody>
      </p:sp>
      <p:pic>
        <p:nvPicPr>
          <p:cNvPr id="8" name="Picture 7" descr="slide1_图片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000" y="6380000"/>
            <a:ext cx="1612406" cy="320000"/>
          </a:xfrm>
          <a:prstGeom prst="rect">
            <a:avLst/>
          </a:prstGeom>
        </p:spPr>
      </p:pic>
      <p:pic>
        <p:nvPicPr>
          <p:cNvPr id="9" name="Picture 8" descr="flow_6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000" y="1150000"/>
            <a:ext cx="9400000" cy="50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"/>
            <a:ext cx="160000" cy="82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00" y="220000"/>
            <a:ext cx="100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A366E"/>
                </a:solidFill>
                <a:latin typeface="微软雅黑"/>
                <a:ea typeface="微软雅黑"/>
              </a:rPr>
              <a:t>核心能力一：智能知识问答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00" y="74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C8F"/>
                </a:solidFill>
                <a:latin typeface="微软雅黑"/>
                <a:ea typeface="微软雅黑"/>
              </a:rPr>
              <a:t>通用问答 + 专业知识RAG，回答可引用、可追溯，杜绝无依据编造</a:t>
            </a:r>
          </a:p>
        </p:txBody>
      </p:sp>
      <p:pic>
        <p:nvPicPr>
          <p:cNvPr id="6" name="Picture 5" descr="内容页三_图片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000" y="180000"/>
            <a:ext cx="2000000" cy="43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0000" y="6450000"/>
            <a:ext cx="4500000" cy="250000"/>
          </a:xfrm>
          <a:prstGeom prst="roundRect">
            <a:avLst>
              <a:gd name="adj" fmla="val 3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" y="6470000"/>
            <a:ext cx="430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C8F"/>
                </a:solidFill>
                <a:latin typeface="微软雅黑"/>
                <a:ea typeface="微软雅黑"/>
              </a:rPr>
              <a:t>深启科技 · 地面沉降智能分析与运维能力提升方案</a:t>
            </a:r>
          </a:p>
        </p:txBody>
      </p:sp>
      <p:pic>
        <p:nvPicPr>
          <p:cNvPr id="9" name="Picture 8" descr="slide1_图片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000" y="6380000"/>
            <a:ext cx="1612406" cy="32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50000" y="1150000"/>
            <a:ext cx="11450000" cy="75000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000" y="1250000"/>
            <a:ext cx="110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面向政策解读、业务流程、平台操作与监测专业问题，系统自动识别意图并选择最优路径。专业问答采用「解析—切片—向量化—混合检索—重排序—带引用生成」链路，依据不足时明确提示。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00" y="2100000"/>
            <a:ext cx="2050000" cy="520000"/>
          </a:xfrm>
          <a:prstGeom prst="roundRect">
            <a:avLst>
              <a:gd name="adj" fmla="val 15000"/>
            </a:avLst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0000" y="2150000"/>
            <a:ext cx="205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1  文档接入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00000" y="2100000"/>
            <a:ext cx="2050000" cy="520000"/>
          </a:xfrm>
          <a:prstGeom prst="roundRect">
            <a:avLst>
              <a:gd name="adj" fmla="val 15000"/>
            </a:avLst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00000" y="2150000"/>
            <a:ext cx="205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2  清洗切片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0000" y="2100000"/>
            <a:ext cx="2050000" cy="520000"/>
          </a:xfrm>
          <a:prstGeom prst="roundRect">
            <a:avLst>
              <a:gd name="adj" fmla="val 15000"/>
            </a:avLst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0" y="2150000"/>
            <a:ext cx="205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3  混合检索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00000" y="2100000"/>
            <a:ext cx="2050000" cy="520000"/>
          </a:xfrm>
          <a:prstGeom prst="roundRect">
            <a:avLst>
              <a:gd name="adj" fmla="val 15000"/>
            </a:avLst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0000" y="2150000"/>
            <a:ext cx="205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4  精排生成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0000" y="2100000"/>
            <a:ext cx="2050000" cy="520000"/>
          </a:xfrm>
          <a:prstGeom prst="roundRect">
            <a:avLst>
              <a:gd name="adj" fmla="val 15000"/>
            </a:avLst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0000" y="2150000"/>
            <a:ext cx="205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5  会话管理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000" y="2800000"/>
            <a:ext cx="55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55A2"/>
                </a:solidFill>
                <a:latin typeface="微软雅黑"/>
                <a:ea typeface="微软雅黑"/>
              </a:rPr>
              <a:t>核心能力</a:t>
            </a:r>
          </a:p>
        </p:txBody>
      </p:sp>
      <p:sp>
        <p:nvSpPr>
          <p:cNvPr id="23" name="Oval 22"/>
          <p:cNvSpPr/>
          <p:nvPr/>
        </p:nvSpPr>
        <p:spPr>
          <a:xfrm>
            <a:off x="400000" y="3280000"/>
            <a:ext cx="160000" cy="160000"/>
          </a:xfrm>
          <a:prstGeom prst="ellipse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000" y="3200000"/>
            <a:ext cx="5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微软雅黑"/>
                <a:ea typeface="微软雅黑"/>
              </a:rPr>
              <a:t>流式多轮对话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000" y="3480000"/>
            <a:ext cx="52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C8F"/>
                </a:solidFill>
                <a:latin typeface="微软雅黑"/>
                <a:ea typeface="微软雅黑"/>
              </a:rPr>
              <a:t>保存不少于10轮上下文摘要，支持指代消解与澄清提问</a:t>
            </a:r>
          </a:p>
        </p:txBody>
      </p:sp>
      <p:sp>
        <p:nvSpPr>
          <p:cNvPr id="26" name="Oval 25"/>
          <p:cNvSpPr/>
          <p:nvPr/>
        </p:nvSpPr>
        <p:spPr>
          <a:xfrm>
            <a:off x="400000" y="3980000"/>
            <a:ext cx="160000" cy="160000"/>
          </a:xfrm>
          <a:prstGeom prst="ellipse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000" y="3900000"/>
            <a:ext cx="5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微软雅黑"/>
                <a:ea typeface="微软雅黑"/>
              </a:rPr>
              <a:t>混合检索精排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000" y="4180000"/>
            <a:ext cx="52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C8F"/>
                </a:solidFill>
                <a:latin typeface="微软雅黑"/>
                <a:ea typeface="微软雅黑"/>
              </a:rPr>
              <a:t>向量召回 + 关键词召回 + 重排序，提升专业命中率</a:t>
            </a:r>
          </a:p>
        </p:txBody>
      </p:sp>
      <p:sp>
        <p:nvSpPr>
          <p:cNvPr id="29" name="Oval 28"/>
          <p:cNvSpPr/>
          <p:nvPr/>
        </p:nvSpPr>
        <p:spPr>
          <a:xfrm>
            <a:off x="400000" y="4680000"/>
            <a:ext cx="160000" cy="160000"/>
          </a:xfrm>
          <a:prstGeom prst="ellipse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000" y="4600000"/>
            <a:ext cx="5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微软雅黑"/>
                <a:ea typeface="微软雅黑"/>
              </a:rPr>
              <a:t>引用溯源强制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000" y="4880000"/>
            <a:ext cx="52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C8F"/>
                </a:solidFill>
                <a:latin typeface="微软雅黑"/>
                <a:ea typeface="微软雅黑"/>
              </a:rPr>
              <a:t>回答附带来源；依据不足时明确提示，不编造结论</a:t>
            </a:r>
          </a:p>
        </p:txBody>
      </p:sp>
      <p:sp>
        <p:nvSpPr>
          <p:cNvPr id="32" name="Oval 31"/>
          <p:cNvSpPr/>
          <p:nvPr/>
        </p:nvSpPr>
        <p:spPr>
          <a:xfrm>
            <a:off x="400000" y="5380000"/>
            <a:ext cx="160000" cy="160000"/>
          </a:xfrm>
          <a:prstGeom prst="ellipse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000" y="5300000"/>
            <a:ext cx="52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微软雅黑"/>
                <a:ea typeface="微软雅黑"/>
              </a:rPr>
              <a:t>知识增量更新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000" y="5580000"/>
            <a:ext cx="52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C8F"/>
                </a:solidFill>
                <a:latin typeface="微软雅黑"/>
                <a:ea typeface="微软雅黑"/>
              </a:rPr>
              <a:t>支持多格式文档入库，无需重训即可吸纳最新资料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000" y="2800000"/>
            <a:ext cx="53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55A2"/>
                </a:solidFill>
                <a:latin typeface="微软雅黑"/>
                <a:ea typeface="微软雅黑"/>
              </a:rPr>
              <a:t>典型场景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000" y="3200000"/>
            <a:ext cx="5300000" cy="8000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0000" y="3300000"/>
            <a:ext cx="49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366E"/>
                </a:solidFill>
                <a:latin typeface="微软雅黑"/>
                <a:ea typeface="微软雅黑"/>
              </a:rPr>
              <a:t>“通州区地面沉降监测的主要技术规范有哪些？”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0000" y="3620000"/>
            <a:ext cx="49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— 匹配知识库标准与规程，返回带章节引用的权威解答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000" y="4100000"/>
            <a:ext cx="5300000" cy="8000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200000"/>
            <a:ext cx="49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366E"/>
                </a:solidFill>
                <a:latin typeface="微软雅黑"/>
                <a:ea typeface="微软雅黑"/>
              </a:rPr>
              <a:t>“静力水准设备异常如何排查？”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0000" y="4520000"/>
            <a:ext cx="49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— 检索设备手册与运维案例，给出可操作处置指引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000" y="5000000"/>
            <a:ext cx="5300000" cy="8000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0000" y="5100000"/>
            <a:ext cx="49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366E"/>
                </a:solidFill>
                <a:latin typeface="微软雅黑"/>
                <a:ea typeface="微软雅黑"/>
              </a:rPr>
              <a:t>“上一份月报里异常点位的处理建议？”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0000" y="5420000"/>
            <a:ext cx="49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— 结合历史成果与上下文，辅助复盘与延续研判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"/>
            <a:ext cx="160000" cy="82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00" y="220000"/>
            <a:ext cx="100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A366E"/>
                </a:solidFill>
                <a:latin typeface="微软雅黑"/>
                <a:ea typeface="微软雅黑"/>
              </a:rPr>
              <a:t>核心能力二：智能数据查询（NL2SQL）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00" y="74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C8F"/>
                </a:solidFill>
                <a:latin typeface="微软雅黑"/>
                <a:ea typeface="微软雅黑"/>
              </a:rPr>
              <a:t>自然语言问数，经语义层与SQL安全网关只读执行，结果图表与结论一体呈现</a:t>
            </a:r>
          </a:p>
        </p:txBody>
      </p:sp>
      <p:pic>
        <p:nvPicPr>
          <p:cNvPr id="6" name="Picture 5" descr="内容页三_图片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000" y="180000"/>
            <a:ext cx="2000000" cy="43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0000" y="6450000"/>
            <a:ext cx="4500000" cy="250000"/>
          </a:xfrm>
          <a:prstGeom prst="roundRect">
            <a:avLst>
              <a:gd name="adj" fmla="val 3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" y="6470000"/>
            <a:ext cx="430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C8F"/>
                </a:solidFill>
                <a:latin typeface="微软雅黑"/>
                <a:ea typeface="微软雅黑"/>
              </a:rPr>
              <a:t>深启科技 · 地面沉降智能分析与运维能力提升方案</a:t>
            </a:r>
          </a:p>
        </p:txBody>
      </p:sp>
      <p:pic>
        <p:nvPicPr>
          <p:cNvPr id="9" name="Picture 8" descr="slide1_图片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000" y="6380000"/>
            <a:ext cx="1612406" cy="32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50000" y="1150000"/>
            <a:ext cx="11450000" cy="70000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000" y="1220000"/>
            <a:ext cx="110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不让大模型“自由拼SQL后执行”。先识别意图与实体，再在受控Schema中匹配表字段，生成SQL草案并经白名单、语法、权限与成本校验后，以只读方式跨区访问业务库。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00" y="2050000"/>
            <a:ext cx="22000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00" y="2050000"/>
            <a:ext cx="2200000" cy="90000"/>
          </a:xfrm>
          <a:prstGeom prst="rect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0000" y="2250000"/>
            <a:ext cx="500000" cy="500000"/>
          </a:xfrm>
          <a:prstGeom prst="ellipse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000" y="2300000"/>
            <a:ext cx="5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000" y="2900000"/>
            <a:ext cx="2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366E"/>
                </a:solidFill>
                <a:latin typeface="微软雅黑"/>
                <a:ea typeface="微软雅黑"/>
              </a:rPr>
              <a:t>意图识别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000" y="3350000"/>
            <a:ext cx="2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趋势 / 对比 / 统计</a:t>
            </a:r>
          </a:p>
          <a:p>
            <a:pPr algn="ctr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异常 / 站点详情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0000" y="2050000"/>
            <a:ext cx="22000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70000" y="2050000"/>
            <a:ext cx="2200000" cy="9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20000" y="2250000"/>
            <a:ext cx="500000" cy="500000"/>
          </a:xfrm>
          <a:prstGeom prst="ellipse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000" y="2300000"/>
            <a:ext cx="5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000" y="2900000"/>
            <a:ext cx="2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366E"/>
                </a:solidFill>
                <a:latin typeface="微软雅黑"/>
                <a:ea typeface="微软雅黑"/>
              </a:rPr>
              <a:t>语义建模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0000" y="3350000"/>
            <a:ext cx="2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字段口径字典</a:t>
            </a:r>
          </a:p>
          <a:p>
            <a:pPr algn="ctr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覆盖率目标≥95%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0000" y="2050000"/>
            <a:ext cx="22000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0000" y="2050000"/>
            <a:ext cx="2200000" cy="9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0000" y="2250000"/>
            <a:ext cx="500000" cy="50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0000" y="2300000"/>
            <a:ext cx="5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000" y="2900000"/>
            <a:ext cx="2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366E"/>
                </a:solidFill>
                <a:latin typeface="微软雅黑"/>
                <a:ea typeface="微软雅黑"/>
              </a:rPr>
              <a:t>Schema链接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000" y="3350000"/>
            <a:ext cx="2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仅预登记库表视图</a:t>
            </a:r>
          </a:p>
          <a:p>
            <a:pPr algn="ctr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禁止越权对象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70000" y="2050000"/>
            <a:ext cx="22000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70000" y="2050000"/>
            <a:ext cx="2200000" cy="90000"/>
          </a:xfrm>
          <a:prstGeom prst="rect">
            <a:avLst/>
          </a:prstGeom>
          <a:solidFill>
            <a:srgbClr val="E0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0000" y="2250000"/>
            <a:ext cx="500000" cy="500000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000" y="2300000"/>
            <a:ext cx="5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0000" y="2900000"/>
            <a:ext cx="2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366E"/>
                </a:solidFill>
                <a:latin typeface="微软雅黑"/>
                <a:ea typeface="微软雅黑"/>
              </a:rPr>
              <a:t>SQL校验执行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0000" y="3350000"/>
            <a:ext cx="2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AST+白名单+限流</a:t>
            </a:r>
          </a:p>
          <a:p>
            <a:pPr algn="ctr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只读 · 超时中止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20000" y="2050000"/>
            <a:ext cx="22000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20000" y="2050000"/>
            <a:ext cx="2200000" cy="90000"/>
          </a:xfrm>
          <a:prstGeom prst="rect">
            <a:avLst/>
          </a:prstGeom>
          <a:solidFill>
            <a:srgbClr val="2E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70000" y="2250000"/>
            <a:ext cx="500000" cy="500000"/>
          </a:xfrm>
          <a:prstGeom prst="ellipse">
            <a:avLst/>
          </a:prstGeom>
          <a:solidFill>
            <a:srgbClr val="2E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0000" y="2300000"/>
            <a:ext cx="5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0000" y="2900000"/>
            <a:ext cx="2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366E"/>
                </a:solidFill>
                <a:latin typeface="微软雅黑"/>
                <a:ea typeface="微软雅黑"/>
              </a:rPr>
              <a:t>结果呈现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0000" y="3350000"/>
            <a:ext cx="2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表格 · 折线 · 柱状</a:t>
            </a:r>
          </a:p>
          <a:p>
            <a:pPr algn="ctr"/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异常标记 · 摘要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0000" y="4300000"/>
            <a:ext cx="11450000" cy="17500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0000" y="4450000"/>
            <a:ext cx="3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55A2"/>
                </a:solidFill>
                <a:latin typeface="微软雅黑"/>
                <a:ea typeface="微软雅黑"/>
              </a:rPr>
              <a:t>典型提问示例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000" y="5000000"/>
            <a:ext cx="35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“查询通州区近三个月沉降速率超过阈值的监测点”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0000" y="5000000"/>
            <a:ext cx="35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“对比去年与今年同期地下水水位变化趋势”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0000" y="5000000"/>
            <a:ext cx="35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“列出本周运行异常的静力水准站点及持续时长”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"/>
            <a:ext cx="160000" cy="82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00" y="220000"/>
            <a:ext cx="100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A366E"/>
                </a:solidFill>
                <a:latin typeface="微软雅黑"/>
                <a:ea typeface="微软雅黑"/>
              </a:rPr>
              <a:t>核心能力三：自动化报告生成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00" y="74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C8F"/>
                </a:solidFill>
                <a:latin typeface="微软雅黑"/>
                <a:ea typeface="微软雅黑"/>
              </a:rPr>
              <a:t>模板驱动 + 数据计算 + 规则图表 + 大模型辅助表达 + 人工复核</a:t>
            </a:r>
          </a:p>
        </p:txBody>
      </p:sp>
      <p:pic>
        <p:nvPicPr>
          <p:cNvPr id="6" name="Picture 5" descr="内容页三_图片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000" y="180000"/>
            <a:ext cx="2000000" cy="43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0000" y="6450000"/>
            <a:ext cx="4500000" cy="250000"/>
          </a:xfrm>
          <a:prstGeom prst="roundRect">
            <a:avLst>
              <a:gd name="adj" fmla="val 3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" y="6470000"/>
            <a:ext cx="430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C8F"/>
                </a:solidFill>
                <a:latin typeface="微软雅黑"/>
                <a:ea typeface="微软雅黑"/>
              </a:rPr>
              <a:t>深启科技 · 地面沉降智能分析与运维能力提升方案</a:t>
            </a:r>
          </a:p>
        </p:txBody>
      </p:sp>
      <p:pic>
        <p:nvPicPr>
          <p:cNvPr id="9" name="Picture 8" descr="slide1_图片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000" y="6380000"/>
            <a:ext cx="1612406" cy="32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50000" y="1200000"/>
            <a:ext cx="3650000" cy="22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0000" y="1450000"/>
            <a:ext cx="900000" cy="420000"/>
          </a:xfrm>
          <a:prstGeom prst="roundRect">
            <a:avLst>
              <a:gd name="adj" fmla="val 20000"/>
            </a:avLst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000" y="1450000"/>
            <a:ext cx="90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000" y="1480000"/>
            <a:ext cx="22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模板管理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000" y="2100000"/>
            <a:ext cx="325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预置周/月/季报、专题及运维成果等不少于5套模板，版本与字段映射可追溯。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0000" y="1200000"/>
            <a:ext cx="3650000" cy="22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00000" y="1450000"/>
            <a:ext cx="900000" cy="420000"/>
          </a:xfrm>
          <a:prstGeom prst="roundRect">
            <a:avLst>
              <a:gd name="adj" fmla="val 20000"/>
            </a:avLst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0000" y="1450000"/>
            <a:ext cx="90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0000" y="1480000"/>
            <a:ext cx="22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任务编排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0000" y="2100000"/>
            <a:ext cx="325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选择时段、站点、区域与类型后异步执行，展示进度，支持失败重试。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0000" y="1200000"/>
            <a:ext cx="3650000" cy="22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0000" y="1450000"/>
            <a:ext cx="900000" cy="4200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0000" y="1450000"/>
            <a:ext cx="90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0000" y="1480000"/>
            <a:ext cx="22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数据计算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0000" y="2100000"/>
            <a:ext cx="325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调用受控查数服务，计算沉降量、速率、同比环比、异常数量等，口径可追溯。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0000" y="3650000"/>
            <a:ext cx="3650000" cy="22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0000" y="3900000"/>
            <a:ext cx="900000" cy="420000"/>
          </a:xfrm>
          <a:prstGeom prst="roundRect">
            <a:avLst>
              <a:gd name="adj" fmla="val 20000"/>
            </a:avLst>
          </a:prstGeom>
          <a:solidFill>
            <a:srgbClr val="E0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000" y="3900000"/>
            <a:ext cx="90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000" y="3930000"/>
            <a:ext cx="22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图文生成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000" y="4550000"/>
            <a:ext cx="325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图表由规则引擎生成；文本由大模型辅助撰写；数值不可被模型改写。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0000" y="3650000"/>
            <a:ext cx="3650000" cy="22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00000" y="3900000"/>
            <a:ext cx="900000" cy="420000"/>
          </a:xfrm>
          <a:prstGeom prst="roundRect">
            <a:avLst>
              <a:gd name="adj" fmla="val 20000"/>
            </a:avLst>
          </a:prstGeom>
          <a:solidFill>
            <a:srgbClr val="2E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0000" y="3900000"/>
            <a:ext cx="90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0000" y="3930000"/>
            <a:ext cx="22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人工复核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0000" y="4550000"/>
            <a:ext cx="325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在线预览、编辑、批注与确认；未确认不得作为正式发布稿。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0000" y="3650000"/>
            <a:ext cx="3650000" cy="22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50000" y="3900000"/>
            <a:ext cx="900000" cy="420000"/>
          </a:xfrm>
          <a:prstGeom prst="roundRect">
            <a:avLst>
              <a:gd name="adj" fmla="val 20000"/>
            </a:avLst>
          </a:prstGeom>
          <a:solidFill>
            <a:srgbClr val="385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0000" y="3900000"/>
            <a:ext cx="90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0000" y="3930000"/>
            <a:ext cx="22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366E"/>
                </a:solidFill>
                <a:latin typeface="微软雅黑"/>
                <a:ea typeface="微软雅黑"/>
              </a:rPr>
              <a:t>成果输出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0000" y="4550000"/>
            <a:ext cx="325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输出Word/PDF并归档；水印与权限控制，跨区回传受控。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"/>
            <a:ext cx="160000" cy="82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00" y="220000"/>
            <a:ext cx="100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A366E"/>
                </a:solidFill>
                <a:latin typeface="微软雅黑"/>
                <a:ea typeface="微软雅黑"/>
              </a:rPr>
              <a:t>安全边界与数据访问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00" y="74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C8F"/>
                </a:solidFill>
                <a:latin typeface="微软雅黑"/>
                <a:ea typeface="微软雅黑"/>
              </a:rPr>
              <a:t>智能化能力在「数据不出域、跨区最小访问、全程可审计」前提下落地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00" y="6450000"/>
            <a:ext cx="4500000" cy="250000"/>
          </a:xfrm>
          <a:prstGeom prst="roundRect">
            <a:avLst>
              <a:gd name="adj" fmla="val 3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6470000"/>
            <a:ext cx="430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C8F"/>
                </a:solidFill>
                <a:latin typeface="微软雅黑"/>
                <a:ea typeface="微软雅黑"/>
              </a:rPr>
              <a:t>深启科技 · 地面沉降智能分析与运维能力提升方案</a:t>
            </a:r>
          </a:p>
        </p:txBody>
      </p:sp>
      <p:pic>
        <p:nvPicPr>
          <p:cNvPr id="8" name="Picture 7" descr="slide1_图片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000" y="6380000"/>
            <a:ext cx="1612406" cy="32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50000" y="1200000"/>
            <a:ext cx="3700000" cy="380000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0000" y="1200000"/>
            <a:ext cx="3700000" cy="1150000"/>
          </a:xfrm>
          <a:prstGeom prst="roundRect">
            <a:avLst>
              <a:gd name="adj" fmla="val 5000"/>
            </a:avLst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1280000"/>
            <a:ext cx="3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六里桥互联网区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17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既有监测平台与业务库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只读视图 / 数据服务接口</a:t>
            </a:r>
          </a:p>
        </p:txBody>
      </p:sp>
      <p:sp>
        <p:nvSpPr>
          <p:cNvPr id="13" name="Oval 12"/>
          <p:cNvSpPr/>
          <p:nvPr/>
        </p:nvSpPr>
        <p:spPr>
          <a:xfrm>
            <a:off x="650000" y="2700000"/>
            <a:ext cx="160000" cy="160000"/>
          </a:xfrm>
          <a:prstGeom prst="ellipse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" y="2600000"/>
            <a:ext cx="29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业务门户入口</a:t>
            </a:r>
          </a:p>
        </p:txBody>
      </p:sp>
      <p:sp>
        <p:nvSpPr>
          <p:cNvPr id="15" name="Oval 14"/>
          <p:cNvSpPr/>
          <p:nvPr/>
        </p:nvSpPr>
        <p:spPr>
          <a:xfrm>
            <a:off x="650000" y="3400000"/>
            <a:ext cx="160000" cy="160000"/>
          </a:xfrm>
          <a:prstGeom prst="ellipse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3300000"/>
            <a:ext cx="29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监测业务数据库</a:t>
            </a:r>
          </a:p>
        </p:txBody>
      </p:sp>
      <p:sp>
        <p:nvSpPr>
          <p:cNvPr id="17" name="Oval 16"/>
          <p:cNvSpPr/>
          <p:nvPr/>
        </p:nvSpPr>
        <p:spPr>
          <a:xfrm>
            <a:off x="650000" y="4100000"/>
            <a:ext cx="160000" cy="160000"/>
          </a:xfrm>
          <a:prstGeom prst="ellipse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000" y="4000000"/>
            <a:ext cx="29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API / JDBC（TLS）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0000" y="1200000"/>
            <a:ext cx="3700000" cy="380000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50000" y="1200000"/>
            <a:ext cx="3700000" cy="1150000"/>
          </a:xfrm>
          <a:prstGeom prst="roundRect">
            <a:avLst>
              <a:gd name="adj" fmla="val 5000"/>
            </a:avLst>
          </a:prstGeom>
          <a:solidFill>
            <a:srgbClr val="E0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0000" y="1280000"/>
            <a:ext cx="3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金山云互通策略区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0000" y="17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路由 · ACL · 访问控制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仅放通白名单，不暴露公网服务</a:t>
            </a:r>
          </a:p>
        </p:txBody>
      </p:sp>
      <p:sp>
        <p:nvSpPr>
          <p:cNvPr id="23" name="Oval 22"/>
          <p:cNvSpPr/>
          <p:nvPr/>
        </p:nvSpPr>
        <p:spPr>
          <a:xfrm>
            <a:off x="4550000" y="2700000"/>
            <a:ext cx="160000" cy="160000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000" y="2600000"/>
            <a:ext cx="29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源/目的IP与端口白名单</a:t>
            </a:r>
          </a:p>
        </p:txBody>
      </p:sp>
      <p:sp>
        <p:nvSpPr>
          <p:cNvPr id="25" name="Oval 24"/>
          <p:cNvSpPr/>
          <p:nvPr/>
        </p:nvSpPr>
        <p:spPr>
          <a:xfrm>
            <a:off x="4550000" y="3400000"/>
            <a:ext cx="160000" cy="160000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000" y="3300000"/>
            <a:ext cx="29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必要方向最小开放</a:t>
            </a:r>
          </a:p>
        </p:txBody>
      </p:sp>
      <p:sp>
        <p:nvSpPr>
          <p:cNvPr id="27" name="Oval 26"/>
          <p:cNvSpPr/>
          <p:nvPr/>
        </p:nvSpPr>
        <p:spPr>
          <a:xfrm>
            <a:off x="4550000" y="4100000"/>
            <a:ext cx="160000" cy="160000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000" y="4000000"/>
            <a:ext cx="29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策略清单管理可回滚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0000" y="1200000"/>
            <a:ext cx="3700000" cy="380000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0000" y="1200000"/>
            <a:ext cx="3700000" cy="1150000"/>
          </a:xfrm>
          <a:prstGeom prst="roundRect">
            <a:avLst>
              <a:gd name="adj" fmla="val 5000"/>
            </a:avLst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0000" y="1280000"/>
            <a:ext cx="3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政务云政务外网区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0000" y="17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AI应用 · 推理 · 知识服务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Atlas 300I ×4 · RAG · 向量库</a:t>
            </a:r>
          </a:p>
        </p:txBody>
      </p:sp>
      <p:sp>
        <p:nvSpPr>
          <p:cNvPr id="33" name="Oval 32"/>
          <p:cNvSpPr/>
          <p:nvPr/>
        </p:nvSpPr>
        <p:spPr>
          <a:xfrm>
            <a:off x="8450000" y="2700000"/>
            <a:ext cx="160000" cy="160000"/>
          </a:xfrm>
          <a:prstGeom prst="ellipse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00000" y="2600000"/>
            <a:ext cx="29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问答 / 查数 / 报告服务</a:t>
            </a:r>
          </a:p>
        </p:txBody>
      </p:sp>
      <p:sp>
        <p:nvSpPr>
          <p:cNvPr id="35" name="Oval 34"/>
          <p:cNvSpPr/>
          <p:nvPr/>
        </p:nvSpPr>
        <p:spPr>
          <a:xfrm>
            <a:off x="8450000" y="3400000"/>
            <a:ext cx="160000" cy="160000"/>
          </a:xfrm>
          <a:prstGeom prst="ellipse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00000" y="3300000"/>
            <a:ext cx="29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SQL安全网关与审计</a:t>
            </a:r>
          </a:p>
        </p:txBody>
      </p:sp>
      <p:sp>
        <p:nvSpPr>
          <p:cNvPr id="37" name="Oval 36"/>
          <p:cNvSpPr/>
          <p:nvPr/>
        </p:nvSpPr>
        <p:spPr>
          <a:xfrm>
            <a:off x="8450000" y="4100000"/>
            <a:ext cx="160000" cy="160000"/>
          </a:xfrm>
          <a:prstGeom prst="ellipse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00000" y="4000000"/>
            <a:ext cx="29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模型与知识本地治理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0000" y="5200000"/>
            <a:ext cx="11450000" cy="950000"/>
          </a:xfrm>
          <a:prstGeom prst="roundRect">
            <a:avLst>
              <a:gd name="adj" fmla="val 5000"/>
            </a:avLst>
          </a:prstGeom>
          <a:solidFill>
            <a:srgbClr val="1A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0000" y="5350000"/>
            <a:ext cx="1105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原则：跨区默认最小权限 · 只读账号 · 白名单 · 加密传输 · 全程审计  |  优先走数据服务接口  |  模型输出须经引用、规则、模板与人工复核，不直接作为行政或专业结论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"/>
            <a:ext cx="160000" cy="82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00" y="220000"/>
            <a:ext cx="100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A366E"/>
                </a:solidFill>
                <a:latin typeface="微软雅黑"/>
                <a:ea typeface="微软雅黑"/>
              </a:rPr>
              <a:t>方案价值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00" y="74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C8F"/>
                </a:solidFill>
                <a:latin typeface="微软雅黑"/>
                <a:ea typeface="微软雅黑"/>
              </a:rPr>
              <a:t>安全可控、效率提升、知识沉淀、决策辅助 — 支撑地面沉降防控日常业务</a:t>
            </a:r>
          </a:p>
        </p:txBody>
      </p:sp>
      <p:pic>
        <p:nvPicPr>
          <p:cNvPr id="6" name="Picture 5" descr="内容页三_图片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000" y="180000"/>
            <a:ext cx="2000000" cy="43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0000" y="6450000"/>
            <a:ext cx="4500000" cy="250000"/>
          </a:xfrm>
          <a:prstGeom prst="roundRect">
            <a:avLst>
              <a:gd name="adj" fmla="val 35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" y="6470000"/>
            <a:ext cx="430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C8F"/>
                </a:solidFill>
                <a:latin typeface="微软雅黑"/>
                <a:ea typeface="微软雅黑"/>
              </a:rPr>
              <a:t>深启科技 · 地面沉降智能分析与运维能力提升方案</a:t>
            </a:r>
          </a:p>
        </p:txBody>
      </p:sp>
      <p:pic>
        <p:nvPicPr>
          <p:cNvPr id="9" name="Picture 8" descr="slide1_图片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000" y="6380000"/>
            <a:ext cx="1612406" cy="32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00000" y="1250000"/>
            <a:ext cx="2200000" cy="43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0000" y="1250000"/>
            <a:ext cx="2200000" cy="950000"/>
          </a:xfrm>
          <a:prstGeom prst="rect">
            <a:avLst/>
          </a:prstGeom>
          <a:solidFill>
            <a:srgbClr val="197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000" y="1350000"/>
            <a:ext cx="22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问得快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000" y="1750000"/>
            <a:ext cx="2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可追溯智能问答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2450000"/>
            <a:ext cx="1900000" cy="2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政策、规范、运维知识秒级获取，引用可核查，降低检索与咨询成本。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0000" y="1250000"/>
            <a:ext cx="2200000" cy="43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0000" y="1250000"/>
            <a:ext cx="2200000" cy="950000"/>
          </a:xfrm>
          <a:prstGeom prst="rect">
            <a:avLst/>
          </a:prstGeom>
          <a:solidFill>
            <a:srgbClr val="2E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0000" y="1350000"/>
            <a:ext cx="22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查得准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0000" y="1750000"/>
            <a:ext cx="2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自然语言自助分析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0000" y="2450000"/>
            <a:ext cx="1900000" cy="2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提问即分析，自动出表出图出摘要，显著减少人工取数与加工环节。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00000" y="1250000"/>
            <a:ext cx="2200000" cy="43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0000" y="1250000"/>
            <a:ext cx="2200000" cy="95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0" y="1350000"/>
            <a:ext cx="22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报得及时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0000" y="1750000"/>
            <a:ext cx="2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报告编制提质增效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0000" y="2450000"/>
            <a:ext cx="1900000" cy="2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周月季报与专题报告一键生成，人工复核把关，成果规范可归档。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50000" y="1250000"/>
            <a:ext cx="2200000" cy="43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50000" y="1250000"/>
            <a:ext cx="2200000" cy="950000"/>
          </a:xfrm>
          <a:prstGeom prst="rect">
            <a:avLst/>
          </a:prstGeom>
          <a:solidFill>
            <a:srgbClr val="E0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0000" y="1350000"/>
            <a:ext cx="22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用得安心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000" y="1750000"/>
            <a:ext cx="2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跨区安全访问边界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0000" y="2450000"/>
            <a:ext cx="1900000" cy="2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数据不出授权域，只读最小暴露，调用与分析过程全程可审计。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00000" y="1250000"/>
            <a:ext cx="2200000" cy="43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00000" y="1250000"/>
            <a:ext cx="2200000" cy="950000"/>
          </a:xfrm>
          <a:prstGeom prst="rect">
            <a:avLst/>
          </a:prstGeom>
          <a:solidFill>
            <a:srgbClr val="2E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00000" y="1350000"/>
            <a:ext cx="22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长得远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0000" y="1750000"/>
            <a:ext cx="2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可维护可扩展底座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0000" y="2450000"/>
            <a:ext cx="1900000" cy="2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知识增量更新、模型可替换、模板可维护，站点与报告类型可扩展。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0000" y="5750000"/>
            <a:ext cx="114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366E"/>
                </a:solidFill>
                <a:latin typeface="微软雅黑"/>
                <a:ea typeface="微软雅黑"/>
              </a:rPr>
              <a:t>推动地面沉降监测业务由「信息化管理」进一步向「智能化服务」延伸，增强对城市安全运行与地质安全保障的支撑能力。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自定义版式_图片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1_图片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00" y="900000"/>
            <a:ext cx="2500000" cy="5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2000000"/>
            <a:ext cx="100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深度智算  ·  启承未来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750000"/>
            <a:ext cx="100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4E4F8"/>
                </a:solidFill>
                <a:latin typeface="微软雅黑"/>
                <a:ea typeface="微软雅黑"/>
              </a:rPr>
              <a:t>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0" y="3600000"/>
            <a:ext cx="80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北京深启科技有限公司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总部：合肥市中国科大国金院4号楼702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北京：北京市丰台区星火路1号院1805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网址：www.tsingdeep.com  /  www.deeprev.com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客服热线：010-83668052  /  18911883538</a:t>
            </a:r>
          </a:p>
        </p:txBody>
      </p:sp>
      <p:pic>
        <p:nvPicPr>
          <p:cNvPr id="8" name="Picture 7" descr="slide13_图片 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000" y="5450000"/>
            <a:ext cx="900000" cy="900000"/>
          </a:xfrm>
          <a:prstGeom prst="rect">
            <a:avLst/>
          </a:prstGeom>
        </p:spPr>
      </p:pic>
      <p:pic>
        <p:nvPicPr>
          <p:cNvPr id="9" name="Picture 8" descr="slide13_图片 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000" y="5450000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