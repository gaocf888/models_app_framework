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notesMasterIdLst>
    <p:notesMasterId r:id="rId18"/>
  </p:notesMasterIdLst>
  <p:sldIdLst>
    <p:sldId id="270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3" r:id="rId17"/>
  </p:sldIdLst>
  <p:sldSz cx="12192000" cy="6858000" type="screen4x3"/>
  <p:notesSz cx="6858000" cy="9144000"/>
  <p:custDataLst>
    <p:tags r:id="rId2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echuying" initials="k" lastIdx="1" clrIdx="0"/>
  <p:cmAuthor id="2" name="a" initials="a" lastIdx="0" clrIdx="1"/>
  <p:cmAuthor id="3" name="User" initials="U" lastIdx="0" clrIdx="2"/>
  <p:cmAuthor id="4" name="admin" initials="a" lastIdx="0" clrIdx="3"/>
  <p:cmAuthor id="5" name="未知用户2" initials="未知用户2" lastIdx="0" clrIdx="4"/>
  <p:cmAuthor id="6" name="wj" initials="w" lastIdx="0" clrIdx="5"/>
  <p:cmAuthor id="7" name="liang kaige" initials="lk" lastIdx="0" clrIdx="6"/>
  <p:cmAuthor id="8" name="office2437" initials="o" lastIdx="0" clrIdx="7"/>
  <p:cmAuthor id="9" name="陈玉霞" initials="陈玉霞" lastIdx="0" clrIdx="8"/>
  <p:cmAuthor id="10" name="Admin" initials="A" lastIdx="0" clrIdx="9"/>
  <p:cmAuthor id="11" name="wangdp" initials="wdp" lastIdx="0" clrIdx="10"/>
  <p:cmAuthor id="12" name="未知用户3" initials="未知用户3" lastIdx="0" clrIdx="11"/>
  <p:cmAuthor id="13" name="未知用户8" initials="未知用户8" lastIdx="0" clrIdx="12"/>
  <p:cmAuthor id="14" name="未知用户9" initials="未知用户9" lastIdx="0" clrIdx="13"/>
  <p:cmAuthor id="15" name="wulifang" initials="wlf" lastIdx="0" clrIdx="14"/>
  <p:cmAuthor id="16" name="彭润" initials="彭" lastIdx="0" clrIdx="15"/>
  <p:cmAuthor id="17" name="未知用户4" initials="未知用户4" lastIdx="0" clrIdx="16"/>
  <p:cmAuthor id="18" name="gt" initials="g" lastIdx="0" clrIdx="17"/>
  <p:cmAuthor id="19" name="未知用户5" initials="未知用户5" lastIdx="0" clrIdx="18"/>
  <p:cmAuthor id="20" name="未知用户15" initials="未知用户15" lastIdx="0" clrIdx="19"/>
  <p:cmAuthor id="21" name="Administrator" initials="A" lastIdx="0" clrIdx="20"/>
  <p:cmAuthor id="22" name="未知用户17" initials="未知用户17" lastIdx="0" clrIdx="21"/>
  <p:cmAuthor id="23" name="东方_b3dea543bad08e97" initials="authorId_278826930" lastIdx="0" clrIdx="22"/>
  <p:cmAuthor id="24" name="wangchao" initials="w" lastIdx="0" clrIdx="23"/>
  <p:cmAuthor id="25" name="未知用户18" initials="未知用户18" lastIdx="0" clrIdx="24"/>
  <p:cmAuthor id="26" name="未知用户19" initials="未知用户19" lastIdx="0" clrIdx="25"/>
  <p:cmAuthor id="27" name="未知用户20" initials="未知用户20" lastIdx="0" clrIdx="26"/>
  <p:cmAuthor id="28" name="未知用户21" initials="未知用户21" lastIdx="0" clrIdx="27"/>
  <p:cmAuthor id="29" name="未知用户22" initials="未知用户22" lastIdx="0" clrIdx="28"/>
  <p:cmAuthor id="30" name="未知用户23" initials="未知用户23" lastIdx="0" clrIdx="29"/>
  <p:cmAuthor id="31" name="未知用户24" initials="未知用户24" lastIdx="0" clrIdx="30"/>
  <p:cmAuthor id="32" name="未知用户25" initials="未知用户25" lastIdx="0" clrIdx="31"/>
  <p:cmAuthor id="33" name="未知用户26" initials="未知用户26" lastIdx="0" clrIdx="32"/>
  <p:cmAuthor id="34" name="未知用户27" initials="未知用户27" lastIdx="0" clrIdx="33"/>
  <p:cmAuthor id="35" name="未知用户28" initials="未知用户28" lastIdx="0" clrIdx="34"/>
  <p:cmAuthor id="36" name="未知用户6" initials="未知用户6" lastIdx="0" clrIdx="35"/>
  <p:cmAuthor id="37" name="XUWEI" initials="X" lastIdx="0" clrIdx="36"/>
  <p:cmAuthor id="38" name="仉 凯" initials="仉" lastIdx="0" clrIdx="37"/>
  <p:cmAuthor id="39" name="未知用户32" initials="未知用户32" lastIdx="0" clrIdx="38"/>
  <p:cmAuthor id="40" name="未知用户33" initials="未知用户33" lastIdx="0" clrIdx="39"/>
  <p:cmAuthor id="41" name="未知用户34" initials="未知用户34" lastIdx="0" clrIdx="40"/>
  <p:cmAuthor id="42" name="未知用户35" initials="未知用户35" lastIdx="0" clrIdx="41"/>
  <p:cmAuthor id="43" name="陈浩" initials="陈" lastIdx="0" clrIdx="42"/>
  <p:cmAuthor id="44" name="Weili.Lu" initials="W" lastIdx="0" clrIdx="43"/>
  <p:cmAuthor id="45" name="Willie 世彰 林" initials="W世林" lastIdx="0" clrIdx="44"/>
  <p:cmAuthor id="46" name="zining.xia(夏梓宁)" initials="z" lastIdx="0" clrIdx="45"/>
  <p:cmAuthor id="47" name="Mjf" initials="M" lastIdx="0" clrIdx="46"/>
  <p:cmAuthor id="48" name="未知用户93" initials="" lastIdx="0" clrIdx="47"/>
  <p:cmAuthor id="49" name="杨丽" initials="LY" lastIdx="0" clrIdx="48"/>
  <p:cmAuthor id="50" name="未知用户90" initials="" lastIdx="0" clrIdx="49"/>
  <p:cmAuthor id="51" name="Unicom" initials="U" lastIdx="0" clrIdx="50"/>
  <p:cmAuthor id="52" name="未知用户91" initials="" lastIdx="0" clrIdx="51"/>
  <p:cmAuthor id="53" name="范小双" initials="u" lastIdx="0" clrIdx="52"/>
  <p:cmAuthor id="54" name="未知用户92" initials="" lastIdx="0" clrIdx="53"/>
  <p:cmAuthor id="55" name="Tianyang Feng(联通集团信息化部（信息安全部）)" initials="TF" lastIdx="0" clrIdx="54"/>
  <p:cmAuthor id="56" name="未知用户74" initials="" lastIdx="0" clrIdx="55"/>
  <p:cmAuthor id="57" name="Iris YuanGao" initials="irgao" lastIdx="0" clrIdx="56"/>
  <p:cmAuthor id="58" name="未知用户75" initials="" lastIdx="0" clrIdx="57"/>
  <p:cmAuthor id="59" name="胡文慧" initials="胡" lastIdx="0" clrIdx="58"/>
  <p:cmAuthor id="60" name="未知用户76" initials="" lastIdx="0" clrIdx="59"/>
  <p:cmAuthor id="61" name="宁安亮" initials="N" lastIdx="0" clrIdx="60"/>
  <p:cmAuthor id="62" name="未知用户77" initials="" lastIdx="0" clrIdx="61"/>
  <p:cmAuthor id="63" name="未知用户78" initials="" lastIdx="0" clrIdx="62"/>
  <p:cmAuthor id="64" name="孙艺" initials="孙" lastIdx="0" clrIdx="63"/>
  <p:cmAuthor id="65" name="未知用户79" initials="" lastIdx="0" clrIdx="64"/>
  <p:cmAuthor id="66" name="BAIXX11" initials="W用" lastIdx="0" clrIdx="65"/>
  <p:cmAuthor id="67" name="未知用户80" initials="" lastIdx="0" clrIdx="66"/>
  <p:cmAuthor id="68" name="赵晨斌" initials="赵" lastIdx="0" clrIdx="67"/>
  <p:cmAuthor id="69" name="Harry xu" initials="" lastIdx="0" clrIdx="68"/>
  <p:cmAuthor id="70" name="shi jinuyu" initials="sj" lastIdx="0" clrIdx="69"/>
  <p:cmAuthor id="71" name="unilabs" initials="u" lastIdx="0" clrIdx="70"/>
  <p:cmAuthor id="72" name="李岩（IT）" initials="李" lastIdx="0" clrIdx="71"/>
  <p:cmAuthor id="73" name="未知用户111" initials="未" lastIdx="0" clrIdx="72"/>
  <p:cmAuthor id="74" name="13686" initials="1" lastIdx="0" clrIdx="73"/>
  <p:cmAuthor id="75" name="标注" initials="B" lastIdx="0" clrIdx="74"/>
  <p:cmAuthor id="76" name="周辉" initials="周" lastIdx="0" clrIdx="75"/>
  <p:cmAuthor id="77" name="ethel" initials="e" lastIdx="0" clrIdx="76"/>
  <p:cmAuthor id="78" name="ccb" initials="c" lastIdx="0" clrIdx="77"/>
  <p:cmAuthor id="79" name="zhouMa" initials="z" lastIdx="0" clrIdx="78"/>
  <p:cmAuthor id="80" name="sx_xuzx" initials="s" lastIdx="0" clrIdx="79"/>
  <p:cmAuthor id="81" name="陈驹洲" initials="陈" lastIdx="0" clrIdx="80"/>
  <p:cmAuthor id="82" name="tplife" initials="t" lastIdx="0" clrIdx="81"/>
  <p:cmAuthor id="83" name="10331183" initials="1" lastIdx="0" clrIdx="82"/>
  <p:cmAuthor id="84" name="孟 昕" initials="孟" lastIdx="0" clrIdx="83"/>
  <p:cmAuthor id="85" name="lenovo" initials="l" lastIdx="0" clrIdx="84"/>
  <p:cmAuthor id="86" name="Roet-Reinking, Nathalie" initials="R" lastIdx="0" clrIdx="85"/>
  <p:cmAuthor id="87" name="Redeker, Yolanda" initials="R" lastIdx="0" clrIdx="86"/>
  <p:cmAuthor id="88" name="Tseng, Melanie" initials="T" lastIdx="0" clrIdx="87"/>
  <p:cmAuthor id="89" name="杨素雯" initials="杨" lastIdx="0" clrIdx="88"/>
  <p:cmAuthor id="90" name="liutAO" initials="l" lastIdx="0" clrIdx="89"/>
  <p:cmAuthor id="91" name="Tao, Sherry Sitong" initials="T" lastIdx="0" clrIdx="90"/>
  <p:cmAuthor id="92" name="Xin Wang (IB)" initials="X" lastIdx="0" clrIdx="91"/>
  <p:cmAuthor id="93" name="hj" initials="h" lastIdx="0" clrIdx="92"/>
  <p:cmAuthor id="94" name="成洁" initials="成" lastIdx="0" clrIdx="93"/>
  <p:cmAuthor id="95" name="IKKI" initials="I" lastIdx="0" clrIdx="94"/>
  <p:cmAuthor id="96" name="於宝泉" initials="於" lastIdx="0" clrIdx="95"/>
  <p:cmAuthor id="97" name="王一哲" initials="wyz" lastIdx="0" clrIdx="96"/>
  <p:cmAuthor id="98" name="weijj52" initials="w" lastIdx="0" clrIdx="97"/>
  <p:cmAuthor id="99" name="Author" initials="A" lastIdx="0" clrIdx="98"/>
  <p:cmAuthor id="100" name="殷格非" initials="殷" lastIdx="0" clrIdx="99"/>
  <p:cmAuthor id="101" name="王凯10177225" initials="王凯10177225" lastIdx="0" clrIdx="100"/>
  <p:cmAuthor id="102" name="z r" initials="zr" lastIdx="0" clrIdx="101"/>
  <p:cmAuthor id="103" name="wangjiarui" initials="w" lastIdx="0" clrIdx="102"/>
  <p:cmAuthor id="104" name="8310" initials="8" lastIdx="0" clrIdx="103"/>
  <p:cmAuthor id="105" name="马媛" initials="马" lastIdx="0" clrIdx="104"/>
  <p:cmAuthor id="106" name="Aqf" initials="A" lastIdx="0" clrIdx="105"/>
  <p:cmAuthor id="107" name="徐芳" initials="徐" lastIdx="0" clrIdx="106"/>
  <p:cmAuthor id="108" name="许嘉珍" initials="u" lastIdx="0" clrIdx="107"/>
  <p:cmAuthor id="109" name="黄珂10009187" initials="黄珂10009187" lastIdx="0" clrIdx="108"/>
  <p:cmAuthor id="110" name="赵欣" initials="zx" lastIdx="0" clrIdx="109"/>
  <p:cmAuthor id="111" name="Charley" initials="C" lastIdx="0" clrIdx="110"/>
  <p:cmAuthor id="112" name="Cindy-NB" initials="C" lastIdx="0" clrIdx="111"/>
  <p:cmAuthor id="113" name="未知的使用者4" initials="未" lastIdx="0" clrIdx="112"/>
  <p:cmAuthor id="114" name="panyl25" initials="p" lastIdx="0" clrIdx="113"/>
  <p:cmAuthor id="115" name="刘凯铃" initials="刘" lastIdx="0" clrIdx="114"/>
  <p:cmAuthor id="116" name="guocc" initials="g" lastIdx="0" clrIdx="115"/>
  <p:cmAuthor id="117" name="未知的使用者1" initials="未" lastIdx="0" clrIdx="116"/>
  <p:cmAuthor id="118" name="未知的使用者2" initials="未" lastIdx="0" clrIdx="117"/>
  <p:cmAuthor id="119" name="未知的使用者7" initials="未" lastIdx="0" clrIdx="118"/>
  <p:cmAuthor id="120" name="zhangxc210" initials="z" lastIdx="0" clrIdx="119"/>
  <p:cmAuthor id="121" name="wyao8" initials="w" lastIdx="0" clrIdx="120"/>
  <p:cmAuthor id="122" name="未知的使用者21" initials="未" lastIdx="0" clrIdx="121"/>
  <p:cmAuthor id="123" name="MLOONG" initials="M" lastIdx="0" clrIdx="122"/>
  <p:cmAuthor id="124" name="沈霄雷" initials="沈" lastIdx="0" clrIdx="123"/>
  <p:cmAuthor id="125" name="lantj" initials="l" lastIdx="0" clrIdx="124"/>
  <p:cmAuthor id="126" name="张钰" initials="张" lastIdx="0" clrIdx="125"/>
  <p:cmAuthor id="127" name="zhangjj" initials="z" lastIdx="0" clrIdx="126"/>
  <p:cmAuthor id="128" name="郭 浩" initials="郭" lastIdx="0" clrIdx="127"/>
  <p:cmAuthor id="129" name="Shirley" initials="S" lastIdx="0" clrIdx="128"/>
  <p:cmAuthor id="130" name="unicom" initials="" lastIdx="0" clrIdx="129"/>
  <p:cmAuthor id="131" name="未知的使用者70" initials="" lastIdx="0" clrIdx="130"/>
  <p:cmAuthor id="132" name="席琛" initials="" lastIdx="0" clrIdx="131"/>
  <p:cmAuthor id="133" name="未知的使用者85" initials="" lastIdx="0" clrIdx="132"/>
  <p:cmAuthor id="134" name="wumeng" initials="w" lastIdx="0" clrIdx="133"/>
  <p:cmAuthor id="135" name="施普希（菜菜）" initials="施" lastIdx="0" clrIdx="134"/>
  <p:cmAuthor id="136" name="未知的使用者87" initials="" lastIdx="0" clrIdx="135"/>
  <p:cmAuthor id="137" name="yu 1" initials="y1" lastIdx="0" clrIdx="136"/>
  <p:cmAuthor id="138" name="Saku Uchikawa" initials="S" lastIdx="0" clrIdx="137"/>
  <p:cmAuthor id="139" name="李 嘉" initials="李" lastIdx="0" clrIdx="138"/>
  <p:cmAuthor id="140" name="未知的使用者90" initials="" lastIdx="0" clrIdx="139"/>
  <p:cmAuthor id="141" name="gus9@chinaunicom.cn" initials="g" lastIdx="0" clrIdx="140"/>
  <p:cmAuthor id="142" name="張秀娟" initials="張" lastIdx="0" clrIdx="141"/>
  <p:cmAuthor id="143" name="未知的使用者34" initials="未" lastIdx="0" clrIdx="142"/>
  <p:cmAuthor id="144" name="未知的使用者98" initials="" lastIdx="0" clrIdx="143"/>
  <p:cmAuthor id="145" name="CHRISYU" initials="" lastIdx="0" clrIdx="144"/>
  <p:cmAuthor id="146" name="未知的使用者113" initials="" lastIdx="0" clrIdx="145"/>
  <p:cmAuthor id="147" name="liucunri" initials="" lastIdx="0" clrIdx="146"/>
  <p:cmAuthor id="148" name="qihua-DCMS" initials="q" lastIdx="0" clrIdx="147"/>
  <p:cmAuthor id="149" name="Unknown User48" initials="" lastIdx="0" clrIdx="148"/>
  <p:cmAuthor id="150" name="未知用户82" initials="未知用户82" lastIdx="0" clrIdx="149"/>
  <p:cmAuthor id="151" name="未知用户83" initials="未知用户83" lastIdx="0" clrIdx="150"/>
  <p:cmAuthor id="152" name="未知用户84" initials="未知用户84" lastIdx="0" clrIdx="151"/>
  <p:cmAuthor id="153" name="未知用户137" initials="未知用户137" lastIdx="0" clrIdx="152"/>
  <p:cmAuthor id="154" name="未知用户138" initials="未知用户138" lastIdx="0" clrIdx="153"/>
  <p:cmAuthor id="155" name="作者" initials="A" lastIdx="0" clrIdx="154"/>
  <p:cmAuthor id="156" name="黄译萱(联通上海市上海市分公司)" initials="MSOffice" lastIdx="0" clrIdx="155"/>
  <p:cmAuthor id="157" name="邵丹(联通上海市上海市分公司)" initials="邵丹(联通上海市上海市分公司)" lastIdx="0" clrIdx="156"/>
  <p:cmAuthor id="158" name="Lina Hang(联通上海市上海市分公司)" initials="LH" lastIdx="0" clrIdx="157"/>
  <p:cmAuthor id="159" name="未知的使用者16" initials="未" lastIdx="0" clrIdx="158"/>
  <p:cmAuthor id="160" name="未知的使用者13" initials="未" lastIdx="0" clrIdx="159"/>
  <p:cmAuthor id="161" name="未知的使用者14" initials="未" lastIdx="0" clrIdx="160"/>
  <p:cmAuthor id="162" name="廖麗華" initials="廖" lastIdx="0" clrIdx="161"/>
  <p:cmAuthor id="163" name="未知的使用者12" initials="未" lastIdx="0" clrIdx="162"/>
  <p:cmAuthor id="164" name="未知用户129" initials="未知用户129" lastIdx="0" clrIdx="163"/>
  <p:cmAuthor id="165" name="唐可欣" initials="唐" lastIdx="0" clrIdx="164"/>
  <p:cmAuthor id="166" name="王鹏凯" initials="" lastIdx="0" clrIdx="165"/>
  <p:cmAuthor id="167" name="未知的使用者35" initials="未" lastIdx="0" clrIdx="166"/>
  <p:cmAuthor id="168" name="未知的使用者33" initials="未" lastIdx="0" clrIdx="167"/>
  <p:cmAuthor id="169" name="未知的使用者93" initials="" lastIdx="0" clrIdx="168"/>
  <p:cmAuthor id="170" name="LeeElva" initials="" lastIdx="0" clrIdx="169"/>
  <p:cmAuthor id="171" name="未知用户99" initials="" lastIdx="0" clrIdx="170"/>
  <p:cmAuthor id="172" name="未知的使用者115" initials="" lastIdx="0" clrIdx="171"/>
  <p:cmAuthor id="173" name="未知用户57" initials="" lastIdx="0" clrIdx="172"/>
  <p:cmAuthor id="174" name="lianghb" initials="" lastIdx="0" clrIdx="173"/>
  <p:cmAuthor id="175" name="Deanna Schuler (Bookey Consulting)" initials="" lastIdx="0" clrIdx="174"/>
  <p:cmAuthor id="176" name="未知的使用者57" initials="未" lastIdx="0" clrIdx="175"/>
  <p:cmAuthor id="177" name="未知用户102" initials="" lastIdx="0" clrIdx="176"/>
  <p:cmAuthor id="178" name="maxine" initials="" lastIdx="0" clrIdx="177"/>
  <p:cmAuthor id="179" name="未知的使用者121" initials="" lastIdx="0" clrIdx="178"/>
  <p:cmAuthor id="180" name="周元元" initials="" lastIdx="0" clrIdx="179"/>
  <p:cmAuthor id="181" name="未知的使用者27" initials="" lastIdx="0" clrIdx="180"/>
  <p:cmAuthor id="182" name="未知的使用者30" initials="" lastIdx="0" clrIdx="181"/>
  <p:cmAuthor id="183" name="未知的使用者53" initials="" lastIdx="0" clrIdx="182"/>
  <p:cmAuthor id="184" name="未知用户58" initials="" lastIdx="0" clrIdx="183"/>
  <p:cmAuthor id="185" name="未知的使用者25" initials="" lastIdx="0" clrIdx="184"/>
  <p:cmAuthor id="186" name="liupeng" initials="" lastIdx="0" clrIdx="185"/>
  <p:cmAuthor id="187" name="AbuSina" initials="" lastIdx="0" clrIdx="186"/>
  <p:cmAuthor id="188" name="hl sun" initials="" lastIdx="0" clrIdx="187"/>
  <p:cmAuthor id="189" name="未知的使用者94" initials="" lastIdx="0" clrIdx="188"/>
  <p:cmAuthor id="190" name="未知用户66" initials="" lastIdx="0" clrIdx="189"/>
  <p:cmAuthor id="191" name="周宏達JerryChou" initials="" lastIdx="0" clrIdx="190"/>
  <p:cmAuthor id="192" name="未知用户7" initials="" lastIdx="0" clrIdx="191"/>
  <p:cmAuthor id="193" name="未知的使用者56" initials="" lastIdx="0" clrIdx="192"/>
  <p:cmAuthor id="194" name="未知的使用者119" initials="" lastIdx="0" clrIdx="193"/>
  <p:cmAuthor id="195" name="未知用户59" initials="" lastIdx="0" clrIdx="194"/>
  <p:cmAuthor id="196" name="未知的使用者22" initials="" lastIdx="0" clrIdx="195"/>
  <p:cmAuthor id="197" name="未知的使用者103" initials="" lastIdx="0" clrIdx="196"/>
  <p:cmAuthor id="198" name="Wenwen" initials="" lastIdx="0" clrIdx="197"/>
  <p:cmAuthor id="199" name="未知的使用者117" initials="" lastIdx="0" clrIdx="198"/>
  <p:cmAuthor id="200" name="未知的使用者28" initials="" lastIdx="0" clrIdx="199"/>
  <p:cmAuthor id="201" name="未知用户67" initials="" lastIdx="0" clrIdx="200"/>
  <p:cmAuthor id="202" name="未知用户114" initials="" lastIdx="0" clrIdx="201"/>
  <p:cmAuthor id="203" name="未知的使用者67" initials="" lastIdx="0" clrIdx="202"/>
  <p:cmAuthor id="204" name="未知的使用者46" initials="" lastIdx="0" clrIdx="203"/>
  <p:cmAuthor id="205" name="未知的使用者26" initials="" lastIdx="0" clrIdx="204"/>
  <p:cmAuthor id="206" name="未知的使用者43" initials="" lastIdx="0" clrIdx="205"/>
  <p:cmAuthor id="207" name="未知的使用者9" initials="" lastIdx="0" clrIdx="206"/>
  <p:cmAuthor id="208" name="未知用户62" initials="" lastIdx="0" clrIdx="207"/>
  <p:cmAuthor id="209" name="yuanzh" initials="" lastIdx="0" clrIdx="208"/>
  <p:cmAuthor id="210" name="不明使用者57" initials="" lastIdx="0" clrIdx="209"/>
  <p:cmAuthor id="211" name="未知用户108" initials="" lastIdx="0" clrIdx="210"/>
  <p:cmAuthor id="212" name="未知的使用者110" initials="" lastIdx="0" clrIdx="211"/>
  <p:cmAuthor id="213" name="linyd" initials="" lastIdx="0" clrIdx="212"/>
  <p:cmAuthor id="214" name="未知的使用者31" initials="" lastIdx="0" clrIdx="213"/>
  <p:cmAuthor id="215" name="未知用户81" initials="" lastIdx="0" clrIdx="214"/>
  <p:cmAuthor id="216" name="未知用户115" initials="" lastIdx="0" clrIdx="215"/>
  <p:cmAuthor id="217" name="未知的使用者68" initials="" lastIdx="0" clrIdx="216"/>
  <p:cmAuthor id="218" name="mm" initials="" lastIdx="0" clrIdx="217"/>
  <p:cmAuthor id="219" name="朱晓瑜" initials="" lastIdx="0" clrIdx="218"/>
  <p:cmAuthor id="220" name="不明使用者20" initials="" lastIdx="0" clrIdx="219"/>
  <p:cmAuthor id="221" name="云成龙_JVVjiM7N" initials="authorId_318141806" lastIdx="0" clrIdx="220"/>
  <p:cmAuthor id="222" name="潘 晨" initials="潘" lastIdx="0" clrIdx="221"/>
  <p:cmAuthor id="223" name="song manyi" initials="sm" lastIdx="0" clrIdx="222"/>
  <p:cmAuthor id="224" name="梁鹏" initials="u" lastIdx="0" clrIdx="223"/>
  <p:cmAuthor id="225" name="未知的使用者55" initials="" lastIdx="0" clrIdx="224"/>
  <p:cmAuthor id="226" name="范 斌" initials="范" lastIdx="0" clrIdx="225"/>
  <p:cmAuthor id="227" name="未知的使用者111" initials="" lastIdx="0" clrIdx="226"/>
  <p:cmAuthor id="228" name="毕邺" initials="党委办公室" lastIdx="0" clrIdx="227"/>
  <p:cmAuthor id="229" name="未知的使用者50" initials="" lastIdx="0" clrIdx="228"/>
  <p:cmAuthor id="230" name="jiaru tiger" initials="jt" lastIdx="0" clrIdx="229"/>
  <p:cmAuthor id="231" name="未知的使用者11" initials="" lastIdx="0" clrIdx="230"/>
  <p:cmAuthor id="232" name="李敏" initials="李" lastIdx="0" clrIdx="231"/>
  <p:cmAuthor id="233" name="未知用户47" initials="" lastIdx="0" clrIdx="232"/>
  <p:cmAuthor id="234" name="小延魔法师" initials="小" lastIdx="0" clrIdx="233"/>
  <p:cmAuthor id="235" name="未知用户106" initials="未" lastIdx="0" clrIdx="234"/>
  <p:cmAuthor id="236" name="刘春杰10244342" initials="刘春杰10244342" lastIdx="0" clrIdx="235"/>
  <p:cmAuthor id="237" name="未知用户116" initials="" lastIdx="0" clrIdx="236"/>
  <p:cmAuthor id="238" name="li hui" initials="lh" lastIdx="0" clrIdx="237"/>
  <p:cmAuthor id="239" name="未知的使用者150" initials="未" lastIdx="0" clrIdx="238"/>
  <p:cmAuthor id="240" name="wangyishi (A)" initials="w(" lastIdx="0" clrIdx="239"/>
  <p:cmAuthor id="241" name="未知的使用者69" initials="" lastIdx="0" clrIdx="240"/>
  <p:cmAuthor id="242" name="佳慧 戴" initials="佳戴" lastIdx="0" clrIdx="241"/>
  <p:cmAuthor id="243" name="未知的使用者112" initials="" lastIdx="0" clrIdx="242"/>
  <p:cmAuthor id="244" name="Kevin Hu" initials="" lastIdx="0" clrIdx="243"/>
  <p:cmAuthor id="245" name="未知的使用者38" initials="" lastIdx="0" clrIdx="244"/>
  <p:cmAuthor id="246" name="未知的使用者8" initials="" lastIdx="0" clrIdx="245"/>
  <p:cmAuthor id="247" name="不明使用者56" initials="" lastIdx="0" clrIdx="246"/>
  <p:cmAuthor id="248" name="P00035_jeremy" initials="" lastIdx="0" clrIdx="247"/>
  <p:cmAuthor id="249" name="Unknown User7" initials="" lastIdx="0" clrIdx="248"/>
  <p:cmAuthor id="250" name="muzi wei" initials="" lastIdx="0" clrIdx="249"/>
  <p:cmAuthor id="251" name="曾蓓/贝贝" initials="曾" lastIdx="0" clrIdx="250"/>
  <p:cmAuthor id="252" name="未知的使用者41" initials="" lastIdx="0" clrIdx="251"/>
  <p:cmAuthor id="253" name="djj" initials="" lastIdx="0" clrIdx="252"/>
  <p:cmAuthor id="254" name="未知用户117" initials="" lastIdx="0" clrIdx="253"/>
  <p:cmAuthor id="255" name="未知用户13" initials="" lastIdx="0" clrIdx="254"/>
  <p:cmAuthor id="256" name="不明使用者21" initials="" lastIdx="0" clrIdx="255"/>
  <p:cmAuthor id="257" name="YUMINGNJ" initials="" lastIdx="0" clrIdx="256"/>
  <p:cmAuthor id="258" name="未知的使用者52" initials="" lastIdx="0" clrIdx="257"/>
  <p:cmAuthor id="259" name="未知用户109" initials="" lastIdx="0" clrIdx="258"/>
  <p:cmAuthor id="260" name="Unknown User117" initials="U" lastIdx="0" clrIdx="259"/>
  <p:cmAuthor id="261" name="thomas" initials="" lastIdx="0" clrIdx="260"/>
  <p:cmAuthor id="262" name="未知的使用者3" initials="" lastIdx="0" clrIdx="261"/>
  <p:cmAuthor id="263" name="未知用户14" initials="" lastIdx="0" clrIdx="262"/>
  <p:cmAuthor id="264" name="Unknown User65" initials="U" lastIdx="0" clrIdx="263"/>
  <p:cmAuthor id="265" name="未知用户98" initials="" lastIdx="0" clrIdx="264"/>
  <p:cmAuthor id="266" name="未知用户61" initials="" lastIdx="0" clrIdx="265"/>
  <p:cmAuthor id="267" name="Jason Wang" initials="" lastIdx="0" clrIdx="266"/>
  <p:cmAuthor id="268" name="不明使用者18" initials="" lastIdx="0" clrIdx="267"/>
  <p:cmAuthor id="269" name="未知的使用者72" initials="" lastIdx="0" clrIdx="268"/>
  <p:cmAuthor id="270" name="未知的使用者48" initials="" lastIdx="0" clrIdx="269"/>
  <p:cmAuthor id="271" name="未知的使用者104" initials="" lastIdx="0" clrIdx="270"/>
  <p:cmAuthor id="272" name="未知用户60" initials="" lastIdx="0" clrIdx="271"/>
  <p:cmAuthor id="273" name="未知的使用者39" initials="未" lastIdx="0" clrIdx="272"/>
  <p:cmAuthor id="274" name="Shawna Strickland" initials="" lastIdx="0" clrIdx="273"/>
  <p:cmAuthor id="275" name="未知的使用者36" initials="" lastIdx="0" clrIdx="274"/>
  <p:cmAuthor id="276" name="Daniel Wuu" initials="" lastIdx="0" clrIdx="275"/>
  <p:cmAuthor id="277" name="未知用户56" initials="" lastIdx="0" clrIdx="276"/>
  <p:cmAuthor id="278" name="仇怿俊" initials="仇" lastIdx="0" clrIdx="277"/>
  <p:cmAuthor id="279" name="Ashley Eberenz" initials="" lastIdx="0" clrIdx="278"/>
  <p:cmAuthor id="280" name="不明使用者19" initials="" lastIdx="0" clrIdx="279"/>
  <p:cmAuthor id="281" name="qiantong" initials="" lastIdx="0" clrIdx="280"/>
  <p:cmAuthor id="282" name="未知的使用者74" initials="" lastIdx="0" clrIdx="281"/>
  <p:cmAuthor id="283" name="未知的使用者23" initials="" lastIdx="0" clrIdx="282"/>
  <p:cmAuthor id="284" name="116304" initials="" lastIdx="0" clrIdx="283"/>
  <p:cmAuthor id="285" name="未知用户31" initials="未" lastIdx="0" clrIdx="284"/>
  <p:cmAuthor id="286" name="R affer" initials="" lastIdx="0" clrIdx="285"/>
  <p:cmAuthor id="287" name="未知用户55" initials="" lastIdx="0" clrIdx="286"/>
  <p:cmAuthor id="288" name="未知的使用者95" initials="" lastIdx="0" clrIdx="287"/>
  <p:cmAuthor id="289" name="未知的使用者32" initials="" lastIdx="0" clrIdx="288"/>
  <p:cmAuthor id="290" name="未知的使用者49" initials="" lastIdx="0" clrIdx="289"/>
  <p:cmAuthor id="291" name="Unknown User26" initials="U" lastIdx="0" clrIdx="290"/>
  <p:cmAuthor id="292" name="yuexuejun" initials="" lastIdx="0" clrIdx="291"/>
  <p:cmAuthor id="293" name="未知的使用者71" initials="" lastIdx="0" clrIdx="292"/>
  <p:cmAuthor id="294" name="未知的使用者105" initials="" lastIdx="0" clrIdx="293"/>
  <p:cmAuthor id="295" name="Unknown User70" initials="" lastIdx="0" clrIdx="294"/>
  <p:cmAuthor id="296" name="clinchen" initials="" lastIdx="0" clrIdx="295"/>
  <p:cmAuthor id="297" name="hanjuncompany" initials="" lastIdx="0" clrIdx="296"/>
  <p:cmAuthor id="298" name="kathy chen" initials="" lastIdx="0" clrIdx="297"/>
  <p:cmAuthor id="299" name="黄晓平" initials="黄" lastIdx="0" clrIdx="298"/>
  <p:cmAuthor id="300" name="未知的使用者63" initials="" lastIdx="0" clrIdx="299"/>
  <p:cmAuthor id="301" name="徐琳00159163" initials="徐琳00159163" lastIdx="0" clrIdx="300"/>
  <p:cmAuthor id="302" name="未知的使用者64" initials="" lastIdx="0" clrIdx="301"/>
  <p:cmAuthor id="303" name="未知的使用者47" initials="" lastIdx="0" clrIdx="302"/>
  <p:cmAuthor id="304" name="未知的使用者60" initials="" lastIdx="0" clrIdx="303"/>
  <p:cmAuthor id="305" name="未知的使用者59" initials="" lastIdx="0" clrIdx="304"/>
  <p:cmAuthor id="306" name="未知的使用者54" initials="" lastIdx="0" clrIdx="305"/>
  <p:cmAuthor id="307" name="未知的使用者66" initials="" lastIdx="0" clrIdx="306"/>
  <p:cmAuthor id="308" name="未知的使用者65" initials="" lastIdx="0" clrIdx="307"/>
  <p:cmAuthor id="309" name="未知的使用者106" initials="" lastIdx="0" clrIdx="308"/>
  <p:cmAuthor id="310" name="未知的使用者107" initials="" lastIdx="0" clrIdx="309"/>
  <p:cmAuthor id="311" name="未知的使用者108" initials="" lastIdx="0" clrIdx="310"/>
  <p:cmAuthor id="312" name="未知的使用者86" initials="" lastIdx="0" clrIdx="311"/>
  <p:cmAuthor id="313" name="未知的使用者116" initials="" lastIdx="0" clrIdx="312"/>
  <p:cmAuthor id="314" name="未知的使用者44" initials="" lastIdx="0" clrIdx="313"/>
  <p:cmAuthor id="315" name="未知的使用者37" initials="" lastIdx="0" clrIdx="314"/>
  <p:cmAuthor id="316" name="未知的使用者126" initials="" lastIdx="0" clrIdx="315"/>
  <p:cmAuthor id="317" name="未知的使用者127" initials="" lastIdx="0" clrIdx="316"/>
  <p:cmAuthor id="318" name="未知的使用者128" initials="" lastIdx="0" clrIdx="317"/>
  <p:cmAuthor id="319" name="未知的使用者124" initials="" lastIdx="0" clrIdx="318"/>
  <p:cmAuthor id="320" name="未知的使用者125" initials="" lastIdx="0" clrIdx="319"/>
  <p:cmAuthor id="321" name="Sara Chen" initials="" lastIdx="0" clrIdx="320"/>
  <p:cmAuthor id="322" name="huang gerrard" initials="" lastIdx="0" clrIdx="321"/>
  <p:cmAuthor id="323" name="未知用户170" initials="" lastIdx="0" clrIdx="322"/>
  <p:cmAuthor id="324" name="未知用户171" initials="" lastIdx="0" clrIdx="323"/>
  <p:cmAuthor id="325" name="未知用户172" initials="" lastIdx="0" clrIdx="324"/>
  <p:cmAuthor id="326" name="未知用户173" initials="" lastIdx="0" clrIdx="325"/>
  <p:cmAuthor id="327" name="未知用户149" initials="" lastIdx="0" clrIdx="326"/>
  <p:cmAuthor id="328" name="未知用户150" initials="" lastIdx="0" clrIdx="327"/>
  <p:cmAuthor id="329" name="未知用户151" initials="" lastIdx="0" clrIdx="328"/>
  <p:cmAuthor id="330" name="未知用户152" initials="" lastIdx="0" clrIdx="329"/>
  <p:cmAuthor id="331" name="未知用户153" initials="" lastIdx="0" clrIdx="330"/>
  <p:cmAuthor id="332" name="未知用户154" initials="" lastIdx="0" clrIdx="331"/>
  <p:cmAuthor id="333" name="未知用户155" initials="" lastIdx="0" clrIdx="332"/>
  <p:cmAuthor id="334" name="未知用户41" initials="" lastIdx="0" clrIdx="333"/>
  <p:cmAuthor id="335" name="未知用户44" initials="" lastIdx="0" clrIdx="334"/>
  <p:cmAuthor id="336" name="未知用户45" initials="" lastIdx="0" clrIdx="335"/>
  <p:cmAuthor id="337" name="未知用户156" initials="" lastIdx="0" clrIdx="336"/>
  <p:cmAuthor id="338" name="未知用户64" initials="" lastIdx="0" clrIdx="337"/>
  <p:cmAuthor id="339" name="未知用户65" initials="" lastIdx="0" clrIdx="338"/>
  <p:cmAuthor id="340" name="未知用户68" initials="" lastIdx="0" clrIdx="339"/>
  <p:cmAuthor id="341" name="未知用户69" initials="" lastIdx="0" clrIdx="340"/>
  <p:cmAuthor id="342" name="未知用户70" initials="" lastIdx="0" clrIdx="341"/>
  <p:cmAuthor id="343" name="未知用户71" initials="" lastIdx="0" clrIdx="342"/>
  <p:cmAuthor id="344" name="未知用户72" initials="" lastIdx="0" clrIdx="343"/>
  <p:cmAuthor id="345" name="未知用户73" initials="" lastIdx="0" clrIdx="344"/>
  <p:cmAuthor id="346" name="未知用户49" initials="" lastIdx="0" clrIdx="345"/>
  <p:cmAuthor id="347" name="未知用户50" initials="" lastIdx="0" clrIdx="346"/>
  <p:cmAuthor id="348" name="未知用户52" initials="" lastIdx="0" clrIdx="347"/>
  <p:cmAuthor id="349" name="MA15" initials="" lastIdx="0" clrIdx="348"/>
  <p:cmAuthor id="350" name="未知用户53" initials="" lastIdx="0" clrIdx="349"/>
  <p:cmAuthor id="351" name="未知用户96" initials="" lastIdx="0" clrIdx="350"/>
  <p:cmAuthor id="352" name="未知用户48" initials="" lastIdx="0" clrIdx="351"/>
  <p:cmAuthor id="353" name="未知用户97" initials="" lastIdx="0" clrIdx="352"/>
  <p:cmAuthor id="354" name="未知用户40" initials="" lastIdx="0" clrIdx="353"/>
  <p:cmAuthor id="355" name="未知用户43" initials="" lastIdx="0" clrIdx="354"/>
  <p:cmAuthor id="356" name="未知用户100" initials="" lastIdx="0" clrIdx="355"/>
  <p:cmAuthor id="357" name="未知用户101" initials="" lastIdx="0" clrIdx="356"/>
  <p:cmAuthor id="358" name="韩雨" initials="韩" lastIdx="0" clrIdx="357"/>
  <p:cmAuthor id="359" name="未知用户29" initials="" lastIdx="0" clrIdx="358"/>
  <p:cmAuthor id="360" name="未知用户42" initials="" lastIdx="0" clrIdx="359"/>
  <p:cmAuthor id="361" name="未知的使用者109" initials="" lastIdx="0" clrIdx="360"/>
  <p:cmAuthor id="362" name="未知的使用者122" initials="" lastIdx="0" clrIdx="361"/>
  <p:cmAuthor id="363" name="未知的使用者123" initials="" lastIdx="0" clrIdx="362"/>
  <p:cmAuthor id="364" name="Loglu-HOME" initials="L" lastIdx="0" clrIdx="363"/>
  <p:cmAuthor id="365" name="王剑秋" initials="7" lastIdx="0" clrIdx="364"/>
  <p:cmAuthor id="366" name="kingsoft" initials="k" lastIdx="0" clrIdx="365"/>
  <p:cmAuthor id="367" name="server" initials="s" lastIdx="0" clrIdx="366"/>
  <p:cmAuthor id="368" name="polo" initials="p" lastIdx="0" clrIdx="367"/>
  <p:cmAuthor id="369" name="miche" initials="m" lastIdx="0" clrIdx="368"/>
  <p:cmAuthor id="370" name="博洋" initials="博洋" lastIdx="0" clrIdx="36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7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3" Type="http://schemas.openxmlformats.org/officeDocument/2006/relationships/tags" Target="tags/tag27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7" Type="http://schemas.openxmlformats.org/officeDocument/2006/relationships/image" Target="../media/image3.svg"/><Relationship Id="rId16" Type="http://schemas.openxmlformats.org/officeDocument/2006/relationships/image" Target="../media/image2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图片 61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/>
          <a:srcRect/>
          <a:stretch>
            <a:fillRect/>
          </a:stretch>
        </p:blipFill>
        <p:spPr>
          <a:xfrm>
            <a:off x="15240" y="0"/>
            <a:ext cx="12176760" cy="6840220"/>
          </a:xfrm>
          <a:prstGeom prst="rect">
            <a:avLst/>
          </a:prstGeom>
        </p:spPr>
      </p:pic>
      <p:sp>
        <p:nvSpPr>
          <p:cNvPr id="40" name="矩形 39"/>
          <p:cNvSpPr/>
          <p:nvPr userDrawn="1">
            <p:custDataLst>
              <p:tags r:id="rId4"/>
            </p:custDataLst>
          </p:nvPr>
        </p:nvSpPr>
        <p:spPr>
          <a:xfrm>
            <a:off x="15240" y="0"/>
            <a:ext cx="7313295" cy="6858000"/>
          </a:xfrm>
          <a:prstGeom prst="rect">
            <a:avLst/>
          </a:prstGeom>
          <a:gradFill>
            <a:gsLst>
              <a:gs pos="0">
                <a:srgbClr val="051321"/>
              </a:gs>
              <a:gs pos="100000">
                <a:srgbClr val="05132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任意多边形 45"/>
          <p:cNvSpPr/>
          <p:nvPr userDrawn="1">
            <p:custDataLst>
              <p:tags r:id="rId5"/>
            </p:custDataLst>
          </p:nvPr>
        </p:nvSpPr>
        <p:spPr>
          <a:xfrm>
            <a:off x="838200" y="1369060"/>
            <a:ext cx="1044000" cy="72000"/>
          </a:xfrm>
          <a:custGeom>
            <a:avLst/>
            <a:gdLst>
              <a:gd name="adj" fmla="val 25000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>
              <a:cxn ang="3">
                <a:pos x="hc" y="y2"/>
              </a:cxn>
              <a:cxn ang="3">
                <a:pos x="x4" y="t"/>
              </a:cxn>
              <a:cxn ang="0">
                <a:pos x="x6" y="vc"/>
              </a:cxn>
              <a:cxn ang="cd4">
                <a:pos x="x3" y="b"/>
              </a:cxn>
              <a:cxn ang="cd4">
                <a:pos x="hc" y="y1"/>
              </a:cxn>
              <a:cxn ang="cd2">
                <a:pos x="x1" y="vc"/>
              </a:cxn>
            </a:cxnLst>
            <a:rect l="l" t="t" r="r" b="b"/>
            <a:pathLst>
              <a:path w="1430" h="97">
                <a:moveTo>
                  <a:pt x="0" y="97"/>
                </a:moveTo>
                <a:lnTo>
                  <a:pt x="24" y="0"/>
                </a:lnTo>
                <a:lnTo>
                  <a:pt x="101" y="0"/>
                </a:lnTo>
                <a:lnTo>
                  <a:pt x="77" y="97"/>
                </a:lnTo>
                <a:lnTo>
                  <a:pt x="0" y="97"/>
                </a:lnTo>
                <a:close/>
                <a:moveTo>
                  <a:pt x="133" y="97"/>
                </a:moveTo>
                <a:lnTo>
                  <a:pt x="157" y="0"/>
                </a:lnTo>
                <a:lnTo>
                  <a:pt x="234" y="0"/>
                </a:lnTo>
                <a:lnTo>
                  <a:pt x="210" y="97"/>
                </a:lnTo>
                <a:lnTo>
                  <a:pt x="133" y="97"/>
                </a:lnTo>
                <a:close/>
                <a:moveTo>
                  <a:pt x="266" y="97"/>
                </a:moveTo>
                <a:lnTo>
                  <a:pt x="290" y="0"/>
                </a:lnTo>
                <a:lnTo>
                  <a:pt x="367" y="0"/>
                </a:lnTo>
                <a:lnTo>
                  <a:pt x="343" y="97"/>
                </a:lnTo>
                <a:lnTo>
                  <a:pt x="266" y="97"/>
                </a:lnTo>
                <a:close/>
                <a:moveTo>
                  <a:pt x="399" y="97"/>
                </a:moveTo>
                <a:lnTo>
                  <a:pt x="423" y="0"/>
                </a:lnTo>
                <a:lnTo>
                  <a:pt x="500" y="0"/>
                </a:lnTo>
                <a:lnTo>
                  <a:pt x="476" y="97"/>
                </a:lnTo>
                <a:lnTo>
                  <a:pt x="399" y="97"/>
                </a:lnTo>
                <a:close/>
                <a:moveTo>
                  <a:pt x="532" y="97"/>
                </a:moveTo>
                <a:lnTo>
                  <a:pt x="556" y="0"/>
                </a:lnTo>
                <a:lnTo>
                  <a:pt x="633" y="0"/>
                </a:lnTo>
                <a:lnTo>
                  <a:pt x="609" y="97"/>
                </a:lnTo>
                <a:lnTo>
                  <a:pt x="532" y="97"/>
                </a:lnTo>
                <a:close/>
                <a:moveTo>
                  <a:pt x="664" y="97"/>
                </a:moveTo>
                <a:lnTo>
                  <a:pt x="688" y="0"/>
                </a:lnTo>
                <a:lnTo>
                  <a:pt x="765" y="0"/>
                </a:lnTo>
                <a:lnTo>
                  <a:pt x="741" y="97"/>
                </a:lnTo>
                <a:lnTo>
                  <a:pt x="664" y="97"/>
                </a:lnTo>
                <a:close/>
                <a:moveTo>
                  <a:pt x="797" y="97"/>
                </a:moveTo>
                <a:lnTo>
                  <a:pt x="821" y="0"/>
                </a:lnTo>
                <a:lnTo>
                  <a:pt x="898" y="0"/>
                </a:lnTo>
                <a:lnTo>
                  <a:pt x="874" y="97"/>
                </a:lnTo>
                <a:lnTo>
                  <a:pt x="797" y="97"/>
                </a:lnTo>
                <a:close/>
                <a:moveTo>
                  <a:pt x="930" y="97"/>
                </a:moveTo>
                <a:lnTo>
                  <a:pt x="954" y="0"/>
                </a:lnTo>
                <a:lnTo>
                  <a:pt x="1031" y="0"/>
                </a:lnTo>
                <a:lnTo>
                  <a:pt x="1007" y="97"/>
                </a:lnTo>
                <a:lnTo>
                  <a:pt x="930" y="97"/>
                </a:lnTo>
                <a:close/>
                <a:moveTo>
                  <a:pt x="1063" y="97"/>
                </a:moveTo>
                <a:lnTo>
                  <a:pt x="1087" y="0"/>
                </a:lnTo>
                <a:lnTo>
                  <a:pt x="1164" y="0"/>
                </a:lnTo>
                <a:lnTo>
                  <a:pt x="1140" y="97"/>
                </a:lnTo>
                <a:lnTo>
                  <a:pt x="1063" y="97"/>
                </a:lnTo>
                <a:close/>
                <a:moveTo>
                  <a:pt x="1196" y="97"/>
                </a:moveTo>
                <a:lnTo>
                  <a:pt x="1220" y="0"/>
                </a:lnTo>
                <a:lnTo>
                  <a:pt x="1297" y="0"/>
                </a:lnTo>
                <a:lnTo>
                  <a:pt x="1273" y="97"/>
                </a:lnTo>
                <a:lnTo>
                  <a:pt x="1196" y="97"/>
                </a:lnTo>
                <a:close/>
                <a:moveTo>
                  <a:pt x="1329" y="97"/>
                </a:moveTo>
                <a:lnTo>
                  <a:pt x="1353" y="0"/>
                </a:lnTo>
                <a:lnTo>
                  <a:pt x="1430" y="0"/>
                </a:lnTo>
                <a:lnTo>
                  <a:pt x="1406" y="97"/>
                </a:lnTo>
                <a:lnTo>
                  <a:pt x="1329" y="97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rgbClr val="FFFFFF"/>
              </a:solidFill>
              <a:latin typeface="+mn-ea"/>
              <a:sym typeface="MiSans Normal" panose="00000500000000000000" charset="-122"/>
            </a:endParaRPr>
          </a:p>
        </p:txBody>
      </p:sp>
      <p:sp>
        <p:nvSpPr>
          <p:cNvPr id="16" name="矩形 15"/>
          <p:cNvSpPr/>
          <p:nvPr userDrawn="1">
            <p:custDataLst>
              <p:tags r:id="rId6"/>
            </p:custDataLst>
          </p:nvPr>
        </p:nvSpPr>
        <p:spPr>
          <a:xfrm>
            <a:off x="-635" y="5415280"/>
            <a:ext cx="12192635" cy="1442720"/>
          </a:xfrm>
          <a:prstGeom prst="rect">
            <a:avLst/>
          </a:prstGeom>
          <a:gradFill>
            <a:gsLst>
              <a:gs pos="16000">
                <a:schemeClr val="accent1"/>
              </a:gs>
              <a:gs pos="100000">
                <a:schemeClr val="accent2">
                  <a:lumMod val="65000"/>
                  <a:lumOff val="3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任意多边形: 形状 11"/>
          <p:cNvSpPr/>
          <p:nvPr userDrawn="1">
            <p:custDataLst>
              <p:tags r:id="rId7"/>
            </p:custDataLst>
          </p:nvPr>
        </p:nvSpPr>
        <p:spPr>
          <a:xfrm>
            <a:off x="642620" y="5114925"/>
            <a:ext cx="1036955" cy="307975"/>
          </a:xfrm>
          <a:custGeom>
            <a:avLst/>
            <a:gdLst>
              <a:gd name="connsiteX0" fmla="*/ 6104525 w 12192000"/>
              <a:gd name="connsiteY0" fmla="*/ 0 h 1862910"/>
              <a:gd name="connsiteX1" fmla="*/ 6405516 w 12192000"/>
              <a:gd name="connsiteY1" fmla="*/ 157480 h 1862910"/>
              <a:gd name="connsiteX2" fmla="*/ 6801756 w 12192000"/>
              <a:gd name="connsiteY2" fmla="*/ 358140 h 1862910"/>
              <a:gd name="connsiteX3" fmla="*/ 7877871 w 12192000"/>
              <a:gd name="connsiteY3" fmla="*/ 358140 h 1862910"/>
              <a:gd name="connsiteX4" fmla="*/ 12192000 w 12192000"/>
              <a:gd name="connsiteY4" fmla="*/ 358140 h 1862910"/>
              <a:gd name="connsiteX5" fmla="*/ 12192000 w 12192000"/>
              <a:gd name="connsiteY5" fmla="*/ 1862910 h 1862910"/>
              <a:gd name="connsiteX6" fmla="*/ 0 w 12192000"/>
              <a:gd name="connsiteY6" fmla="*/ 1862910 h 1862910"/>
              <a:gd name="connsiteX7" fmla="*/ 0 w 12192000"/>
              <a:gd name="connsiteY7" fmla="*/ 358140 h 1862910"/>
              <a:gd name="connsiteX8" fmla="*/ 2547257 w 12192000"/>
              <a:gd name="connsiteY8" fmla="*/ 358140 h 1862910"/>
              <a:gd name="connsiteX9" fmla="*/ 5407296 w 12192000"/>
              <a:gd name="connsiteY9" fmla="*/ 358140 h 1862910"/>
              <a:gd name="connsiteX10" fmla="*/ 5803536 w 12192000"/>
              <a:gd name="connsiteY10" fmla="*/ 157480 h 1862910"/>
              <a:gd name="connsiteX11" fmla="*/ 6104525 w 12192000"/>
              <a:gd name="connsiteY11" fmla="*/ 0 h 1862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645" h="786">
                <a:moveTo>
                  <a:pt x="1323" y="0"/>
                </a:moveTo>
                <a:cubicBezTo>
                  <a:pt x="1608" y="0"/>
                  <a:pt x="1860" y="142"/>
                  <a:pt x="2011" y="360"/>
                </a:cubicBezTo>
                <a:cubicBezTo>
                  <a:pt x="2157" y="570"/>
                  <a:pt x="2374" y="715"/>
                  <a:pt x="2619" y="779"/>
                </a:cubicBezTo>
                <a:lnTo>
                  <a:pt x="2645" y="786"/>
                </a:lnTo>
                <a:lnTo>
                  <a:pt x="0" y="786"/>
                </a:lnTo>
                <a:lnTo>
                  <a:pt x="26" y="779"/>
                </a:lnTo>
                <a:cubicBezTo>
                  <a:pt x="270" y="715"/>
                  <a:pt x="488" y="570"/>
                  <a:pt x="636" y="360"/>
                </a:cubicBezTo>
                <a:cubicBezTo>
                  <a:pt x="787" y="142"/>
                  <a:pt x="1039" y="0"/>
                  <a:pt x="13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椭圆 8"/>
          <p:cNvSpPr>
            <a:spLocks noChangeAspect="1"/>
          </p:cNvSpPr>
          <p:nvPr userDrawn="1">
            <p:custDataLst>
              <p:tags r:id="rId8"/>
            </p:custDataLst>
          </p:nvPr>
        </p:nvSpPr>
        <p:spPr>
          <a:xfrm>
            <a:off x="976630" y="5263515"/>
            <a:ext cx="354330" cy="35433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127000" dir="2700000" algn="tl" rotWithShape="0">
              <a:srgbClr val="080808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等腰三角形 20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rot="10800000">
            <a:off x="1105535" y="5407660"/>
            <a:ext cx="96520" cy="66040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0"/>
            </p:custDataLst>
          </p:nvPr>
        </p:nvSpPr>
        <p:spPr>
          <a:xfrm>
            <a:off x="838200" y="1528445"/>
            <a:ext cx="5570220" cy="199453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600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0">
                      <a:schemeClr val="accent1">
                        <a:lumMod val="5000"/>
                        <a:lumOff val="95000"/>
                      </a:schemeClr>
                    </a:gs>
                    <a:gs pos="0">
                      <a:schemeClr val="accent1">
                        <a:lumMod val="5000"/>
                        <a:lumOff val="95000"/>
                      </a:schemeClr>
                    </a:gs>
                    <a:gs pos="3500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0"/>
                </a:gra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11"/>
            </p:custDataLst>
          </p:nvPr>
        </p:nvSpPr>
        <p:spPr>
          <a:xfrm>
            <a:off x="838200" y="3618230"/>
            <a:ext cx="5570220" cy="496570"/>
          </a:xfrm>
        </p:spPr>
        <p:txBody>
          <a:bodyPr wrap="square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pic>
        <p:nvPicPr>
          <p:cNvPr id="22" name="图形 28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 cstate="print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5736"/>
          <a:stretch>
            <a:fillRect/>
          </a:stretch>
        </p:blipFill>
        <p:spPr>
          <a:xfrm flipV="1">
            <a:off x="7235190" y="5837555"/>
            <a:ext cx="4956810" cy="61849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806" h="974">
                <a:moveTo>
                  <a:pt x="0" y="0"/>
                </a:moveTo>
                <a:lnTo>
                  <a:pt x="7806" y="0"/>
                </a:lnTo>
                <a:lnTo>
                  <a:pt x="7806" y="974"/>
                </a:lnTo>
                <a:lnTo>
                  <a:pt x="0" y="97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7AEF1"/>
              </a:gs>
            </a:gsLst>
            <a:lin ang="2580000" scaled="0"/>
          </a:gradFill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image" Target="../media/image4.jpeg"/><Relationship Id="rId2" Type="http://schemas.openxmlformats.org/officeDocument/2006/relationships/tags" Target="../tags/tag14.xml"/><Relationship Id="rId12" Type="http://schemas.openxmlformats.org/officeDocument/2006/relationships/theme" Target="../theme/theme2.xml"/><Relationship Id="rId11" Type="http://schemas.openxmlformats.org/officeDocument/2006/relationships/tags" Target="../tags/tag22.xml"/><Relationship Id="rId10" Type="http://schemas.openxmlformats.org/officeDocument/2006/relationships/tags" Target="../tags/tag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email">
            <a:alphaModFix amt="10000"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10800">
                <a:moveTo>
                  <a:pt x="0" y="0"/>
                </a:moveTo>
                <a:lnTo>
                  <a:pt x="19200" y="0"/>
                </a:lnTo>
                <a:lnTo>
                  <a:pt x="19200" y="10800"/>
                </a:lnTo>
                <a:lnTo>
                  <a:pt x="0" y="1080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0" name="矩形 9"/>
          <p:cNvSpPr/>
          <p:nvPr userDrawn="1">
            <p:custDataLst>
              <p:tags r:id="rId4"/>
            </p:custDataLst>
          </p:nvPr>
        </p:nvSpPr>
        <p:spPr>
          <a:xfrm>
            <a:off x="0" y="6615430"/>
            <a:ext cx="12192000" cy="242570"/>
          </a:xfrm>
          <a:prstGeom prst="rect">
            <a:avLst/>
          </a:prstGeom>
          <a:gradFill>
            <a:gsLst>
              <a:gs pos="16000">
                <a:schemeClr val="accent1"/>
              </a:gs>
              <a:gs pos="100000">
                <a:schemeClr val="accent2">
                  <a:lumMod val="65000"/>
                  <a:lumOff val="3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任意多边形 45"/>
          <p:cNvSpPr/>
          <p:nvPr userDrawn="1">
            <p:custDataLst>
              <p:tags r:id="rId5"/>
            </p:custDataLst>
          </p:nvPr>
        </p:nvSpPr>
        <p:spPr>
          <a:xfrm>
            <a:off x="712470" y="1155065"/>
            <a:ext cx="1044000" cy="72000"/>
          </a:xfrm>
          <a:custGeom>
            <a:avLst/>
            <a:gdLst>
              <a:gd name="adj" fmla="val 25000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ahLst/>
            <a:cxnLst>
              <a:cxn ang="3">
                <a:pos x="hc" y="y2"/>
              </a:cxn>
              <a:cxn ang="3">
                <a:pos x="x4" y="t"/>
              </a:cxn>
              <a:cxn ang="0">
                <a:pos x="x6" y="vc"/>
              </a:cxn>
              <a:cxn ang="cd4">
                <a:pos x="x3" y="b"/>
              </a:cxn>
              <a:cxn ang="cd4">
                <a:pos x="hc" y="y1"/>
              </a:cxn>
              <a:cxn ang="cd2">
                <a:pos x="x1" y="vc"/>
              </a:cxn>
            </a:cxnLst>
            <a:rect l="l" t="t" r="r" b="b"/>
            <a:pathLst>
              <a:path w="1430" h="97">
                <a:moveTo>
                  <a:pt x="0" y="97"/>
                </a:moveTo>
                <a:lnTo>
                  <a:pt x="24" y="0"/>
                </a:lnTo>
                <a:lnTo>
                  <a:pt x="101" y="0"/>
                </a:lnTo>
                <a:lnTo>
                  <a:pt x="77" y="97"/>
                </a:lnTo>
                <a:lnTo>
                  <a:pt x="0" y="97"/>
                </a:lnTo>
                <a:close/>
                <a:moveTo>
                  <a:pt x="133" y="97"/>
                </a:moveTo>
                <a:lnTo>
                  <a:pt x="157" y="0"/>
                </a:lnTo>
                <a:lnTo>
                  <a:pt x="234" y="0"/>
                </a:lnTo>
                <a:lnTo>
                  <a:pt x="210" y="97"/>
                </a:lnTo>
                <a:lnTo>
                  <a:pt x="133" y="97"/>
                </a:lnTo>
                <a:close/>
                <a:moveTo>
                  <a:pt x="266" y="97"/>
                </a:moveTo>
                <a:lnTo>
                  <a:pt x="290" y="0"/>
                </a:lnTo>
                <a:lnTo>
                  <a:pt x="367" y="0"/>
                </a:lnTo>
                <a:lnTo>
                  <a:pt x="343" y="97"/>
                </a:lnTo>
                <a:lnTo>
                  <a:pt x="266" y="97"/>
                </a:lnTo>
                <a:close/>
                <a:moveTo>
                  <a:pt x="399" y="97"/>
                </a:moveTo>
                <a:lnTo>
                  <a:pt x="423" y="0"/>
                </a:lnTo>
                <a:lnTo>
                  <a:pt x="500" y="0"/>
                </a:lnTo>
                <a:lnTo>
                  <a:pt x="476" y="97"/>
                </a:lnTo>
                <a:lnTo>
                  <a:pt x="399" y="97"/>
                </a:lnTo>
                <a:close/>
                <a:moveTo>
                  <a:pt x="532" y="97"/>
                </a:moveTo>
                <a:lnTo>
                  <a:pt x="556" y="0"/>
                </a:lnTo>
                <a:lnTo>
                  <a:pt x="633" y="0"/>
                </a:lnTo>
                <a:lnTo>
                  <a:pt x="609" y="97"/>
                </a:lnTo>
                <a:lnTo>
                  <a:pt x="532" y="97"/>
                </a:lnTo>
                <a:close/>
                <a:moveTo>
                  <a:pt x="664" y="97"/>
                </a:moveTo>
                <a:lnTo>
                  <a:pt x="688" y="0"/>
                </a:lnTo>
                <a:lnTo>
                  <a:pt x="765" y="0"/>
                </a:lnTo>
                <a:lnTo>
                  <a:pt x="741" y="97"/>
                </a:lnTo>
                <a:lnTo>
                  <a:pt x="664" y="97"/>
                </a:lnTo>
                <a:close/>
                <a:moveTo>
                  <a:pt x="797" y="97"/>
                </a:moveTo>
                <a:lnTo>
                  <a:pt x="821" y="0"/>
                </a:lnTo>
                <a:lnTo>
                  <a:pt x="898" y="0"/>
                </a:lnTo>
                <a:lnTo>
                  <a:pt x="874" y="97"/>
                </a:lnTo>
                <a:lnTo>
                  <a:pt x="797" y="97"/>
                </a:lnTo>
                <a:close/>
                <a:moveTo>
                  <a:pt x="930" y="97"/>
                </a:moveTo>
                <a:lnTo>
                  <a:pt x="954" y="0"/>
                </a:lnTo>
                <a:lnTo>
                  <a:pt x="1031" y="0"/>
                </a:lnTo>
                <a:lnTo>
                  <a:pt x="1007" y="97"/>
                </a:lnTo>
                <a:lnTo>
                  <a:pt x="930" y="97"/>
                </a:lnTo>
                <a:close/>
                <a:moveTo>
                  <a:pt x="1063" y="97"/>
                </a:moveTo>
                <a:lnTo>
                  <a:pt x="1087" y="0"/>
                </a:lnTo>
                <a:lnTo>
                  <a:pt x="1164" y="0"/>
                </a:lnTo>
                <a:lnTo>
                  <a:pt x="1140" y="97"/>
                </a:lnTo>
                <a:lnTo>
                  <a:pt x="1063" y="97"/>
                </a:lnTo>
                <a:close/>
                <a:moveTo>
                  <a:pt x="1196" y="97"/>
                </a:moveTo>
                <a:lnTo>
                  <a:pt x="1220" y="0"/>
                </a:lnTo>
                <a:lnTo>
                  <a:pt x="1297" y="0"/>
                </a:lnTo>
                <a:lnTo>
                  <a:pt x="1273" y="97"/>
                </a:lnTo>
                <a:lnTo>
                  <a:pt x="1196" y="97"/>
                </a:lnTo>
                <a:close/>
                <a:moveTo>
                  <a:pt x="1329" y="97"/>
                </a:moveTo>
                <a:lnTo>
                  <a:pt x="1353" y="0"/>
                </a:lnTo>
                <a:lnTo>
                  <a:pt x="1430" y="0"/>
                </a:lnTo>
                <a:lnTo>
                  <a:pt x="1406" y="97"/>
                </a:lnTo>
                <a:lnTo>
                  <a:pt x="1329" y="97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rgbClr val="FFFFFF"/>
              </a:solidFill>
              <a:latin typeface="+mn-ea"/>
              <a:sym typeface="MiSans Normal" panose="00000500000000000000" charset="-122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5.xml"/><Relationship Id="rId3" Type="http://schemas.openxmlformats.org/officeDocument/2006/relationships/image" Target="../media/image5.png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副标题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智能分析与运维能力提升方案</a:t>
            </a:r>
            <a:r>
              <a:rPr lang="zh-CN" altLang="en-US"/>
              <a:t>介绍</a:t>
            </a:r>
            <a:endParaRPr lang="zh-CN" altLang="en-US"/>
          </a:p>
        </p:txBody>
      </p:sp>
      <p:sp>
        <p:nvSpPr>
          <p:cNvPr id="26" name="标题 25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基于</a:t>
            </a:r>
            <a:r>
              <a:rPr lang="en-US" altLang="zh-CN"/>
              <a:t>AI</a:t>
            </a:r>
            <a:r>
              <a:rPr lang="zh-CN" altLang="en-US"/>
              <a:t>大模型的地面沉降数据</a:t>
            </a:r>
            <a:endParaRPr lang="zh-CN" altLang="en-US"/>
          </a:p>
        </p:txBody>
      </p:sp>
      <p:sp>
        <p:nvSpPr>
          <p:cNvPr id="46" name="睿存创科商业计划书"/>
          <p:cNvSpPr txBox="1"/>
          <p:nvPr/>
        </p:nvSpPr>
        <p:spPr>
          <a:xfrm>
            <a:off x="314960" y="195580"/>
            <a:ext cx="5070475" cy="989330"/>
          </a:xfrm>
          <a:prstGeom prst="rect">
            <a:avLst/>
          </a:prstGeom>
          <a:effectLst>
            <a:glow rad="139700">
              <a:srgbClr val="FF0000">
                <a:alpha val="40000"/>
              </a:srgbClr>
            </a:glo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zh-CN" altLang="en-US" sz="3600" b="1" spc="53" dirty="0">
                <a:solidFill>
                  <a:srgbClr val="24E4F8"/>
                </a:solidFill>
              </a:rPr>
              <a:t>人工智能</a:t>
            </a:r>
            <a:r>
              <a:rPr lang="en-US" altLang="zh-CN" sz="3600" b="1" spc="53" dirty="0">
                <a:solidFill>
                  <a:srgbClr val="24E4F8"/>
                </a:solidFill>
              </a:rPr>
              <a:t>+</a:t>
            </a:r>
            <a:r>
              <a:rPr lang="zh-CN" altLang="en-US" sz="3600" b="1" spc="53" dirty="0">
                <a:solidFill>
                  <a:srgbClr val="24E4F8"/>
                </a:solidFill>
                <a:cs typeface="黑体" panose="02010609060101010101" charset="-122"/>
              </a:rPr>
              <a:t>先进智算</a:t>
            </a:r>
            <a:endParaRPr lang="en-US" altLang="zh-CN" sz="3600" b="1" spc="53" dirty="0">
              <a:solidFill>
                <a:srgbClr val="24E4F8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lnSpc>
                <a:spcPct val="100000"/>
              </a:lnSpc>
            </a:pPr>
            <a:r>
              <a:rPr lang="zh-CN" altLang="en-US" b="1" spc="53" dirty="0">
                <a:solidFill>
                  <a:srgbClr val="24E4F8"/>
                </a:solidFill>
                <a:latin typeface="幼圆" panose="02010509060101010101" pitchFamily="49" charset="-122"/>
                <a:ea typeface="幼圆" panose="02010509060101010101" pitchFamily="49" charset="-122"/>
                <a:cs typeface="黑体" panose="02010609060101010101" charset="-122"/>
              </a:rPr>
              <a:t>深度智算、启承未来</a:t>
            </a:r>
            <a:endParaRPr lang="zh-CN" altLang="en-US" b="1" spc="53" dirty="0">
              <a:solidFill>
                <a:srgbClr val="24E4F8"/>
              </a:solidFill>
              <a:latin typeface="幼圆" panose="02010509060101010101" pitchFamily="49" charset="-122"/>
              <a:ea typeface="幼圆" panose="02010509060101010101" pitchFamily="49" charset="-122"/>
              <a:cs typeface="黑体" panose="02010609060101010101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2004" y="4695410"/>
            <a:ext cx="2697901" cy="534239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业务痛点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现有平台已较好解决「数据能汇、业务能管、结果能看」，「问得快、查得准、报得及时」仍有提升空间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250000"/>
            <a:ext cx="5550000" cy="21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00" y="1250000"/>
            <a:ext cx="90000" cy="210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0000" y="1550000"/>
            <a:ext cx="480000" cy="48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00" y="1590000"/>
            <a:ext cx="48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00000" y="1600000"/>
            <a:ext cx="4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知识利用低效</a:t>
            </a:r>
            <a:endParaRPr sz="1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0000" y="2200000"/>
            <a:ext cx="5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政策制度、监测规范、设备手册、历史报告分散存放，检索成本高；经验依赖人工，专业问答难以即时、可溯源。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50000" y="1250000"/>
            <a:ext cx="5550000" cy="21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0000" y="1250000"/>
            <a:ext cx="90000" cy="210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00000" y="1550000"/>
            <a:ext cx="480000" cy="480000"/>
          </a:xfrm>
          <a:prstGeom prst="ellipse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0000" y="1590000"/>
            <a:ext cx="48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00000" y="1600000"/>
            <a:ext cx="4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数据查询门槛高</a:t>
            </a:r>
            <a:endParaRPr sz="1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00000" y="2200000"/>
            <a:ext cx="5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行政区/站点/时段统计对比、趋势分析、异常识别频度高、口径严；传统取数环节多、耗时长。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50000" y="3650000"/>
            <a:ext cx="5550000" cy="21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00" y="3650000"/>
            <a:ext cx="90000" cy="2100000"/>
          </a:xfrm>
          <a:prstGeom prst="rect">
            <a:avLst/>
          </a:prstGeom>
          <a:solidFill>
            <a:srgbClr val="385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0000" y="3950000"/>
            <a:ext cx="480000" cy="480000"/>
          </a:xfrm>
          <a:prstGeom prst="ellipse">
            <a:avLst/>
          </a:prstGeom>
          <a:solidFill>
            <a:srgbClr val="385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000" y="3990000"/>
            <a:ext cx="48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00000" y="4000000"/>
            <a:ext cx="4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报告编制负担重</a:t>
            </a:r>
            <a:endParaRPr sz="1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00000" y="4600000"/>
            <a:ext cx="5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周报、月报、季报及专题报告需模板填充、指标计算、图表制作与文字组织并行，成果时效受限。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250000" y="3650000"/>
            <a:ext cx="5550000" cy="21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50000" y="3650000"/>
            <a:ext cx="90000" cy="21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00000" y="3950000"/>
            <a:ext cx="480000" cy="4800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0000" y="3990000"/>
            <a:ext cx="48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100000" y="4000000"/>
            <a:ext cx="44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安全与效率难兼顾</a:t>
            </a:r>
            <a:endParaRPr sz="1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00000" y="4600000"/>
            <a:ext cx="5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跨区访问业务数据必须受控、可审计；智能化能力需在「数据不出域、最小暴露」前提下落地。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建设目标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围绕智能化、安全性、可用性、可维护性、可扩展性，构建三位一体智能核心引擎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200000"/>
            <a:ext cx="11450000" cy="900000"/>
          </a:xfrm>
          <a:prstGeom prst="roundRect">
            <a:avLst>
              <a:gd name="adj" fmla="val 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000" y="1320000"/>
            <a:ext cx="1105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形成以「智能问答 + NL2SQL数据查询 + 自动报告生成」为核心的三大智能化能力，推动地面沉降监测由信息化管理向智能化服务延伸。</a:t>
            </a:r>
            <a:endParaRPr sz="1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50000" y="2350000"/>
            <a:ext cx="2750000" cy="36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000" y="2350000"/>
            <a:ext cx="2750000" cy="11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2650000"/>
            <a:ext cx="245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① 智能知识问答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0000" y="3500000"/>
            <a:ext cx="245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融合规程标准、监测规范、历史成果与运维知识，实现可引用、可追溯的专业问答。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250000" y="2350000"/>
            <a:ext cx="2750000" cy="36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0000" y="2350000"/>
            <a:ext cx="2750000" cy="11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0000" y="2650000"/>
            <a:ext cx="245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② 自然语言查数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00000" y="3500000"/>
            <a:ext cx="245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业务人员用自然语言完成统计对比、趋势分析与异常查询，降低取数门槛。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50000" y="2350000"/>
            <a:ext cx="2750000" cy="36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000" y="2350000"/>
            <a:ext cx="2750000" cy="11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000" y="2650000"/>
            <a:ext cx="245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③ 报告自动编制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300000" y="3500000"/>
            <a:ext cx="245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覆盖周/月/季报及专题报告，从取数、计算、图表到成文一键生成，人工复核把关。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050000" y="2350000"/>
            <a:ext cx="2750000" cy="36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000" y="2350000"/>
            <a:ext cx="2750000" cy="110000"/>
          </a:xfrm>
          <a:prstGeom prst="rect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0000" y="2650000"/>
            <a:ext cx="245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④ 安全可控落地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200000" y="3500000"/>
            <a:ext cx="245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政务外网部署 + 跨区只读最小访问；模型输出受引用、规则、模板与人工复核约束。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建设前  VS  建设后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从经验驱动、人工取数，迈向数据驱动、AI辅助、成果可追溯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200000"/>
            <a:ext cx="5200000" cy="49000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50000" y="1200000"/>
            <a:ext cx="5200000" cy="4900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000" y="1200000"/>
            <a:ext cx="5200000" cy="700000"/>
          </a:xfrm>
          <a:prstGeom prst="roundRect">
            <a:avLst>
              <a:gd name="adj" fmla="val 5000"/>
            </a:avLst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50000" y="1200000"/>
            <a:ext cx="5200000" cy="700000"/>
          </a:xfrm>
          <a:prstGeom prst="roundRect">
            <a:avLst>
              <a:gd name="adj" fmla="val 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000" y="1250000"/>
            <a:ext cx="52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建设前 · 传统模式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50000" y="1250000"/>
            <a:ext cx="52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建设后 · 智能大模型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50000" y="2200000"/>
            <a:ext cx="340000" cy="34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000" y="210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人找知识</a:t>
            </a:r>
            <a:endParaRPr sz="14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00000" y="240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规范、案例分散，检索效率低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650000" y="2200000"/>
            <a:ext cx="340000" cy="34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0000" y="210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知识找人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00000" y="240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智能问答秒级获取，引用可追溯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50000" y="2940000"/>
            <a:ext cx="340000" cy="34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284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数据分散</a:t>
            </a:r>
            <a:endParaRPr sz="14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00000" y="314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取数依赖人工，口径难统一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6650000" y="2940000"/>
            <a:ext cx="340000" cy="34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0000" y="284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AI自动取数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100000" y="314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自然语言查库，图表结论一体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550000" y="3680000"/>
            <a:ext cx="340000" cy="34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0000" y="358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人工分析</a:t>
            </a:r>
            <a:endParaRPr sz="14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00000" y="388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趋势对比与异常研判耗时长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650000" y="3680000"/>
            <a:ext cx="340000" cy="34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00000" y="358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AI智能分析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100000" y="388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自动统计、对比、异常与摘要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550000" y="4420000"/>
            <a:ext cx="340000" cy="34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0000" y="432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人工写报告</a:t>
            </a:r>
            <a:endParaRPr sz="14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0000" y="462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填表、制图、写稿并行负担重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6650000" y="4420000"/>
            <a:ext cx="340000" cy="34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00000" y="432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报告智能生成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100000" y="462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模板驱动一键成稿，人工复核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550000" y="5160000"/>
            <a:ext cx="340000" cy="34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0000" y="506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经验难沉淀</a:t>
            </a:r>
            <a:endParaRPr sz="14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0000" y="536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专家经验难以规模化复用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6650000" y="5160000"/>
            <a:ext cx="340000" cy="34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00000" y="506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知识资产沉淀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100000" y="5360000"/>
            <a:ext cx="4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规程与成果持续入库、增量更新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5550000" y="3300000"/>
            <a:ext cx="900000" cy="900000"/>
          </a:xfrm>
          <a:prstGeom prst="ellipse">
            <a:avLst/>
          </a:prstGeom>
          <a:solidFill>
            <a:srgbClr val="24E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50000" y="3500000"/>
            <a:ext cx="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VS</a:t>
            </a:r>
            <a:endParaRPr sz="22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产品定位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以大模型为核心，融合领域知识与监测数据，服务地面沉降智能分析与运维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40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00" y="1400000"/>
            <a:ext cx="90000" cy="120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000" y="165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0000" y="205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规程、标准、手册、历史报告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000" y="285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" y="2850000"/>
            <a:ext cx="90000" cy="120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00" y="310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监测数据库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50000" y="350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水准 / GNSS / InSAR / 地下水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50000" y="430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000" y="4300000"/>
            <a:ext cx="90000" cy="120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455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报告模板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0000" y="495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周报、月报、季报、专题报告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800000" y="140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10000" y="1400000"/>
            <a:ext cx="90000" cy="12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0000" y="165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智能问答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00000" y="205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政策解读 · 规范咨询 · 运维知识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00000" y="285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610000" y="2850000"/>
            <a:ext cx="90000" cy="12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10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智能查数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000000" y="350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自然语言问数 · 图表结论一体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800000" y="4300000"/>
            <a:ext cx="2900000" cy="1200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610000" y="4300000"/>
            <a:ext cx="90000" cy="12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0000" y="4550000"/>
            <a:ext cx="2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自动报告</a:t>
            </a:r>
            <a:endParaRPr sz="16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000000" y="4950000"/>
            <a:ext cx="25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一键生成 · 人工复核 · 成果归档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700000" y="2700000"/>
            <a:ext cx="4600000" cy="1600000"/>
          </a:xfrm>
          <a:prstGeom prst="roundRect">
            <a:avLst>
              <a:gd name="adj" fmla="val 8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0000" y="2900000"/>
            <a:ext cx="4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地面沉降智能分析大模型</a:t>
            </a:r>
            <a:endParaRPr sz="1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900000" y="3500000"/>
            <a:ext cx="4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4E4F8"/>
                </a:solidFill>
                <a:latin typeface="微软雅黑" panose="020B0503020204020204" charset="-122"/>
                <a:ea typeface="微软雅黑" panose="020B0503020204020204" charset="-122"/>
              </a:rPr>
              <a:t>通用大模型 + RAG专业知识检索</a:t>
            </a:r>
            <a:endParaRPr sz="1300" b="0">
              <a:solidFill>
                <a:srgbClr val="24E4F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300" b="0">
                <a:solidFill>
                  <a:srgbClr val="24E4F8"/>
                </a:solidFill>
                <a:latin typeface="微软雅黑" panose="020B0503020204020204" charset="-122"/>
                <a:ea typeface="微软雅黑" panose="020B0503020204020204" charset="-122"/>
              </a:rPr>
              <a:t>+ 受控SQL查询 + 模板引擎</a:t>
            </a:r>
            <a:endParaRPr sz="1300" b="0">
              <a:solidFill>
                <a:srgbClr val="24E4F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300000" y="2100000"/>
            <a:ext cx="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3855CB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800" b="1">
              <a:solidFill>
                <a:srgbClr val="3855C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300000" y="2100000"/>
            <a:ext cx="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800" b="1">
              <a:solidFill>
                <a:srgbClr val="0D94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系统架构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交互 — 服务 — 数据 — 算力 四层构建；业务库远程只读，知识资产本地治理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Picture 7" descr="slide1_图片 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pic>
        <p:nvPicPr>
          <p:cNvPr id="9" name="Picture 8" descr="arch_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000" y="1120000"/>
            <a:ext cx="7500000" cy="50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架构要点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单机可交付、边界清晰、能力可扩展 — 兼顾落地性与长期演进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2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000" y="1250000"/>
            <a:ext cx="3650000" cy="10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000" y="155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四层解耦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0000" y="21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应用交互、业务服务、数据与知识、基础与模型分层部署，便于独立扩容与替换。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00000" y="12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0000" y="1250000"/>
            <a:ext cx="3650000" cy="10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0000" y="155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分栈组网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00000" y="21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应用编排 / 数据知识 / 模型推理分栈容器化，故障域隔离，运维更清晰。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050000" y="12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0000" y="1250000"/>
            <a:ext cx="3650000" cy="10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0000" y="155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数据最小暴露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50000" y="21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不对业务库整库拷贝；按任务远程只读拉取，结果最小缓存，避免形成第二业务库。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50000" y="37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00" y="3700000"/>
            <a:ext cx="3650000" cy="100000"/>
          </a:xfrm>
          <a:prstGeom prst="rect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0000" y="400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政务外网落地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0000" y="46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大模型、知识库与应用服务统一部署于政务云政务外网区，满足安全管控要求。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200000" y="37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0000" y="3700000"/>
            <a:ext cx="3650000" cy="100000"/>
          </a:xfrm>
          <a:prstGeom prst="rect">
            <a:avLst/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00000" y="400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国产化底座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400000" y="46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麒麟OS + 容器运行时 + Atlas 300I/昇腾NPU + 国产开源指令模型。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050000" y="37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50000" y="3700000"/>
            <a:ext cx="3650000" cy="100000"/>
          </a:xfrm>
          <a:prstGeom prst="rect">
            <a:avLst/>
          </a:prstGeom>
          <a:solidFill>
            <a:srgbClr val="385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0000" y="4000000"/>
            <a:ext cx="325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能力可扩展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250000" y="46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可扩展站点、文档、数据表与报告类型；模型与知识支持热更新、增量接入。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核心能力处理流程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意图识别与路由 → 受控数据与知识检索 → 模型推理与分析编排 → 结构化输出与审计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Picture 7" descr="slide1_图片 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pic>
        <p:nvPicPr>
          <p:cNvPr id="9" name="Picture 8" descr="flow_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000" y="1150000"/>
            <a:ext cx="9400000" cy="50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核心能力一：智能知识问答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通用问答 + 专业知识RAG，回答可引用、可追溯，杜绝无依据编造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150000"/>
            <a:ext cx="11450000" cy="75000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000" y="1250000"/>
            <a:ext cx="110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面向政策解读、业务流程、平台操作与监测专业问题，系统自动识别意图并选择最优路径。专业问答采用「解析—切片—向量化—混合检索—重排序—带引用生成」链路，依据不足时明确提示。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00000" y="2100000"/>
            <a:ext cx="2050000" cy="520000"/>
          </a:xfrm>
          <a:prstGeom prst="roundRect">
            <a:avLst>
              <a:gd name="adj" fmla="val 1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0000" y="2150000"/>
            <a:ext cx="205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  文档接入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700000" y="2100000"/>
            <a:ext cx="2050000" cy="520000"/>
          </a:xfrm>
          <a:prstGeom prst="roundRect">
            <a:avLst>
              <a:gd name="adj" fmla="val 15000"/>
            </a:avLst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00000" y="2150000"/>
            <a:ext cx="205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  清洗切片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00000" y="2100000"/>
            <a:ext cx="2050000" cy="520000"/>
          </a:xfrm>
          <a:prstGeom prst="roundRect">
            <a:avLst>
              <a:gd name="adj" fmla="val 1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0" y="2150000"/>
            <a:ext cx="205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  混合检索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300000" y="2100000"/>
            <a:ext cx="2050000" cy="520000"/>
          </a:xfrm>
          <a:prstGeom prst="roundRect">
            <a:avLst>
              <a:gd name="adj" fmla="val 15000"/>
            </a:avLst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0000" y="2150000"/>
            <a:ext cx="205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  精排生成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600000" y="2100000"/>
            <a:ext cx="2050000" cy="520000"/>
          </a:xfrm>
          <a:prstGeom prst="roundRect">
            <a:avLst>
              <a:gd name="adj" fmla="val 1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0000" y="2150000"/>
            <a:ext cx="205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  会话管理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50000" y="2800000"/>
            <a:ext cx="55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核心能力</a:t>
            </a:r>
            <a:endParaRPr sz="14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00000" y="3280000"/>
            <a:ext cx="160000" cy="16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000" y="3200000"/>
            <a:ext cx="5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流式多轮对话</a:t>
            </a:r>
            <a:endParaRPr sz="13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0000" y="348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保存不少于10轮上下文摘要，支持指代消解与澄清提问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400000" y="3980000"/>
            <a:ext cx="160000" cy="16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000" y="3900000"/>
            <a:ext cx="5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混合检索精排</a:t>
            </a:r>
            <a:endParaRPr sz="13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0000" y="418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向量召回 + 关键词召回 + 重排序，提升专业命中率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00000" y="4680000"/>
            <a:ext cx="160000" cy="16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000" y="4600000"/>
            <a:ext cx="5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引用溯源强制</a:t>
            </a:r>
            <a:endParaRPr sz="13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0000" y="488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回答附带来源；依据不足时明确提示，不编造结论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400000" y="5380000"/>
            <a:ext cx="160000" cy="16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000" y="5300000"/>
            <a:ext cx="520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A3A"/>
                </a:solidFill>
                <a:latin typeface="微软雅黑" panose="020B0503020204020204" charset="-122"/>
                <a:ea typeface="微软雅黑" panose="020B0503020204020204" charset="-122"/>
              </a:rPr>
              <a:t>知识增量更新</a:t>
            </a:r>
            <a:endParaRPr sz="1300" b="1">
              <a:solidFill>
                <a:srgbClr val="1E2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50000" y="558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支持多格式文档入库，无需重训即可吸纳最新资料</a:t>
            </a:r>
            <a:endParaRPr sz="11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00000" y="2800000"/>
            <a:ext cx="53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典型场景</a:t>
            </a:r>
            <a:endParaRPr sz="14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400000" y="3372720"/>
            <a:ext cx="5300000" cy="8000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0000" y="3472720"/>
            <a:ext cx="49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“通州区地面沉降监测的主要技术规范有哪些？”</a:t>
            </a:r>
            <a:endParaRPr sz="12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00000" y="3792720"/>
            <a:ext cx="49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— 匹配知识库标准与规程，返回带章节引用的权威解答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400000" y="4668960"/>
            <a:ext cx="5300000" cy="8000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0000" y="4768960"/>
            <a:ext cx="49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“静力水准设备异常如何排查？”</a:t>
            </a:r>
            <a:endParaRPr sz="12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00000" y="5088960"/>
            <a:ext cx="49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— 检索设备手册与运维案例，给出可操作处置指引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核心能力二：智能数据查询（NL2SQL）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自然语言问数，经语义层与SQL安全网关只读执行，结果图表与结论一体呈现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150000"/>
            <a:ext cx="11450000" cy="70000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000" y="1220000"/>
            <a:ext cx="110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不让大模型“自由拼SQL后执行”。先识别意图与实体，再在受控Schema中匹配表字段，生成SQL草案并经白名单、语法、权限与成本校验后，以只读方式跨区访问业务库。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20000" y="2050000"/>
            <a:ext cx="220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00" y="2050000"/>
            <a:ext cx="2200000" cy="9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70000" y="2250000"/>
            <a:ext cx="500000" cy="500000"/>
          </a:xfrm>
          <a:prstGeom prst="ellipse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000" y="2300000"/>
            <a:ext cx="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0000" y="2900000"/>
            <a:ext cx="2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意图识别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0000" y="3350000"/>
            <a:ext cx="2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趋势 / 对比 / 统计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异常 / 站点详情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670000" y="2050000"/>
            <a:ext cx="220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70000" y="2050000"/>
            <a:ext cx="2200000" cy="9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20000" y="2250000"/>
            <a:ext cx="500000" cy="500000"/>
          </a:xfrm>
          <a:prstGeom prst="ellipse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000" y="2300000"/>
            <a:ext cx="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70000" y="2900000"/>
            <a:ext cx="2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语义建模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70000" y="3350000"/>
            <a:ext cx="2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字段口径字典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覆盖率目标≥95%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020000" y="2050000"/>
            <a:ext cx="220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0000" y="2050000"/>
            <a:ext cx="2200000" cy="9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70000" y="2250000"/>
            <a:ext cx="500000" cy="5000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000" y="2300000"/>
            <a:ext cx="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120000" y="2900000"/>
            <a:ext cx="2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Schema链接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000" y="3350000"/>
            <a:ext cx="2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仅预登记库表视图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禁止越权对象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370000" y="2050000"/>
            <a:ext cx="220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70000" y="2050000"/>
            <a:ext cx="2200000" cy="90000"/>
          </a:xfrm>
          <a:prstGeom prst="rect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0000" y="2250000"/>
            <a:ext cx="500000" cy="500000"/>
          </a:xfrm>
          <a:prstGeom prst="ellipse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000" y="2300000"/>
            <a:ext cx="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470000" y="2900000"/>
            <a:ext cx="2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SQL校验执行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70000" y="3350000"/>
            <a:ext cx="2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AST+白名单+限流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只读 · 超时中止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720000" y="2050000"/>
            <a:ext cx="2200000" cy="2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00" y="2050000"/>
            <a:ext cx="2200000" cy="90000"/>
          </a:xfrm>
          <a:prstGeom prst="rect">
            <a:avLst/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70000" y="2250000"/>
            <a:ext cx="500000" cy="500000"/>
          </a:xfrm>
          <a:prstGeom prst="ellipse">
            <a:avLst/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70000" y="2300000"/>
            <a:ext cx="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820000" y="2900000"/>
            <a:ext cx="2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结果呈现</a:t>
            </a:r>
            <a:endParaRPr sz="14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820000" y="3350000"/>
            <a:ext cx="2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表格 · 折线 · 柱状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异常标记 · 摘要</a:t>
            </a:r>
            <a:endParaRPr sz="11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50000" y="4300000"/>
            <a:ext cx="11450000" cy="1750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0000" y="4450000"/>
            <a:ext cx="3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55A2"/>
                </a:solidFill>
                <a:latin typeface="微软雅黑" panose="020B0503020204020204" charset="-122"/>
                <a:ea typeface="微软雅黑" panose="020B0503020204020204" charset="-122"/>
              </a:rPr>
              <a:t>典型提问示例</a:t>
            </a:r>
            <a:endParaRPr sz="1400" b="1">
              <a:solidFill>
                <a:srgbClr val="2E55A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50000" y="5000000"/>
            <a:ext cx="35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“查询通州区近三个月沉降速率超过阈值的监测点”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250000" y="5000000"/>
            <a:ext cx="35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“对比去年与今年同期地下水水位变化趋势”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50000" y="5000000"/>
            <a:ext cx="35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“列出本周运行异常的静力水准站点及持续时长”</a:t>
            </a:r>
            <a:endParaRPr sz="12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核心能力三：自动化报告生成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模板驱动 + 数据计算 + 规则图表 + 大模型辅助表达 + 人工复核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0000" y="12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0000" y="145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000" y="145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0000" y="148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模板管理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50000" y="21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预置周/月/季报、专题及运维成果等不少于5套模板，版本与字段映射可追溯。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200000" y="12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00000" y="145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0000" y="145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50000" y="148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任务编排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00000" y="21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选择时段、站点、区域与类型后异步执行，展示进度，支持失败重试。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050000" y="120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0000" y="145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0000" y="145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300000" y="148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数据计算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50000" y="210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调用受控查数服务，计算沉降量、速率、同比环比、异常数量等，口径可追溯。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50000" y="36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50000" y="390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390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600000" y="393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图文生成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0000" y="45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图表由规则引擎生成；文本由大模型辅助撰写；数值不可被模型改写。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200000" y="36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00000" y="390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0000" y="390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450000" y="393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人工复核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400000" y="45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在线预览、编辑、批注与确认；未确认不得作为正式发布稿。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050000" y="3650000"/>
            <a:ext cx="3650000" cy="22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50000" y="3900000"/>
            <a:ext cx="900000" cy="420000"/>
          </a:xfrm>
          <a:prstGeom prst="roundRect">
            <a:avLst>
              <a:gd name="adj" fmla="val 20000"/>
            </a:avLst>
          </a:prstGeom>
          <a:solidFill>
            <a:srgbClr val="385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0000" y="3900000"/>
            <a:ext cx="90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300000" y="3930000"/>
            <a:ext cx="22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成果输出</a:t>
            </a:r>
            <a:endParaRPr sz="16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250000" y="4550000"/>
            <a:ext cx="325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输出Word/PDF并归档；水印与权限控制，跨区回传受控。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安全边界与数据访问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智能化能力在「数据不出域、跨区最小访问、全程可审计」前提下落地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Picture 7" descr="slide1_图片 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0000" y="1200000"/>
            <a:ext cx="3700000" cy="380000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0000" y="1200000"/>
            <a:ext cx="3700000" cy="1150000"/>
          </a:xfrm>
          <a:prstGeom prst="roundRect">
            <a:avLst>
              <a:gd name="adj" fmla="val 5000"/>
            </a:avLst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1280000"/>
            <a:ext cx="3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六里桥互联网区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0000" y="17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既有监测平台与业务库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只读视图 / 数据服务接口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650000" y="2700000"/>
            <a:ext cx="160000" cy="16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6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业务门户入口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650000" y="3400000"/>
            <a:ext cx="160000" cy="16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33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监测业务数据库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650000" y="4100000"/>
            <a:ext cx="160000" cy="160000"/>
          </a:xfrm>
          <a:prstGeom prst="ellipse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40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API / JDBC（TLS）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50000" y="1200000"/>
            <a:ext cx="3700000" cy="380000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0000" y="1200000"/>
            <a:ext cx="3700000" cy="1150000"/>
          </a:xfrm>
          <a:prstGeom prst="roundRect">
            <a:avLst>
              <a:gd name="adj" fmla="val 5000"/>
            </a:avLst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0000" y="1280000"/>
            <a:ext cx="3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金山云互通策略区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400000" y="17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路由 · ACL · 访问控制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仅放通白名单，不暴露公网服务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550000" y="2700000"/>
            <a:ext cx="160000" cy="160000"/>
          </a:xfrm>
          <a:prstGeom prst="ellipse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000" y="26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源/目的IP与端口白名单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4550000" y="3400000"/>
            <a:ext cx="160000" cy="160000"/>
          </a:xfrm>
          <a:prstGeom prst="ellipse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000" y="33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必要方向最小开放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4550000" y="4100000"/>
            <a:ext cx="160000" cy="160000"/>
          </a:xfrm>
          <a:prstGeom prst="ellipse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000" y="40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策略清单管理可回滚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150000" y="1200000"/>
            <a:ext cx="3700000" cy="3800000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0000" y="1200000"/>
            <a:ext cx="3700000" cy="1150000"/>
          </a:xfrm>
          <a:prstGeom prst="roundRect">
            <a:avLst>
              <a:gd name="adj" fmla="val 5000"/>
            </a:avLst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0000" y="1280000"/>
            <a:ext cx="3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政务云政务外网区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00000" y="17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AI应用 · 推理 · 知识服务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Atlas 300I ×4 · RAG · 向量库</a:t>
            </a:r>
            <a:endParaRPr sz="1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450000" y="2700000"/>
            <a:ext cx="160000" cy="160000"/>
          </a:xfrm>
          <a:prstGeom prst="ellipse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00000" y="26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问答 / 查数 / 报告服务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8450000" y="3400000"/>
            <a:ext cx="160000" cy="160000"/>
          </a:xfrm>
          <a:prstGeom prst="ellipse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00000" y="33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SQL安全网关与审计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8450000" y="4100000"/>
            <a:ext cx="160000" cy="160000"/>
          </a:xfrm>
          <a:prstGeom prst="ellipse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00000" y="4000000"/>
            <a:ext cx="29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模型与知识本地治理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350000" y="5200000"/>
            <a:ext cx="11450000" cy="950000"/>
          </a:xfrm>
          <a:prstGeom prst="roundRect">
            <a:avLst>
              <a:gd name="adj" fmla="val 5000"/>
            </a:avLst>
          </a:prstGeom>
          <a:solidFill>
            <a:srgbClr val="1A3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0000" y="5350000"/>
            <a:ext cx="1105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原则：跨区默认最小权限 · 只读账号 · 白名单 · 加密传输 · 全程审计  |  优先走数据服务接口  |  模型输出须经引用、规则、模板与人工复核，不直接作为行政或专业结论</a:t>
            </a:r>
            <a:endParaRPr sz="12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0000"/>
            <a:ext cx="160000" cy="82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00" y="220000"/>
            <a:ext cx="100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方案价值</a:t>
            </a:r>
            <a:endParaRPr sz="28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0000" y="740000"/>
            <a:ext cx="1100000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安全可控、效率提升、知识沉淀、决策辅助 — 支撑地面沉降防控日常业务</a:t>
            </a:r>
            <a:endParaRPr sz="12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Picture 5" descr="内容页三_图片_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0000" y="180000"/>
            <a:ext cx="2000000" cy="43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00" y="6450000"/>
            <a:ext cx="4500000" cy="250000"/>
          </a:xfrm>
          <a:prstGeom prst="roundRect">
            <a:avLst>
              <a:gd name="adj" fmla="val 35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" y="6470000"/>
            <a:ext cx="4300000" cy="2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C8F"/>
                </a:solidFill>
                <a:latin typeface="微软雅黑" panose="020B0503020204020204" charset="-122"/>
                <a:ea typeface="微软雅黑" panose="020B0503020204020204" charset="-122"/>
              </a:rPr>
              <a:t>深启科技 · 地面沉降智能分析与运维能力提升方案</a:t>
            </a:r>
            <a:endParaRPr sz="1000" b="0">
              <a:solidFill>
                <a:srgbClr val="6B7C8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Picture 8" descr="slide1_图片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0" y="6380000"/>
            <a:ext cx="1612406" cy="32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0000" y="1250000"/>
            <a:ext cx="2200000" cy="43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000" y="1250000"/>
            <a:ext cx="2200000" cy="950000"/>
          </a:xfrm>
          <a:prstGeom prst="rect">
            <a:avLst/>
          </a:prstGeom>
          <a:solidFill>
            <a:srgbClr val="197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000" y="1350000"/>
            <a:ext cx="22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问得快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0000" y="1750000"/>
            <a:ext cx="2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可追溯智能问答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0000" y="2450000"/>
            <a:ext cx="19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政策、规范、运维知识秒级获取，引用可核查，降低检索与咨询成本。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50000" y="1250000"/>
            <a:ext cx="2200000" cy="43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0000" y="1250000"/>
            <a:ext cx="2200000" cy="950000"/>
          </a:xfrm>
          <a:prstGeom prst="rect">
            <a:avLst/>
          </a:prstGeom>
          <a:solidFill>
            <a:srgbClr val="2E55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0000" y="1350000"/>
            <a:ext cx="22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查得准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50000" y="1750000"/>
            <a:ext cx="2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自然语言自助分析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800000" y="2450000"/>
            <a:ext cx="19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提问即分析，自动出表出图出摘要，显著减少人工取数与加工环节。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00000" y="1250000"/>
            <a:ext cx="2200000" cy="43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00000" y="1250000"/>
            <a:ext cx="2200000" cy="95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0" y="1350000"/>
            <a:ext cx="22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报得及时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100000" y="1750000"/>
            <a:ext cx="2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报告编制提质增效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50000" y="2450000"/>
            <a:ext cx="19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周月季报与专题报告一键生成，人工复核把关，成果规范可归档。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50000" y="1250000"/>
            <a:ext cx="2200000" cy="43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50000" y="1250000"/>
            <a:ext cx="2200000" cy="950000"/>
          </a:xfrm>
          <a:prstGeom prst="rect">
            <a:avLst/>
          </a:prstGeom>
          <a:solidFill>
            <a:srgbClr val="E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50000" y="1350000"/>
            <a:ext cx="22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用得安心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450000" y="1750000"/>
            <a:ext cx="2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跨区安全访问边界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00000" y="2450000"/>
            <a:ext cx="19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数据不出授权域，只读最小暴露，调用与分析过程全程可审计。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700000" y="1250000"/>
            <a:ext cx="2200000" cy="43000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00000" y="1250000"/>
            <a:ext cx="2200000" cy="950000"/>
          </a:xfrm>
          <a:prstGeom prst="rect">
            <a:avLst/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00000" y="1350000"/>
            <a:ext cx="22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长得远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00000" y="1750000"/>
            <a:ext cx="2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可维护可扩展底座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850000" y="2450000"/>
            <a:ext cx="19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</a:rPr>
              <a:t>知识增量更新、模型可替换、模板可维护，站点与报告类型可扩展。</a:t>
            </a:r>
            <a:endParaRPr sz="130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50000" y="5750000"/>
            <a:ext cx="1145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A366E"/>
                </a:solidFill>
                <a:latin typeface="微软雅黑" panose="020B0503020204020204" charset="-122"/>
                <a:ea typeface="微软雅黑" panose="020B0503020204020204" charset="-122"/>
              </a:rPr>
              <a:t>推动地面沉降监测业务由「信息化管理」进一步向「智能化服务」延伸，增强对城市安全运行与地质安全保障的支撑能力。</a:t>
            </a:r>
            <a:endParaRPr sz="1300" b="1">
              <a:solidFill>
                <a:srgbClr val="1A366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5244860"/>
            <a:ext cx="12192000" cy="16131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508" b="42901"/>
          <a:stretch>
            <a:fillRect/>
          </a:stretch>
        </p:blipFill>
        <p:spPr>
          <a:xfrm rot="10800000">
            <a:off x="1859185" y="0"/>
            <a:ext cx="8371677" cy="516466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Box 8"/>
          <p:cNvSpPr txBox="1"/>
          <p:nvPr/>
        </p:nvSpPr>
        <p:spPr>
          <a:xfrm>
            <a:off x="4280993" y="1218260"/>
            <a:ext cx="3528060" cy="2303145"/>
          </a:xfrm>
          <a:prstGeom prst="rect">
            <a:avLst/>
          </a:prstGeom>
          <a:noFill/>
        </p:spPr>
        <p:txBody>
          <a:bodyPr wrap="none" lIns="87764" tIns="43881" rIns="87764" bIns="43881" rtlCol="0">
            <a:spAutoFit/>
          </a:bodyPr>
          <a:lstStyle/>
          <a:p>
            <a:pPr algn="ctr" defTabSz="914400">
              <a:lnSpc>
                <a:spcPct val="120000"/>
              </a:lnSpc>
            </a:pPr>
            <a:r>
              <a:rPr lang="zh-CN" altLang="en-US" sz="6000" kern="1700" spc="600" dirty="0">
                <a:solidFill>
                  <a:srgbClr val="EEEED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深度智算</a:t>
            </a:r>
            <a:endParaRPr lang="en-US" altLang="zh-CN" sz="6000" kern="1700" spc="600" dirty="0">
              <a:solidFill>
                <a:srgbClr val="EEEED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ctr" defTabSz="914400">
              <a:lnSpc>
                <a:spcPct val="120000"/>
              </a:lnSpc>
            </a:pPr>
            <a:r>
              <a:rPr lang="zh-CN" altLang="en-US" sz="6000" kern="1700" spc="600" dirty="0">
                <a:solidFill>
                  <a:srgbClr val="EEEED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启承未来</a:t>
            </a:r>
            <a:endParaRPr lang="zh-CN" altLang="en-US" sz="6000" kern="1700" spc="600" dirty="0">
              <a:solidFill>
                <a:srgbClr val="EEEED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1" name="Text Box 37"/>
          <p:cNvSpPr txBox="1"/>
          <p:nvPr/>
        </p:nvSpPr>
        <p:spPr>
          <a:xfrm>
            <a:off x="3603791" y="5583379"/>
            <a:ext cx="3442091" cy="103759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defTabSz="914400">
              <a:lnSpc>
                <a:spcPct val="140000"/>
              </a:lnSpc>
            </a:pP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总部地址：合肥市中国科大国金院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号楼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702</a:t>
            </a:r>
            <a:endParaRPr lang="en-US" altLang="zh-CN" sz="11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defTabSz="914400">
              <a:lnSpc>
                <a:spcPct val="140000"/>
              </a:lnSpc>
            </a:pP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北京地址：北京市丰台区星火路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号院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1805</a:t>
            </a:r>
            <a:endParaRPr lang="zh-CN" altLang="en-US" sz="11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defTabSz="914400">
              <a:lnSpc>
                <a:spcPct val="140000"/>
              </a:lnSpc>
            </a:pP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网址：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www.tsingdeep.com /</a:t>
            </a: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www.deeprev.com</a:t>
            </a:r>
            <a:endParaRPr lang="en-US" altLang="zh-CN" sz="1100" dirty="0">
              <a:latin typeface="微软雅黑" panose="020B0503020204020204" charset="-122"/>
              <a:ea typeface="微软雅黑" panose="020B0503020204020204" charset="-122"/>
            </a:endParaRPr>
          </a:p>
          <a:p>
            <a:pPr defTabSz="914400">
              <a:lnSpc>
                <a:spcPct val="140000"/>
              </a:lnSpc>
            </a:pPr>
            <a:r>
              <a:rPr lang="zh-CN" altLang="en-US" sz="1100" dirty="0">
                <a:latin typeface="微软雅黑" panose="020B0503020204020204" charset="-122"/>
                <a:ea typeface="微软雅黑" panose="020B0503020204020204" charset="-122"/>
              </a:rPr>
              <a:t>客服热线：</a:t>
            </a:r>
            <a:r>
              <a:rPr lang="en-US" altLang="zh-CN" sz="1100" dirty="0">
                <a:latin typeface="微软雅黑" panose="020B0503020204020204" charset="-122"/>
                <a:ea typeface="微软雅黑" panose="020B0503020204020204" charset="-122"/>
              </a:rPr>
              <a:t>010-83668052 / 18911883538 </a:t>
            </a:r>
            <a:endParaRPr lang="zh-CN" altLang="en-US" sz="11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矩形 17"/>
          <p:cNvSpPr/>
          <p:nvPr/>
        </p:nvSpPr>
        <p:spPr>
          <a:xfrm>
            <a:off x="10723033" y="6475307"/>
            <a:ext cx="905087" cy="24511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 defTabSz="914400" eaLnBrk="1" hangingPunct="1"/>
            <a:r>
              <a:rPr lang="zh-CN" altLang="en-US" sz="1000" dirty="0">
                <a:latin typeface="微软雅黑" panose="020B0503020204020204" charset="-122"/>
                <a:ea typeface="微软雅黑" panose="020B0503020204020204" charset="-122"/>
              </a:rPr>
              <a:t>微信公众号</a:t>
            </a:r>
            <a:endParaRPr lang="zh-CN" altLang="en-US" sz="1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3094005" y="5561851"/>
            <a:ext cx="4347092" cy="1095579"/>
            <a:chOff x="3562464" y="5598782"/>
            <a:chExt cx="4941473" cy="3515833"/>
          </a:xfrm>
        </p:grpSpPr>
        <p:cxnSp>
          <p:nvCxnSpPr>
            <p:cNvPr id="18" name="直接连接符 17"/>
            <p:cNvCxnSpPr/>
            <p:nvPr/>
          </p:nvCxnSpPr>
          <p:spPr>
            <a:xfrm>
              <a:off x="3562464" y="5598782"/>
              <a:ext cx="0" cy="3515833"/>
            </a:xfrm>
            <a:prstGeom prst="line">
              <a:avLst/>
            </a:prstGeom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/>
            <p:cNvCxnSpPr/>
            <p:nvPr/>
          </p:nvCxnSpPr>
          <p:spPr>
            <a:xfrm>
              <a:off x="8503937" y="5598782"/>
              <a:ext cx="0" cy="3515833"/>
            </a:xfrm>
            <a:prstGeom prst="line">
              <a:avLst/>
            </a:prstGeom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矩形 16"/>
          <p:cNvSpPr/>
          <p:nvPr/>
        </p:nvSpPr>
        <p:spPr>
          <a:xfrm>
            <a:off x="9441416" y="6474907"/>
            <a:ext cx="886301" cy="24511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 defTabSz="914400" eaLnBrk="1" hangingPunct="1"/>
            <a:r>
              <a:rPr lang="zh-CN" altLang="en-US" sz="1000" dirty="0">
                <a:latin typeface="微软雅黑" panose="020B0503020204020204" charset="-122"/>
                <a:ea typeface="微软雅黑" panose="020B0503020204020204" charset="-122"/>
              </a:rPr>
              <a:t>深启官网</a:t>
            </a:r>
            <a:endParaRPr lang="zh-CN" altLang="en-US" sz="1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矩形 16"/>
          <p:cNvSpPr/>
          <p:nvPr/>
        </p:nvSpPr>
        <p:spPr>
          <a:xfrm>
            <a:off x="8174885" y="6474907"/>
            <a:ext cx="886301" cy="24511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ctr" defTabSz="914400" eaLnBrk="1" hangingPunct="1"/>
            <a:r>
              <a:rPr lang="zh-CN" altLang="en-US" sz="1000" dirty="0">
                <a:latin typeface="微软雅黑" panose="020B0503020204020204" charset="-122"/>
                <a:ea typeface="微软雅黑" panose="020B0503020204020204" charset="-122"/>
              </a:rPr>
              <a:t>总部官网</a:t>
            </a:r>
            <a:endParaRPr lang="zh-CN" altLang="en-US" sz="100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3340" y="5645043"/>
            <a:ext cx="848700" cy="838351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rcRect t="-1" b="4908"/>
          <a:stretch>
            <a:fillRect/>
          </a:stretch>
        </p:blipFill>
        <p:spPr>
          <a:xfrm>
            <a:off x="10650840" y="5570128"/>
            <a:ext cx="978120" cy="932733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48"/>
          <a:stretch>
            <a:fillRect/>
          </a:stretch>
        </p:blipFill>
        <p:spPr>
          <a:xfrm>
            <a:off x="8097967" y="5585765"/>
            <a:ext cx="969248" cy="92516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4297"/>
          <a:stretch>
            <a:fillRect/>
          </a:stretch>
        </p:blipFill>
        <p:spPr>
          <a:xfrm>
            <a:off x="9384311" y="5600423"/>
            <a:ext cx="969248" cy="927589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13" y="5839868"/>
            <a:ext cx="2490159" cy="53954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1"/>
</p:tagLst>
</file>

<file path=ppt/tags/tag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1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40495204"/>
</p:tagLst>
</file>

<file path=ppt/tags/tag1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TEMPLATE_CATEGORY" val="custom"/>
  <p:tag name="KSO_WM_TEMPLATE_INDEX" val="40495204"/>
</p:tagLst>
</file>

<file path=ppt/tags/tag19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40495204"/>
  <p:tag name="KSO_WM_TEMPLATE_CATEGORY" val="custom"/>
  <p:tag name="KSO_WM_TEMPLATE_MASTER_TYPE" val="0"/>
</p:tagLst>
</file>

<file path=ppt/tags/tag2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40495204_1*b*1"/>
  <p:tag name="KSO_WM_UNIT_ISNUMDGMTITLE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5204"/>
  <p:tag name="KSO_WM_TEMPLATE_CATEGORY" val="custom"/>
  <p:tag name="KSO_WM_UNIT_ISCONTENTSTITLE" val="0"/>
  <p:tag name="KSO_WM_UNIT_VALUE" val="21"/>
  <p:tag name="KSO_WM_UNIT_TEXT_TYPE" val="1"/>
  <p:tag name="KSO_WM_UNIT_NOCLEAR" val="0"/>
  <p:tag name="KSO_WM_UNIT_PRESET_TEXT" val=" WPS,a click to unlimited possibilities"/>
</p:tagLst>
</file>

<file path=ppt/tags/tag2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添加标题单击添加文档标题"/>
  <p:tag name="KSO_WM_UNIT_ID" val="custom40495204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5204"/>
  <p:tag name="KSO_WM_TEMPLATE_CATEGORY" val="custom"/>
  <p:tag name="KSO_WM_UNIT_ISCONTENTSTITLE" val="0"/>
  <p:tag name="KSO_WM_UNIT_VALUE" val="14"/>
</p:tagLst>
</file>

<file path=ppt/tags/tag25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40495204"/>
  <p:tag name="KSO_WM_TEMPLATE_CATEGORY" val="custom"/>
  <p:tag name="KSO_WM_SLIDE_INDEX" val="1"/>
  <p:tag name="KSO_WM_SLIDE_ID" val="custom40495204_1"/>
  <p:tag name="KSO_WM_TEMPLATE_MASTER_TYPE" val="0"/>
  <p:tag name="KSO_WM_SLIDE_LAYOUT" val="a_b"/>
  <p:tag name="KSO_WM_SLIDE_LAYOUT_CNT" val="1_1"/>
</p:tagLst>
</file>

<file path=ppt/tags/tag26.xml><?xml version="1.0" encoding="utf-8"?>
<p:tagLst xmlns:p="http://schemas.openxmlformats.org/presentationml/2006/main">
  <p:tag name="KSO_WM_UNIT_PLACING_PICTURE_USER_VIEWPORT" val="{&quot;height&quot;:9460,&quot;width&quot;:9600}"/>
</p:tagLst>
</file>

<file path=ppt/tags/tag27.xml><?xml version="1.0" encoding="utf-8"?>
<p:tagLst xmlns:p="http://schemas.openxmlformats.org/presentationml/2006/main">
  <p:tag name="commondata" val="eyJoZGlkIjoiZDMwNGY4NTQ1YTUyZDg5YTJhMjljZWJiMjI1MzcxNz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1198">
      <a:dk1>
        <a:srgbClr val="000000"/>
      </a:dk1>
      <a:lt1>
        <a:srgbClr val="FFFFFF"/>
      </a:lt1>
      <a:dk2>
        <a:srgbClr val="06132C"/>
      </a:dk2>
      <a:lt2>
        <a:srgbClr val="F5F7FF"/>
      </a:lt2>
      <a:accent1>
        <a:srgbClr val="696CFF"/>
      </a:accent1>
      <a:accent2>
        <a:srgbClr val="6580F4"/>
      </a:accent2>
      <a:accent3>
        <a:srgbClr val="4C99EA"/>
      </a:accent3>
      <a:accent4>
        <a:srgbClr val="32B2E0"/>
      </a:accent4>
      <a:accent5>
        <a:srgbClr val="19CBD6"/>
      </a:accent5>
      <a:accent6>
        <a:srgbClr val="00E4CC"/>
      </a:accent6>
      <a:hlink>
        <a:srgbClr val="304FFE"/>
      </a:hlink>
      <a:folHlink>
        <a:srgbClr val="492067"/>
      </a:folHlink>
    </a:clrScheme>
    <a:fontScheme name="科技风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3451</Words>
  <Application>WPS 演示</Application>
  <PresentationFormat>On-screen Show (4:3)</PresentationFormat>
  <Paragraphs>426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Arial</vt:lpstr>
      <vt:lpstr>MiSans Normal</vt:lpstr>
      <vt:lpstr>微软雅黑</vt:lpstr>
      <vt:lpstr>黑体</vt:lpstr>
      <vt:lpstr>幼圆</vt:lpstr>
      <vt:lpstr>Arial Unicode MS</vt:lpstr>
      <vt:lpstr>Calibri</vt:lpstr>
      <vt:lpstr>Office Theme</vt:lpstr>
      <vt:lpstr>Office 主题​​</vt:lpstr>
      <vt:lpstr>基于AI大模型的地面沉降数据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GCF</cp:lastModifiedBy>
  <cp:revision>12</cp:revision>
  <dcterms:created xsi:type="dcterms:W3CDTF">2013-01-27T09:14:00Z</dcterms:created>
  <dcterms:modified xsi:type="dcterms:W3CDTF">2026-08-07T01:39:35Z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F79F32A95A7F4BB4B935A1A15CA7D188_12</vt:lpwstr>
  </property>
  <property fmtid="{D5CDD505-2E9C-101B-9397-08002B2CF9AE}" pid="3" name="KSOProductBuildVer">
    <vt:lpwstr>2052-12.1.0.18276</vt:lpwstr>
  </property>
</Properties>
</file>