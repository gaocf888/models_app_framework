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2" r:id="rId3"/>
    <p:sldId id="268" r:id="rId4"/>
    <p:sldId id="271" r:id="rId5"/>
    <p:sldId id="266" r:id="rId6"/>
    <p:sldId id="272" r:id="rId7"/>
    <p:sldId id="273" r:id="rId8"/>
    <p:sldId id="274" r:id="rId9"/>
    <p:sldId id="275" r:id="rId10"/>
    <p:sldId id="276" r:id="rId11"/>
    <p:sldId id="280" r:id="rId13"/>
    <p:sldId id="277" r:id="rId14"/>
    <p:sldId id="278" r:id="rId15"/>
    <p:sldId id="26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3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" initials="T" lastIdx="0" clrIdx="0"/>
  <p:cmAuthor id="2" name="a" initials="a" lastIdx="0" clrIdx="1"/>
  <p:cmAuthor id="3" name="User" initials="U" lastIdx="0" clrIdx="2"/>
  <p:cmAuthor id="4" name="admin" initials="a" lastIdx="0" clrIdx="3"/>
  <p:cmAuthor id="5" name="未知用户2" initials="未知用户2" lastIdx="0" clrIdx="4"/>
  <p:cmAuthor id="6" name="wj" initials="w" lastIdx="0" clrIdx="5"/>
  <p:cmAuthor id="7" name="liang kaige" initials="lk" lastIdx="0" clrIdx="6"/>
  <p:cmAuthor id="8" name="office2437" initials="o" lastIdx="0" clrIdx="7"/>
  <p:cmAuthor id="9" name="陈玉霞" initials="陈玉霞" lastIdx="0" clrIdx="8"/>
  <p:cmAuthor id="10" name="Admin" initials="A" lastIdx="0" clrIdx="9"/>
  <p:cmAuthor id="11" name="wangdp" initials="wdp" lastIdx="0" clrIdx="10"/>
  <p:cmAuthor id="12" name="未知用户3" initials="未知用户3" lastIdx="0" clrIdx="11"/>
  <p:cmAuthor id="13" name="未知用户8" initials="未知用户8" lastIdx="0" clrIdx="12"/>
  <p:cmAuthor id="14" name="未知用户9" initials="未知用户9" lastIdx="0" clrIdx="13"/>
  <p:cmAuthor id="15" name="wulifang" initials="wlf" lastIdx="0" clrIdx="14"/>
  <p:cmAuthor id="16" name="彭润" initials="彭" lastIdx="0" clrIdx="15"/>
  <p:cmAuthor id="17" name="未知用户4" initials="未知用户4" lastIdx="0" clrIdx="16"/>
  <p:cmAuthor id="18" name="gt" initials="g" lastIdx="0" clrIdx="17"/>
  <p:cmAuthor id="19" name="未知用户5" initials="未知用户5" lastIdx="0" clrIdx="18"/>
  <p:cmAuthor id="20" name="未知用户15" initials="未知用户15" lastIdx="0" clrIdx="19"/>
  <p:cmAuthor id="21" name="Administrator" initials="A" lastIdx="0" clrIdx="20"/>
  <p:cmAuthor id="22" name="未知用户17" initials="未知用户17" lastIdx="0" clrIdx="21"/>
  <p:cmAuthor id="23" name="东方_b3dea543bad08e97" initials="authorId_278826930" lastIdx="0" clrIdx="22"/>
  <p:cmAuthor id="24" name="wangchao" initials="w" lastIdx="0" clrIdx="23"/>
  <p:cmAuthor id="25" name="未知用户18" initials="未知用户18" lastIdx="0" clrIdx="24"/>
  <p:cmAuthor id="26" name="未知用户19" initials="未知用户19" lastIdx="0" clrIdx="25"/>
  <p:cmAuthor id="27" name="未知用户20" initials="未知用户20" lastIdx="0" clrIdx="26"/>
  <p:cmAuthor id="28" name="未知用户21" initials="未知用户21" lastIdx="0" clrIdx="27"/>
  <p:cmAuthor id="29" name="未知用户22" initials="未知用户22" lastIdx="0" clrIdx="28"/>
  <p:cmAuthor id="30" name="未知用户23" initials="未知用户23" lastIdx="0" clrIdx="29"/>
  <p:cmAuthor id="31" name="未知用户24" initials="未知用户24" lastIdx="0" clrIdx="30"/>
  <p:cmAuthor id="32" name="未知用户25" initials="未知用户25" lastIdx="0" clrIdx="31"/>
  <p:cmAuthor id="33" name="未知用户26" initials="未知用户26" lastIdx="0" clrIdx="32"/>
  <p:cmAuthor id="34" name="未知用户27" initials="未知用户27" lastIdx="0" clrIdx="33"/>
  <p:cmAuthor id="35" name="未知用户28" initials="未知用户28" lastIdx="0" clrIdx="34"/>
  <p:cmAuthor id="36" name="未知用户6" initials="未知用户6" lastIdx="0" clrIdx="35"/>
  <p:cmAuthor id="37" name="XUWEI" initials="X" lastIdx="0" clrIdx="36"/>
  <p:cmAuthor id="38" name="仉 凯" initials="仉" lastIdx="0" clrIdx="37"/>
  <p:cmAuthor id="39" name="未知用户32" initials="未知用户32" lastIdx="0" clrIdx="38"/>
  <p:cmAuthor id="40" name="未知用户33" initials="未知用户33" lastIdx="0" clrIdx="39"/>
  <p:cmAuthor id="41" name="未知用户34" initials="未知用户34" lastIdx="0" clrIdx="40"/>
  <p:cmAuthor id="42" name="未知用户35" initials="未知用户35" lastIdx="0" clrIdx="41"/>
  <p:cmAuthor id="43" name="陈浩" initials="陈" lastIdx="0" clrIdx="42"/>
  <p:cmAuthor id="44" name="Weili.Lu" initials="W" lastIdx="0" clrIdx="43"/>
  <p:cmAuthor id="45" name="Willie 世彰 林" initials="W世林" lastIdx="0" clrIdx="44"/>
  <p:cmAuthor id="46" name="zining.xia(夏梓宁)" initials="z" lastIdx="0" clrIdx="45"/>
  <p:cmAuthor id="47" name="Mjf" initials="M" lastIdx="0" clrIdx="46"/>
  <p:cmAuthor id="48" name="未知用户93" initials="" lastIdx="0" clrIdx="47"/>
  <p:cmAuthor id="49" name="杨丽" initials="LY" lastIdx="0" clrIdx="48"/>
  <p:cmAuthor id="50" name="未知用户90" initials="" lastIdx="0" clrIdx="49"/>
  <p:cmAuthor id="51" name="Unicom" initials="U" lastIdx="0" clrIdx="50"/>
  <p:cmAuthor id="52" name="未知用户91" initials="" lastIdx="0" clrIdx="51"/>
  <p:cmAuthor id="53" name="范小双" initials="u" lastIdx="0" clrIdx="52"/>
  <p:cmAuthor id="54" name="未知用户92" initials="" lastIdx="0" clrIdx="53"/>
  <p:cmAuthor id="55" name="Tianyang Feng(联通集团信息化部（信息安全部）)" initials="TF" lastIdx="0" clrIdx="54"/>
  <p:cmAuthor id="56" name="未知用户74" initials="" lastIdx="0" clrIdx="55"/>
  <p:cmAuthor id="57" name="Iris YuanGao" initials="irgao" lastIdx="0" clrIdx="56"/>
  <p:cmAuthor id="58" name="未知用户75" initials="" lastIdx="0" clrIdx="57"/>
  <p:cmAuthor id="59" name="胡文慧" initials="胡" lastIdx="0" clrIdx="58"/>
  <p:cmAuthor id="60" name="未知用户76" initials="" lastIdx="0" clrIdx="59"/>
  <p:cmAuthor id="61" name="宁安亮" initials="N" lastIdx="0" clrIdx="60"/>
  <p:cmAuthor id="62" name="未知用户77" initials="" lastIdx="0" clrIdx="61"/>
  <p:cmAuthor id="63" name="未知用户78" initials="" lastIdx="0" clrIdx="62"/>
  <p:cmAuthor id="64" name="孙艺" initials="孙" lastIdx="0" clrIdx="63"/>
  <p:cmAuthor id="65" name="未知用户79" initials="" lastIdx="0" clrIdx="64"/>
  <p:cmAuthor id="66" name="BAIXX11" initials="W用" lastIdx="0" clrIdx="65"/>
  <p:cmAuthor id="67" name="未知用户80" initials="" lastIdx="0" clrIdx="66"/>
  <p:cmAuthor id="68" name="赵晨斌" initials="赵" lastIdx="0" clrIdx="67"/>
  <p:cmAuthor id="69" name="Harry xu" initials="" lastIdx="0" clrIdx="68"/>
  <p:cmAuthor id="70" name="shi jinuyu" initials="sj" lastIdx="0" clrIdx="69"/>
  <p:cmAuthor id="71" name="unilabs" initials="u" lastIdx="0" clrIdx="70"/>
  <p:cmAuthor id="72" name="李岩（IT）" initials="李" lastIdx="0" clrIdx="71"/>
  <p:cmAuthor id="73" name="未知用户111" initials="未" lastIdx="0" clrIdx="72"/>
  <p:cmAuthor id="74" name="13686" initials="1" lastIdx="0" clrIdx="73"/>
  <p:cmAuthor id="75" name="标注" initials="B" lastIdx="0" clrIdx="74"/>
  <p:cmAuthor id="76" name="周辉" initials="周" lastIdx="0" clrIdx="75"/>
  <p:cmAuthor id="77" name="ethel" initials="e" lastIdx="0" clrIdx="76"/>
  <p:cmAuthor id="78" name="ccb" initials="c" lastIdx="0" clrIdx="77"/>
  <p:cmAuthor id="79" name="zhouMa" initials="z" lastIdx="0" clrIdx="78"/>
  <p:cmAuthor id="80" name="sx_xuzx" initials="s" lastIdx="0" clrIdx="79"/>
  <p:cmAuthor id="81" name="陈驹洲" initials="陈" lastIdx="0" clrIdx="80"/>
  <p:cmAuthor id="82" name="tplife" initials="t" lastIdx="0" clrIdx="81"/>
  <p:cmAuthor id="83" name="10331183" initials="1" lastIdx="0" clrIdx="82"/>
  <p:cmAuthor id="84" name="孟 昕" initials="孟" lastIdx="0" clrIdx="83"/>
  <p:cmAuthor id="85" name="lenovo" initials="l" lastIdx="0" clrIdx="84"/>
  <p:cmAuthor id="86" name="Roet-Reinking, Nathalie" initials="R" lastIdx="0" clrIdx="85"/>
  <p:cmAuthor id="87" name="Redeker, Yolanda" initials="R" lastIdx="0" clrIdx="86"/>
  <p:cmAuthor id="88" name="Tseng, Melanie" initials="T" lastIdx="0" clrIdx="87"/>
  <p:cmAuthor id="89" name="杨素雯" initials="杨" lastIdx="0" clrIdx="88"/>
  <p:cmAuthor id="90" name="liutAO" initials="l" lastIdx="0" clrIdx="89"/>
  <p:cmAuthor id="91" name="Tao, Sherry Sitong" initials="T" lastIdx="0" clrIdx="90"/>
  <p:cmAuthor id="92" name="Xin Wang (IB)" initials="X" lastIdx="0" clrIdx="91"/>
  <p:cmAuthor id="93" name="hj" initials="h" lastIdx="0" clrIdx="92"/>
  <p:cmAuthor id="94" name="成洁" initials="成" lastIdx="0" clrIdx="93"/>
  <p:cmAuthor id="95" name="IKKI" initials="I" lastIdx="0" clrIdx="94"/>
  <p:cmAuthor id="96" name="於宝泉" initials="於" lastIdx="0" clrIdx="95"/>
  <p:cmAuthor id="97" name="王一哲" initials="wyz" lastIdx="0" clrIdx="96"/>
  <p:cmAuthor id="98" name="weijj52" initials="w" lastIdx="0" clrIdx="97"/>
  <p:cmAuthor id="99" name="Author" initials="A" lastIdx="0" clrIdx="98"/>
  <p:cmAuthor id="100" name="殷格非" initials="殷" lastIdx="0" clrIdx="99"/>
  <p:cmAuthor id="101" name="王凯10177225" initials="王凯10177225" lastIdx="0" clrIdx="100"/>
  <p:cmAuthor id="102" name="z r" initials="zr" lastIdx="0" clrIdx="101"/>
  <p:cmAuthor id="103" name="wangjiarui" initials="w" lastIdx="0" clrIdx="102"/>
  <p:cmAuthor id="104" name="8310" initials="8" lastIdx="0" clrIdx="103"/>
  <p:cmAuthor id="105" name="马媛" initials="马" lastIdx="0" clrIdx="104"/>
  <p:cmAuthor id="106" name="Aqf" initials="A" lastIdx="0" clrIdx="105"/>
  <p:cmAuthor id="107" name="徐芳" initials="徐" lastIdx="0" clrIdx="106"/>
  <p:cmAuthor id="108" name="许嘉珍" initials="u" lastIdx="0" clrIdx="107"/>
  <p:cmAuthor id="109" name="黄珂10009187" initials="黄珂10009187" lastIdx="0" clrIdx="108"/>
  <p:cmAuthor id="110" name="赵欣" initials="zx" lastIdx="0" clrIdx="109"/>
  <p:cmAuthor id="111" name="Charley" initials="C" lastIdx="0" clrIdx="110"/>
  <p:cmAuthor id="112" name="Cindy-NB" initials="C" lastIdx="0" clrIdx="111"/>
  <p:cmAuthor id="113" name="未知的使用者4" initials="未" lastIdx="0" clrIdx="112"/>
  <p:cmAuthor id="114" name="panyl25" initials="p" lastIdx="0" clrIdx="113"/>
  <p:cmAuthor id="115" name="刘凯铃" initials="刘" lastIdx="0" clrIdx="114"/>
  <p:cmAuthor id="116" name="guocc" initials="g" lastIdx="0" clrIdx="115"/>
  <p:cmAuthor id="117" name="未知的使用者1" initials="未" lastIdx="0" clrIdx="116"/>
  <p:cmAuthor id="118" name="未知的使用者2" initials="未" lastIdx="0" clrIdx="117"/>
  <p:cmAuthor id="119" name="未知的使用者7" initials="未" lastIdx="0" clrIdx="118"/>
  <p:cmAuthor id="120" name="zhangxc210" initials="z" lastIdx="0" clrIdx="119"/>
  <p:cmAuthor id="121" name="wyao8" initials="w" lastIdx="0" clrIdx="120"/>
  <p:cmAuthor id="122" name="未知的使用者21" initials="未" lastIdx="0" clrIdx="121"/>
  <p:cmAuthor id="123" name="MLOONG" initials="M" lastIdx="0" clrIdx="122"/>
  <p:cmAuthor id="124" name="沈霄雷" initials="沈" lastIdx="0" clrIdx="123"/>
  <p:cmAuthor id="125" name="lantj" initials="l" lastIdx="0" clrIdx="124"/>
  <p:cmAuthor id="126" name="张钰" initials="张" lastIdx="0" clrIdx="125"/>
  <p:cmAuthor id="127" name="zhangjj" initials="z" lastIdx="0" clrIdx="126"/>
  <p:cmAuthor id="128" name="郭 浩" initials="郭" lastIdx="0" clrIdx="127"/>
  <p:cmAuthor id="129" name="Shirley" initials="S" lastIdx="0" clrIdx="128"/>
  <p:cmAuthor id="130" name="unicom" initials="" lastIdx="0" clrIdx="129"/>
  <p:cmAuthor id="131" name="未知的使用者70" initials="" lastIdx="0" clrIdx="130"/>
  <p:cmAuthor id="132" name="席琛" initials="" lastIdx="0" clrIdx="131"/>
  <p:cmAuthor id="133" name="未知的使用者85" initials="" lastIdx="0" clrIdx="132"/>
  <p:cmAuthor id="134" name="wumeng" initials="w" lastIdx="0" clrIdx="133"/>
  <p:cmAuthor id="135" name="施普希（菜菜）" initials="施" lastIdx="0" clrIdx="134"/>
  <p:cmAuthor id="136" name="未知的使用者87" initials="" lastIdx="0" clrIdx="135"/>
  <p:cmAuthor id="137" name="yu 1" initials="y1" lastIdx="0" clrIdx="136"/>
  <p:cmAuthor id="138" name="Saku Uchikawa" initials="S" lastIdx="0" clrIdx="137"/>
  <p:cmAuthor id="139" name="李 嘉" initials="李" lastIdx="0" clrIdx="138"/>
  <p:cmAuthor id="140" name="未知的使用者90" initials="" lastIdx="0" clrIdx="139"/>
  <p:cmAuthor id="141" name="gus9@chinaunicom.cn" initials="g" lastIdx="0" clrIdx="140"/>
  <p:cmAuthor id="142" name="張秀娟" initials="張" lastIdx="0" clrIdx="141"/>
  <p:cmAuthor id="143" name="未知的使用者34" initials="未" lastIdx="0" clrIdx="142"/>
  <p:cmAuthor id="144" name="未知的使用者98" initials="" lastIdx="0" clrIdx="143"/>
  <p:cmAuthor id="145" name="CHRISYU" initials="" lastIdx="0" clrIdx="144"/>
  <p:cmAuthor id="146" name="未知的使用者113" initials="" lastIdx="0" clrIdx="145"/>
  <p:cmAuthor id="147" name="liucunri" initials="" lastIdx="0" clrIdx="146"/>
  <p:cmAuthor id="148" name="qihua-DCMS" initials="q" lastIdx="0" clrIdx="147"/>
  <p:cmAuthor id="149" name="Unknown User48" initials="" lastIdx="0" clrIdx="148"/>
  <p:cmAuthor id="150" name="未知用户82" initials="未知用户82" lastIdx="0" clrIdx="149"/>
  <p:cmAuthor id="151" name="未知用户83" initials="未知用户83" lastIdx="0" clrIdx="150"/>
  <p:cmAuthor id="152" name="未知用户84" initials="未知用户84" lastIdx="0" clrIdx="151"/>
  <p:cmAuthor id="153" name="未知用户137" initials="未知用户137" lastIdx="0" clrIdx="152"/>
  <p:cmAuthor id="154" name="未知用户138" initials="未知用户138" lastIdx="0" clrIdx="153"/>
  <p:cmAuthor id="155" name="作者" initials="A" lastIdx="0" clrIdx="154"/>
  <p:cmAuthor id="156" name="黄译萱(联通上海市上海市分公司)" initials="MSOffice" lastIdx="0" clrIdx="155"/>
  <p:cmAuthor id="157" name="邵丹(联通上海市上海市分公司)" initials="邵丹(联通上海市上海市分公司)" lastIdx="0" clrIdx="156"/>
  <p:cmAuthor id="158" name="Lina Hang(联通上海市上海市分公司)" initials="LH" lastIdx="0" clrIdx="157"/>
  <p:cmAuthor id="159" name="未知的使用者16" initials="未" lastIdx="0" clrIdx="158"/>
  <p:cmAuthor id="160" name="未知的使用者13" initials="未" lastIdx="0" clrIdx="159"/>
  <p:cmAuthor id="161" name="未知的使用者14" initials="未" lastIdx="0" clrIdx="160"/>
  <p:cmAuthor id="162" name="廖麗華" initials="廖" lastIdx="0" clrIdx="161"/>
  <p:cmAuthor id="163" name="未知的使用者12" initials="未" lastIdx="0" clrIdx="162"/>
  <p:cmAuthor id="164" name="未知用户129" initials="未知用户129" lastIdx="0" clrIdx="163"/>
  <p:cmAuthor id="165" name="唐可欣" initials="唐" lastIdx="0" clrIdx="164"/>
  <p:cmAuthor id="166" name="王鹏凯" initials="" lastIdx="0" clrIdx="165"/>
  <p:cmAuthor id="167" name="未知的使用者35" initials="未" lastIdx="0" clrIdx="166"/>
  <p:cmAuthor id="168" name="未知的使用者33" initials="未" lastIdx="0" clrIdx="167"/>
  <p:cmAuthor id="169" name="未知的使用者93" initials="" lastIdx="0" clrIdx="168"/>
  <p:cmAuthor id="170" name="LeeElva" initials="" lastIdx="0" clrIdx="169"/>
  <p:cmAuthor id="171" name="未知用户99" initials="" lastIdx="0" clrIdx="170"/>
  <p:cmAuthor id="172" name="未知的使用者115" initials="" lastIdx="0" clrIdx="171"/>
  <p:cmAuthor id="173" name="未知用户57" initials="" lastIdx="0" clrIdx="172"/>
  <p:cmAuthor id="174" name="lianghb" initials="" lastIdx="0" clrIdx="173"/>
  <p:cmAuthor id="175" name="Deanna Schuler (Bookey Consulting)" initials="" lastIdx="0" clrIdx="174"/>
  <p:cmAuthor id="176" name="未知的使用者57" initials="未" lastIdx="0" clrIdx="175"/>
  <p:cmAuthor id="177" name="未知用户102" initials="" lastIdx="0" clrIdx="176"/>
  <p:cmAuthor id="178" name="maxine" initials="" lastIdx="0" clrIdx="177"/>
  <p:cmAuthor id="179" name="未知的使用者121" initials="" lastIdx="0" clrIdx="178"/>
  <p:cmAuthor id="180" name="周元元" initials="" lastIdx="0" clrIdx="179"/>
  <p:cmAuthor id="181" name="未知的使用者27" initials="" lastIdx="0" clrIdx="180"/>
  <p:cmAuthor id="182" name="未知的使用者30" initials="" lastIdx="0" clrIdx="181"/>
  <p:cmAuthor id="183" name="未知的使用者53" initials="" lastIdx="0" clrIdx="182"/>
  <p:cmAuthor id="184" name="未知用户58" initials="" lastIdx="0" clrIdx="183"/>
  <p:cmAuthor id="185" name="未知的使用者25" initials="" lastIdx="0" clrIdx="184"/>
  <p:cmAuthor id="186" name="liupeng" initials="" lastIdx="0" clrIdx="185"/>
  <p:cmAuthor id="187" name="AbuSina" initials="" lastIdx="0" clrIdx="186"/>
  <p:cmAuthor id="188" name="hl sun" initials="" lastIdx="0" clrIdx="187"/>
  <p:cmAuthor id="189" name="未知的使用者94" initials="" lastIdx="0" clrIdx="188"/>
  <p:cmAuthor id="190" name="未知用户66" initials="" lastIdx="0" clrIdx="189"/>
  <p:cmAuthor id="191" name="周宏達JerryChou" initials="" lastIdx="0" clrIdx="190"/>
  <p:cmAuthor id="192" name="未知用户7" initials="" lastIdx="0" clrIdx="191"/>
  <p:cmAuthor id="193" name="未知的使用者56" initials="" lastIdx="0" clrIdx="192"/>
  <p:cmAuthor id="194" name="未知的使用者119" initials="" lastIdx="0" clrIdx="193"/>
  <p:cmAuthor id="195" name="未知用户59" initials="" lastIdx="0" clrIdx="194"/>
  <p:cmAuthor id="196" name="未知的使用者22" initials="" lastIdx="0" clrIdx="195"/>
  <p:cmAuthor id="197" name="未知的使用者103" initials="" lastIdx="0" clrIdx="196"/>
  <p:cmAuthor id="198" name="Wenwen" initials="" lastIdx="0" clrIdx="197"/>
  <p:cmAuthor id="199" name="未知的使用者117" initials="" lastIdx="0" clrIdx="198"/>
  <p:cmAuthor id="200" name="未知的使用者28" initials="" lastIdx="0" clrIdx="199"/>
  <p:cmAuthor id="201" name="未知用户67" initials="" lastIdx="0" clrIdx="200"/>
  <p:cmAuthor id="202" name="未知用户114" initials="" lastIdx="0" clrIdx="201"/>
  <p:cmAuthor id="203" name="未知的使用者67" initials="" lastIdx="0" clrIdx="202"/>
  <p:cmAuthor id="204" name="未知的使用者46" initials="" lastIdx="0" clrIdx="203"/>
  <p:cmAuthor id="205" name="未知的使用者26" initials="" lastIdx="0" clrIdx="204"/>
  <p:cmAuthor id="206" name="未知的使用者43" initials="" lastIdx="0" clrIdx="205"/>
  <p:cmAuthor id="207" name="未知的使用者9" initials="" lastIdx="0" clrIdx="206"/>
  <p:cmAuthor id="208" name="未知用户62" initials="" lastIdx="0" clrIdx="207"/>
  <p:cmAuthor id="209" name="yuanzh" initials="" lastIdx="0" clrIdx="208"/>
  <p:cmAuthor id="210" name="不明使用者57" initials="" lastIdx="0" clrIdx="209"/>
  <p:cmAuthor id="211" name="未知用户108" initials="" lastIdx="0" clrIdx="210"/>
  <p:cmAuthor id="212" name="未知的使用者110" initials="" lastIdx="0" clrIdx="211"/>
  <p:cmAuthor id="213" name="linyd" initials="" lastIdx="0" clrIdx="212"/>
  <p:cmAuthor id="214" name="未知的使用者31" initials="" lastIdx="0" clrIdx="213"/>
  <p:cmAuthor id="215" name="未知用户81" initials="" lastIdx="0" clrIdx="214"/>
  <p:cmAuthor id="216" name="未知用户115" initials="" lastIdx="0" clrIdx="215"/>
  <p:cmAuthor id="217" name="未知的使用者68" initials="" lastIdx="0" clrIdx="216"/>
  <p:cmAuthor id="218" name="mm" initials="" lastIdx="0" clrIdx="217"/>
  <p:cmAuthor id="219" name="朱晓瑜" initials="" lastIdx="0" clrIdx="218"/>
  <p:cmAuthor id="220" name="不明使用者20" initials="" lastIdx="0" clrIdx="219"/>
  <p:cmAuthor id="221" name="云成龙_JVVjiM7N" initials="authorId_318141806" lastIdx="0" clrIdx="220"/>
  <p:cmAuthor id="222" name="潘 晨" initials="潘" lastIdx="0" clrIdx="221"/>
  <p:cmAuthor id="223" name="song manyi" initials="sm" lastIdx="0" clrIdx="222"/>
  <p:cmAuthor id="224" name="梁鹏" initials="u" lastIdx="0" clrIdx="223"/>
  <p:cmAuthor id="225" name="未知的使用者55" initials="" lastIdx="0" clrIdx="224"/>
  <p:cmAuthor id="226" name="范 斌" initials="范" lastIdx="0" clrIdx="225"/>
  <p:cmAuthor id="227" name="未知的使用者111" initials="" lastIdx="0" clrIdx="226"/>
  <p:cmAuthor id="228" name="毕邺" initials="党委办公室" lastIdx="0" clrIdx="227"/>
  <p:cmAuthor id="229" name="未知的使用者50" initials="" lastIdx="0" clrIdx="228"/>
  <p:cmAuthor id="230" name="jiaru tiger" initials="jt" lastIdx="0" clrIdx="229"/>
  <p:cmAuthor id="231" name="未知的使用者11" initials="" lastIdx="0" clrIdx="230"/>
  <p:cmAuthor id="232" name="李敏" initials="李" lastIdx="0" clrIdx="231"/>
  <p:cmAuthor id="233" name="未知用户47" initials="" lastIdx="0" clrIdx="232"/>
  <p:cmAuthor id="234" name="小延魔法师" initials="小" lastIdx="0" clrIdx="233"/>
  <p:cmAuthor id="235" name="未知用户106" initials="未" lastIdx="0" clrIdx="234"/>
  <p:cmAuthor id="236" name="刘春杰10244342" initials="刘春杰10244342" lastIdx="0" clrIdx="235"/>
  <p:cmAuthor id="237" name="未知用户116" initials="" lastIdx="0" clrIdx="236"/>
  <p:cmAuthor id="238" name="li hui" initials="lh" lastIdx="0" clrIdx="237"/>
  <p:cmAuthor id="239" name="未知的使用者150" initials="未" lastIdx="0" clrIdx="238"/>
  <p:cmAuthor id="240" name="wangyishi (A)" initials="w(" lastIdx="0" clrIdx="239"/>
  <p:cmAuthor id="241" name="未知的使用者69" initials="" lastIdx="0" clrIdx="240"/>
  <p:cmAuthor id="242" name="佳慧 戴" initials="佳戴" lastIdx="0" clrIdx="241"/>
  <p:cmAuthor id="243" name="未知的使用者112" initials="" lastIdx="0" clrIdx="242"/>
  <p:cmAuthor id="244" name="Kevin Hu" initials="" lastIdx="0" clrIdx="243"/>
  <p:cmAuthor id="245" name="未知的使用者38" initials="" lastIdx="0" clrIdx="244"/>
  <p:cmAuthor id="246" name="未知的使用者8" initials="" lastIdx="0" clrIdx="245"/>
  <p:cmAuthor id="247" name="不明使用者56" initials="" lastIdx="0" clrIdx="246"/>
  <p:cmAuthor id="248" name="P00035_jeremy" initials="" lastIdx="0" clrIdx="247"/>
  <p:cmAuthor id="249" name="Unknown User7" initials="" lastIdx="0" clrIdx="248"/>
  <p:cmAuthor id="250" name="muzi wei" initials="" lastIdx="0" clrIdx="249"/>
  <p:cmAuthor id="251" name="曾蓓/贝贝" initials="曾" lastIdx="0" clrIdx="250"/>
  <p:cmAuthor id="252" name="未知的使用者41" initials="" lastIdx="0" clrIdx="251"/>
  <p:cmAuthor id="253" name="djj" initials="" lastIdx="0" clrIdx="252"/>
  <p:cmAuthor id="254" name="未知用户117" initials="" lastIdx="0" clrIdx="253"/>
  <p:cmAuthor id="255" name="未知用户13" initials="" lastIdx="0" clrIdx="254"/>
  <p:cmAuthor id="256" name="不明使用者21" initials="" lastIdx="0" clrIdx="255"/>
  <p:cmAuthor id="257" name="YUMINGNJ" initials="" lastIdx="0" clrIdx="256"/>
  <p:cmAuthor id="258" name="未知的使用者52" initials="" lastIdx="0" clrIdx="257"/>
  <p:cmAuthor id="259" name="未知用户109" initials="" lastIdx="0" clrIdx="258"/>
  <p:cmAuthor id="260" name="Unknown User117" initials="U" lastIdx="0" clrIdx="259"/>
  <p:cmAuthor id="261" name="thomas" initials="" lastIdx="0" clrIdx="260"/>
  <p:cmAuthor id="262" name="未知的使用者3" initials="" lastIdx="0" clrIdx="261"/>
  <p:cmAuthor id="263" name="未知用户14" initials="" lastIdx="0" clrIdx="262"/>
  <p:cmAuthor id="264" name="Unknown User65" initials="U" lastIdx="0" clrIdx="263"/>
  <p:cmAuthor id="265" name="未知用户98" initials="" lastIdx="0" clrIdx="264"/>
  <p:cmAuthor id="266" name="未知用户61" initials="" lastIdx="0" clrIdx="265"/>
  <p:cmAuthor id="267" name="Jason Wang" initials="" lastIdx="0" clrIdx="266"/>
  <p:cmAuthor id="268" name="不明使用者18" initials="" lastIdx="0" clrIdx="267"/>
  <p:cmAuthor id="269" name="未知的使用者72" initials="" lastIdx="0" clrIdx="268"/>
  <p:cmAuthor id="270" name="未知的使用者48" initials="" lastIdx="0" clrIdx="269"/>
  <p:cmAuthor id="271" name="未知的使用者104" initials="" lastIdx="0" clrIdx="270"/>
  <p:cmAuthor id="272" name="未知用户60" initials="" lastIdx="0" clrIdx="271"/>
  <p:cmAuthor id="273" name="未知的使用者39" initials="未" lastIdx="0" clrIdx="272"/>
  <p:cmAuthor id="274" name="Shawna Strickland" initials="" lastIdx="0" clrIdx="273"/>
  <p:cmAuthor id="275" name="未知的使用者36" initials="" lastIdx="0" clrIdx="274"/>
  <p:cmAuthor id="276" name="Daniel Wuu" initials="" lastIdx="0" clrIdx="275"/>
  <p:cmAuthor id="277" name="未知用户56" initials="" lastIdx="0" clrIdx="276"/>
  <p:cmAuthor id="278" name="仇怿俊" initials="仇" lastIdx="0" clrIdx="277"/>
  <p:cmAuthor id="279" name="Ashley Eberenz" initials="" lastIdx="0" clrIdx="278"/>
  <p:cmAuthor id="280" name="不明使用者19" initials="" lastIdx="0" clrIdx="279"/>
  <p:cmAuthor id="281" name="qiantong" initials="" lastIdx="0" clrIdx="280"/>
  <p:cmAuthor id="282" name="未知的使用者74" initials="" lastIdx="0" clrIdx="281"/>
  <p:cmAuthor id="283" name="未知的使用者23" initials="" lastIdx="0" clrIdx="282"/>
  <p:cmAuthor id="284" name="116304" initials="" lastIdx="0" clrIdx="283"/>
  <p:cmAuthor id="285" name="未知用户31" initials="未" lastIdx="0" clrIdx="284"/>
  <p:cmAuthor id="286" name="R affer" initials="" lastIdx="0" clrIdx="285"/>
  <p:cmAuthor id="287" name="未知用户55" initials="" lastIdx="0" clrIdx="286"/>
  <p:cmAuthor id="288" name="未知的使用者95" initials="" lastIdx="0" clrIdx="287"/>
  <p:cmAuthor id="289" name="未知的使用者32" initials="" lastIdx="0" clrIdx="288"/>
  <p:cmAuthor id="290" name="未知的使用者49" initials="" lastIdx="0" clrIdx="289"/>
  <p:cmAuthor id="291" name="Unknown User26" initials="U" lastIdx="0" clrIdx="290"/>
  <p:cmAuthor id="292" name="yuexuejun" initials="" lastIdx="0" clrIdx="291"/>
  <p:cmAuthor id="293" name="未知的使用者71" initials="" lastIdx="0" clrIdx="292"/>
  <p:cmAuthor id="294" name="未知的使用者105" initials="" lastIdx="0" clrIdx="293"/>
  <p:cmAuthor id="295" name="Unknown User70" initials="" lastIdx="0" clrIdx="294"/>
  <p:cmAuthor id="296" name="clinchen" initials="" lastIdx="0" clrIdx="295"/>
  <p:cmAuthor id="297" name="hanjuncompany" initials="" lastIdx="0" clrIdx="296"/>
  <p:cmAuthor id="298" name="kathy chen" initials="" lastIdx="0" clrIdx="297"/>
  <p:cmAuthor id="299" name="黄晓平" initials="黄" lastIdx="0" clrIdx="298"/>
  <p:cmAuthor id="300" name="未知的使用者63" initials="" lastIdx="0" clrIdx="299"/>
  <p:cmAuthor id="301" name="徐琳00159163" initials="徐琳00159163" lastIdx="0" clrIdx="300"/>
  <p:cmAuthor id="302" name="未知的使用者64" initials="" lastIdx="0" clrIdx="301"/>
  <p:cmAuthor id="303" name="未知的使用者47" initials="" lastIdx="0" clrIdx="302"/>
  <p:cmAuthor id="304" name="未知的使用者60" initials="" lastIdx="0" clrIdx="303"/>
  <p:cmAuthor id="305" name="未知的使用者59" initials="" lastIdx="0" clrIdx="304"/>
  <p:cmAuthor id="306" name="未知的使用者54" initials="" lastIdx="0" clrIdx="305"/>
  <p:cmAuthor id="307" name="未知的使用者66" initials="" lastIdx="0" clrIdx="306"/>
  <p:cmAuthor id="308" name="未知的使用者65" initials="" lastIdx="0" clrIdx="307"/>
  <p:cmAuthor id="309" name="未知的使用者106" initials="" lastIdx="0" clrIdx="308"/>
  <p:cmAuthor id="310" name="未知的使用者107" initials="" lastIdx="0" clrIdx="309"/>
  <p:cmAuthor id="311" name="未知的使用者108" initials="" lastIdx="0" clrIdx="310"/>
  <p:cmAuthor id="312" name="未知的使用者86" initials="" lastIdx="0" clrIdx="311"/>
  <p:cmAuthor id="313" name="未知的使用者116" initials="" lastIdx="0" clrIdx="312"/>
  <p:cmAuthor id="314" name="未知的使用者44" initials="" lastIdx="0" clrIdx="313"/>
  <p:cmAuthor id="315" name="未知的使用者37" initials="" lastIdx="0" clrIdx="314"/>
  <p:cmAuthor id="316" name="未知的使用者126" initials="" lastIdx="0" clrIdx="315"/>
  <p:cmAuthor id="317" name="未知的使用者127" initials="" lastIdx="0" clrIdx="316"/>
  <p:cmAuthor id="318" name="未知的使用者128" initials="" lastIdx="0" clrIdx="317"/>
  <p:cmAuthor id="319" name="未知的使用者124" initials="" lastIdx="0" clrIdx="318"/>
  <p:cmAuthor id="320" name="未知的使用者125" initials="" lastIdx="0" clrIdx="319"/>
  <p:cmAuthor id="321" name="Sara Chen" initials="" lastIdx="0" clrIdx="320"/>
  <p:cmAuthor id="322" name="huang gerrard" initials="" lastIdx="0" clrIdx="321"/>
  <p:cmAuthor id="323" name="未知用户170" initials="" lastIdx="0" clrIdx="322"/>
  <p:cmAuthor id="324" name="未知用户171" initials="" lastIdx="0" clrIdx="323"/>
  <p:cmAuthor id="325" name="未知用户172" initials="" lastIdx="0" clrIdx="324"/>
  <p:cmAuthor id="326" name="未知用户173" initials="" lastIdx="0" clrIdx="325"/>
  <p:cmAuthor id="327" name="未知用户149" initials="" lastIdx="0" clrIdx="326"/>
  <p:cmAuthor id="328" name="未知用户150" initials="" lastIdx="0" clrIdx="327"/>
  <p:cmAuthor id="329" name="未知用户151" initials="" lastIdx="0" clrIdx="328"/>
  <p:cmAuthor id="330" name="未知用户152" initials="" lastIdx="0" clrIdx="329"/>
  <p:cmAuthor id="331" name="未知用户153" initials="" lastIdx="0" clrIdx="330"/>
  <p:cmAuthor id="332" name="未知用户154" initials="" lastIdx="0" clrIdx="331"/>
  <p:cmAuthor id="333" name="未知用户155" initials="" lastIdx="0" clrIdx="332"/>
  <p:cmAuthor id="334" name="未知用户41" initials="" lastIdx="0" clrIdx="333"/>
  <p:cmAuthor id="335" name="未知用户44" initials="" lastIdx="0" clrIdx="334"/>
  <p:cmAuthor id="336" name="未知用户45" initials="" lastIdx="0" clrIdx="335"/>
  <p:cmAuthor id="337" name="未知用户156" initials="" lastIdx="0" clrIdx="336"/>
  <p:cmAuthor id="338" name="未知用户64" initials="" lastIdx="0" clrIdx="337"/>
  <p:cmAuthor id="339" name="未知用户65" initials="" lastIdx="0" clrIdx="338"/>
  <p:cmAuthor id="340" name="未知用户68" initials="" lastIdx="0" clrIdx="339"/>
  <p:cmAuthor id="341" name="未知用户69" initials="" lastIdx="0" clrIdx="340"/>
  <p:cmAuthor id="342" name="未知用户70" initials="" lastIdx="0" clrIdx="341"/>
  <p:cmAuthor id="343" name="未知用户71" initials="" lastIdx="0" clrIdx="342"/>
  <p:cmAuthor id="344" name="未知用户72" initials="" lastIdx="0" clrIdx="343"/>
  <p:cmAuthor id="345" name="未知用户73" initials="" lastIdx="0" clrIdx="344"/>
  <p:cmAuthor id="346" name="未知用户49" initials="" lastIdx="0" clrIdx="345"/>
  <p:cmAuthor id="347" name="未知用户50" initials="" lastIdx="0" clrIdx="346"/>
  <p:cmAuthor id="348" name="未知用户52" initials="" lastIdx="0" clrIdx="347"/>
  <p:cmAuthor id="349" name="MA15" initials="" lastIdx="0" clrIdx="348"/>
  <p:cmAuthor id="350" name="未知用户53" initials="" lastIdx="0" clrIdx="349"/>
  <p:cmAuthor id="351" name="未知用户96" initials="" lastIdx="0" clrIdx="350"/>
  <p:cmAuthor id="352" name="未知用户48" initials="" lastIdx="0" clrIdx="351"/>
  <p:cmAuthor id="353" name="未知用户97" initials="" lastIdx="0" clrIdx="352"/>
  <p:cmAuthor id="354" name="未知用户40" initials="" lastIdx="0" clrIdx="353"/>
  <p:cmAuthor id="355" name="未知用户43" initials="" lastIdx="0" clrIdx="354"/>
  <p:cmAuthor id="356" name="未知用户100" initials="" lastIdx="0" clrIdx="355"/>
  <p:cmAuthor id="357" name="未知用户101" initials="" lastIdx="0" clrIdx="356"/>
  <p:cmAuthor id="358" name="韩雨" initials="韩" lastIdx="0" clrIdx="357"/>
  <p:cmAuthor id="359" name="未知用户29" initials="" lastIdx="0" clrIdx="358"/>
  <p:cmAuthor id="360" name="未知用户42" initials="" lastIdx="0" clrIdx="359"/>
  <p:cmAuthor id="361" name="未知的使用者109" initials="" lastIdx="0" clrIdx="360"/>
  <p:cmAuthor id="362" name="未知的使用者122" initials="" lastIdx="0" clrIdx="361"/>
  <p:cmAuthor id="363" name="未知的使用者123" initials="" lastIdx="0" clrIdx="362"/>
  <p:cmAuthor id="364" name="Loglu-HOME" initials="L" lastIdx="0" clrIdx="363"/>
  <p:cmAuthor id="365" name="王剑秋" initials="7" lastIdx="0" clrIdx="364"/>
  <p:cmAuthor id="366" name="kingsoft" initials="k" lastIdx="0" clrIdx="365"/>
  <p:cmAuthor id="367" name="server" initials="s" lastIdx="0" clrIdx="366"/>
  <p:cmAuthor id="368" name="polo" initials="p" lastIdx="0" clrIdx="367"/>
  <p:cmAuthor id="369" name="miche" initials="m" lastIdx="0" clrIdx="368"/>
  <p:cmAuthor id="370" name="博洋" initials="博洋" lastIdx="0" clrIdx="36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15962"/>
    <a:srgbClr val="F3C2C3"/>
    <a:srgbClr val="2FC1C3"/>
    <a:srgbClr val="3AB8A8"/>
    <a:srgbClr val="6CCAB3"/>
    <a:srgbClr val="D3EDED"/>
    <a:srgbClr val="F6EBCC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83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 1"/>
          <p:cNvSpPr txBox="1"/>
          <p:nvPr userDrawn="1"/>
        </p:nvSpPr>
        <p:spPr>
          <a:xfrm>
            <a:off x="0" y="2372360"/>
            <a:ext cx="12192847" cy="24511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txBody>
          <a:bodyPr vert="horz" lIns="121920" tIns="60960" rIns="121920" bIns="60960" rtlCol="0" anchor="ctr">
            <a:noAutofit/>
          </a:bodyPr>
          <a:lstStyle/>
          <a:p>
            <a:pPr algn="ctr" defTabSz="685800">
              <a:lnSpc>
                <a:spcPct val="140000"/>
              </a:lnSpc>
            </a:pPr>
            <a:endParaRPr lang="zh-CN" altLang="en-US" sz="2135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DFEF-FF75-46C0-AA5E-9E0DBF2526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首页，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272179" y="216888"/>
            <a:ext cx="6691371" cy="882496"/>
          </a:xfrm>
          <a:prstGeom prst="rect">
            <a:avLst/>
          </a:prstGeom>
        </p:spPr>
        <p:txBody>
          <a:bodyPr anchor="ctr" anchorCtr="0"/>
          <a:lstStyle>
            <a:lvl1pPr>
              <a:defRPr sz="2275" b="1">
                <a:solidFill>
                  <a:srgbClr val="5F5D5D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br>
              <a:rPr lang="en-US" altLang="zh-CN" dirty="0"/>
            </a:b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" name="矩形 1"/>
          <p:cNvSpPr>
            <a:spLocks noChangeArrowheads="1"/>
          </p:cNvSpPr>
          <p:nvPr userDrawn="1"/>
        </p:nvSpPr>
        <p:spPr bwMode="auto">
          <a:xfrm>
            <a:off x="0" y="216888"/>
            <a:ext cx="173183" cy="882496"/>
          </a:xfrm>
          <a:prstGeom prst="rect">
            <a:avLst/>
          </a:prstGeom>
          <a:solidFill>
            <a:srgbClr val="085598"/>
          </a:solidFill>
          <a:ln>
            <a:noFill/>
          </a:ln>
        </p:spPr>
        <p:txBody>
          <a:bodyPr lIns="91434" tIns="45716" rIns="91434" bIns="4571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endParaRPr lang="zh-CN" altLang="en-US" sz="1705">
              <a:solidFill>
                <a:srgbClr val="FFFF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060" y="333876"/>
            <a:ext cx="2357887" cy="510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首页，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272179" y="331908"/>
            <a:ext cx="6691371" cy="340955"/>
          </a:xfrm>
          <a:prstGeom prst="rect">
            <a:avLst/>
          </a:prstGeom>
        </p:spPr>
        <p:txBody>
          <a:bodyPr anchor="ctr" anchorCtr="0"/>
          <a:lstStyle>
            <a:lvl1pPr>
              <a:defRPr sz="1800" b="1">
                <a:solidFill>
                  <a:srgbClr val="A6A6A6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idx="1"/>
          </p:nvPr>
        </p:nvSpPr>
        <p:spPr>
          <a:xfrm>
            <a:off x="272179" y="664905"/>
            <a:ext cx="7520351" cy="4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0" name="矩形 1"/>
          <p:cNvSpPr>
            <a:spLocks noChangeArrowheads="1"/>
          </p:cNvSpPr>
          <p:nvPr userDrawn="1"/>
        </p:nvSpPr>
        <p:spPr bwMode="auto">
          <a:xfrm>
            <a:off x="0" y="216888"/>
            <a:ext cx="173183" cy="882496"/>
          </a:xfrm>
          <a:prstGeom prst="rect">
            <a:avLst/>
          </a:prstGeom>
          <a:solidFill>
            <a:srgbClr val="085598"/>
          </a:solidFill>
          <a:ln>
            <a:noFill/>
          </a:ln>
        </p:spPr>
        <p:txBody>
          <a:bodyPr lIns="91434" tIns="45716" rIns="91434" bIns="4571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endParaRPr lang="zh-CN" altLang="en-US" sz="1705">
              <a:solidFill>
                <a:srgbClr val="FFFF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428691"/>
            <a:ext cx="932259" cy="449007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5026251" y="0"/>
            <a:ext cx="716575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5456575" y="6385061"/>
            <a:ext cx="641729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zh-CN" altLang="en-US" sz="2000" b="1" dirty="0">
                <a:solidFill>
                  <a:srgbClr val="C00000"/>
                </a:solidFill>
                <a:latin typeface="+mn-ea"/>
                <a:cs typeface="+mn-ea"/>
              </a:rPr>
              <a:t>安全合规、自主可控、先进智算、节能降耗，绿色环保。</a:t>
            </a:r>
            <a:endParaRPr lang="zh-CN" altLang="en-US" sz="2000" b="1" dirty="0">
              <a:solidFill>
                <a:srgbClr val="C0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首页，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6022665" y="0"/>
            <a:ext cx="6169336" cy="6857999"/>
          </a:xfrm>
          <a:prstGeom prst="rect">
            <a:avLst/>
          </a:prstGeom>
          <a:solidFill>
            <a:srgbClr val="085192"/>
          </a:solidFill>
          <a:ln>
            <a:noFill/>
          </a:ln>
          <a:effectLst/>
        </p:spPr>
        <p:txBody>
          <a:bodyPr anchor="ctr"/>
          <a:lstStyle/>
          <a:p>
            <a:pPr defTabSz="914400"/>
            <a:endParaRPr lang="zh-CN" altLang="en-US" dirty="0"/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272179" y="216888"/>
            <a:ext cx="5369495" cy="882496"/>
          </a:xfrm>
          <a:prstGeom prst="rect">
            <a:avLst/>
          </a:prstGeom>
        </p:spPr>
        <p:txBody>
          <a:bodyPr anchor="ctr" anchorCtr="0"/>
          <a:lstStyle>
            <a:lvl1pPr>
              <a:defRPr sz="2275" b="1">
                <a:solidFill>
                  <a:srgbClr val="5F5D5D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br>
              <a:rPr lang="en-US" altLang="zh-CN" dirty="0"/>
            </a:b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" name="矩形 1"/>
          <p:cNvSpPr>
            <a:spLocks noChangeArrowheads="1"/>
          </p:cNvSpPr>
          <p:nvPr userDrawn="1"/>
        </p:nvSpPr>
        <p:spPr bwMode="auto">
          <a:xfrm>
            <a:off x="0" y="216888"/>
            <a:ext cx="173183" cy="882496"/>
          </a:xfrm>
          <a:prstGeom prst="rect">
            <a:avLst/>
          </a:prstGeom>
          <a:solidFill>
            <a:srgbClr val="085598"/>
          </a:solidFill>
          <a:ln>
            <a:noFill/>
          </a:ln>
        </p:spPr>
        <p:txBody>
          <a:bodyPr lIns="91434" tIns="45716" rIns="91434" bIns="4571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endParaRPr lang="zh-CN" altLang="en-US" sz="170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4113" y="0"/>
            <a:ext cx="12187887" cy="6858000"/>
          </a:xfrm>
          <a:prstGeom prst="rect">
            <a:avLst/>
          </a:prstGeom>
          <a:solidFill>
            <a:srgbClr val="085598"/>
          </a:solidFill>
          <a:ln>
            <a:noFill/>
          </a:ln>
          <a:effectLst/>
        </p:spPr>
        <p:txBody>
          <a:bodyPr anchor="ctr"/>
          <a:lstStyle/>
          <a:p>
            <a:pPr defTabSz="914400"/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48" y="1234692"/>
            <a:ext cx="5599653" cy="5623309"/>
          </a:xfrm>
          <a:prstGeom prst="rect">
            <a:avLst/>
          </a:prstGeom>
        </p:spPr>
      </p:pic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287873" y="216888"/>
            <a:ext cx="6691371" cy="882496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5F5D5D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" name="矩形 1"/>
          <p:cNvSpPr>
            <a:spLocks noChangeArrowheads="1"/>
          </p:cNvSpPr>
          <p:nvPr userDrawn="1"/>
        </p:nvSpPr>
        <p:spPr bwMode="auto">
          <a:xfrm>
            <a:off x="0" y="216888"/>
            <a:ext cx="173183" cy="882496"/>
          </a:xfrm>
          <a:prstGeom prst="rect">
            <a:avLst/>
          </a:prstGeom>
          <a:solidFill>
            <a:srgbClr val="085598"/>
          </a:solidFill>
          <a:ln>
            <a:noFill/>
          </a:ln>
        </p:spPr>
        <p:txBody>
          <a:bodyPr lIns="91434" tIns="45716" rIns="91434" bIns="4571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endParaRPr lang="zh-CN" altLang="en-US" sz="1705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060" y="333876"/>
            <a:ext cx="2357887" cy="5108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首页，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287511" y="216888"/>
            <a:ext cx="6691371" cy="882496"/>
          </a:xfrm>
          <a:prstGeom prst="rect">
            <a:avLst/>
          </a:prstGeom>
        </p:spPr>
        <p:txBody>
          <a:bodyPr anchor="ctr" anchorCtr="0"/>
          <a:lstStyle>
            <a:lvl1pPr>
              <a:defRPr sz="2275" b="1">
                <a:solidFill>
                  <a:srgbClr val="5F5D5D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" name="矩形 1"/>
          <p:cNvSpPr>
            <a:spLocks noChangeArrowheads="1"/>
          </p:cNvSpPr>
          <p:nvPr userDrawn="1"/>
        </p:nvSpPr>
        <p:spPr bwMode="auto">
          <a:xfrm>
            <a:off x="0" y="216888"/>
            <a:ext cx="173183" cy="882496"/>
          </a:xfrm>
          <a:prstGeom prst="rect">
            <a:avLst/>
          </a:prstGeom>
          <a:solidFill>
            <a:srgbClr val="085598"/>
          </a:solidFill>
          <a:ln>
            <a:noFill/>
          </a:ln>
        </p:spPr>
        <p:txBody>
          <a:bodyPr lIns="91434" tIns="45716" rIns="91434" bIns="4571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endParaRPr lang="zh-CN" altLang="en-US" sz="1705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060" y="333876"/>
            <a:ext cx="2357887" cy="510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E0FA221F-E0C1-4F11-A883-74D4F2FCB8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38414301-9866-400E-BCAD-A01A7E154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2" Type="http://schemas.openxmlformats.org/officeDocument/2006/relationships/slideLayout" Target="../slideLayouts/slideLayout7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线条"/>
          <p:cNvSpPr/>
          <p:nvPr/>
        </p:nvSpPr>
        <p:spPr>
          <a:xfrm flipV="1">
            <a:off x="8331431" y="9382167"/>
            <a:ext cx="7948943" cy="0"/>
          </a:xfrm>
          <a:prstGeom prst="line">
            <a:avLst/>
          </a:prstGeom>
          <a:ln w="12700">
            <a:solidFill>
              <a:schemeClr val="bg1">
                <a:lumMod val="10000"/>
                <a:lumOff val="90000"/>
              </a:schemeClr>
            </a:solidFill>
            <a:miter lim="400000"/>
          </a:ln>
        </p:spPr>
        <p:txBody>
          <a:bodyPr lIns="24000" tIns="24000" rIns="24000" bIns="24000" anchor="ctr"/>
          <a:lstStyle/>
          <a:p>
            <a:pPr defTabSz="215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565" dirty="0"/>
          </a:p>
        </p:txBody>
      </p:sp>
      <p:sp>
        <p:nvSpPr>
          <p:cNvPr id="46" name="睿存创科商业计划书"/>
          <p:cNvSpPr txBox="1"/>
          <p:nvPr/>
        </p:nvSpPr>
        <p:spPr>
          <a:xfrm>
            <a:off x="600596" y="711515"/>
            <a:ext cx="5667932" cy="1629119"/>
          </a:xfrm>
          <a:prstGeom prst="rect">
            <a:avLst/>
          </a:prstGeom>
          <a:effectLst>
            <a:glow rad="139700">
              <a:srgbClr val="FF0000">
                <a:alpha val="40000"/>
              </a:srgb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3600" b="1" spc="53" dirty="0">
                <a:solidFill>
                  <a:srgbClr val="24E4F8"/>
                </a:solidFill>
              </a:rPr>
              <a:t>人工智能</a:t>
            </a:r>
            <a:r>
              <a:rPr lang="en-US" altLang="zh-CN" sz="3600" b="1" spc="53" dirty="0">
                <a:solidFill>
                  <a:srgbClr val="24E4F8"/>
                </a:solidFill>
              </a:rPr>
              <a:t>+</a:t>
            </a:r>
            <a:r>
              <a:rPr lang="zh-CN" altLang="en-US" sz="3600" b="1" spc="53" dirty="0">
                <a:solidFill>
                  <a:srgbClr val="24E4F8"/>
                </a:solidFill>
                <a:cs typeface="黑体" panose="02010609060101010101" charset="-122"/>
              </a:rPr>
              <a:t>先进智算</a:t>
            </a:r>
            <a:endParaRPr lang="en-US" altLang="zh-CN" sz="3600" b="1" spc="53" dirty="0">
              <a:solidFill>
                <a:srgbClr val="24E4F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 spc="53" dirty="0">
                <a:solidFill>
                  <a:srgbClr val="24E4F8"/>
                </a:solidFill>
                <a:latin typeface="幼圆" panose="02010509060101010101" pitchFamily="49" charset="-122"/>
                <a:ea typeface="幼圆" panose="02010509060101010101" pitchFamily="49" charset="-122"/>
                <a:cs typeface="黑体" panose="02010609060101010101" charset="-122"/>
              </a:rPr>
              <a:t>深度智算、启承未来</a:t>
            </a:r>
            <a:endParaRPr lang="zh-CN" altLang="en-US" b="1" spc="53" dirty="0">
              <a:solidFill>
                <a:srgbClr val="24E4F8"/>
              </a:solidFill>
              <a:latin typeface="幼圆" panose="02010509060101010101" pitchFamily="49" charset="-122"/>
              <a:ea typeface="幼圆" panose="02010509060101010101" pitchFamily="49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499" y="5229445"/>
            <a:ext cx="2697901" cy="534239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0" y="2372360"/>
            <a:ext cx="12192847" cy="24511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algn="ctr" defTabSz="685800">
              <a:lnSpc>
                <a:spcPct val="140000"/>
              </a:lnSpc>
            </a:pPr>
            <a:r>
              <a:rPr lang="zh-CN" altLang="en-US" sz="426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锅炉四管智能运维大模型</a:t>
            </a:r>
            <a:endParaRPr lang="zh-CN" altLang="en-US" sz="4265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algn="ctr" defTabSz="685800">
              <a:lnSpc>
                <a:spcPct val="140000"/>
              </a:lnSpc>
            </a:pPr>
            <a:r>
              <a:rPr lang="zh-CN" altLang="en-US" sz="4265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方案介绍</a:t>
            </a:r>
            <a:endParaRPr lang="zh-CN" altLang="en-US" sz="2135" b="1" spc="300" dirty="0">
              <a:solidFill>
                <a:srgbClr val="24E4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655" y="217170"/>
            <a:ext cx="9145905" cy="882650"/>
          </a:xfrm>
        </p:spPr>
        <p:txBody>
          <a:bodyPr/>
          <a:p>
            <a:r>
              <a:rPr lang="zh-CN" altLang="en-US"/>
              <a:t>行业痛点</a:t>
            </a:r>
            <a:endParaRPr lang="zh-CN" altLang="en-US"/>
          </a:p>
        </p:txBody>
      </p:sp>
      <p:sp>
        <p:nvSpPr>
          <p:cNvPr id="3" name="任意多边形: 形状 54"/>
          <p:cNvSpPr/>
          <p:nvPr>
            <p:custDataLst>
              <p:tags r:id="rId1"/>
            </p:custDataLst>
          </p:nvPr>
        </p:nvSpPr>
        <p:spPr>
          <a:xfrm>
            <a:off x="3550920" y="5078405"/>
            <a:ext cx="5036820" cy="1528261"/>
          </a:xfrm>
          <a:custGeom>
            <a:avLst/>
            <a:gdLst>
              <a:gd name="connsiteX0" fmla="*/ 3382630 w 3649211"/>
              <a:gd name="connsiteY0" fmla="*/ 0 h 1528261"/>
              <a:gd name="connsiteX1" fmla="*/ 3458334 w 3649211"/>
              <a:gd name="connsiteY1" fmla="*/ 433996 h 1528261"/>
              <a:gd name="connsiteX2" fmla="*/ 3649211 w 3649211"/>
              <a:gd name="connsiteY2" fmla="*/ 1528261 h 1528261"/>
              <a:gd name="connsiteX3" fmla="*/ 0 w 3649211"/>
              <a:gd name="connsiteY3" fmla="*/ 1528261 h 1528261"/>
              <a:gd name="connsiteX4" fmla="*/ 91150 w 3649211"/>
              <a:gd name="connsiteY4" fmla="*/ 1005719 h 1528261"/>
              <a:gd name="connsiteX5" fmla="*/ 171475 w 3649211"/>
              <a:gd name="connsiteY5" fmla="*/ 545229 h 152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49211" h="1528261">
                <a:moveTo>
                  <a:pt x="3382630" y="0"/>
                </a:moveTo>
                <a:lnTo>
                  <a:pt x="3458334" y="433996"/>
                </a:lnTo>
                <a:lnTo>
                  <a:pt x="3649211" y="1528261"/>
                </a:lnTo>
                <a:lnTo>
                  <a:pt x="0" y="1528261"/>
                </a:lnTo>
                <a:lnTo>
                  <a:pt x="91150" y="1005719"/>
                </a:lnTo>
                <a:lnTo>
                  <a:pt x="171475" y="545229"/>
                </a:ln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254000" dist="38100" dir="5400000" algn="t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: 形状 52"/>
          <p:cNvSpPr/>
          <p:nvPr>
            <p:custDataLst>
              <p:tags r:id="rId2"/>
            </p:custDataLst>
          </p:nvPr>
        </p:nvSpPr>
        <p:spPr>
          <a:xfrm>
            <a:off x="3786188" y="3719646"/>
            <a:ext cx="4419600" cy="1845359"/>
          </a:xfrm>
          <a:custGeom>
            <a:avLst/>
            <a:gdLst>
              <a:gd name="connsiteX0" fmla="*/ 321894 w 3211155"/>
              <a:gd name="connsiteY0" fmla="*/ 0 h 1845359"/>
              <a:gd name="connsiteX1" fmla="*/ 3060886 w 3211155"/>
              <a:gd name="connsiteY1" fmla="*/ 438666 h 1845359"/>
              <a:gd name="connsiteX2" fmla="*/ 3162225 w 3211155"/>
              <a:gd name="connsiteY2" fmla="*/ 1019622 h 1845359"/>
              <a:gd name="connsiteX3" fmla="*/ 3211155 w 3211155"/>
              <a:gd name="connsiteY3" fmla="*/ 1300130 h 1845359"/>
              <a:gd name="connsiteX4" fmla="*/ 0 w 3211155"/>
              <a:gd name="connsiteY4" fmla="*/ 1845359 h 1845359"/>
              <a:gd name="connsiteX5" fmla="*/ 226064 w 3211155"/>
              <a:gd name="connsiteY5" fmla="*/ 549377 h 1845359"/>
              <a:gd name="connsiteX6" fmla="*/ 310921 w 3211155"/>
              <a:gd name="connsiteY6" fmla="*/ 62907 h 1845359"/>
              <a:gd name="connsiteX7" fmla="*/ 321894 w 3211155"/>
              <a:gd name="connsiteY7" fmla="*/ 0 h 1845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1155" h="1845359">
                <a:moveTo>
                  <a:pt x="321894" y="0"/>
                </a:moveTo>
                <a:lnTo>
                  <a:pt x="3060886" y="438666"/>
                </a:lnTo>
                <a:lnTo>
                  <a:pt x="3162225" y="1019622"/>
                </a:lnTo>
                <a:lnTo>
                  <a:pt x="3211155" y="1300130"/>
                </a:lnTo>
                <a:lnTo>
                  <a:pt x="0" y="1845359"/>
                </a:lnTo>
                <a:lnTo>
                  <a:pt x="226064" y="549377"/>
                </a:lnTo>
                <a:lnTo>
                  <a:pt x="310921" y="62907"/>
                </a:lnTo>
                <a:lnTo>
                  <a:pt x="321894" y="0"/>
                </a:ln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254000" dist="38100" dir="5400000" algn="t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: 形状 45"/>
          <p:cNvSpPr/>
          <p:nvPr>
            <p:custDataLst>
              <p:tags r:id="rId3"/>
            </p:custDataLst>
          </p:nvPr>
        </p:nvSpPr>
        <p:spPr>
          <a:xfrm>
            <a:off x="4233863" y="2246220"/>
            <a:ext cx="3743199" cy="1854740"/>
          </a:xfrm>
          <a:custGeom>
            <a:avLst/>
            <a:gdLst>
              <a:gd name="connsiteX0" fmla="*/ 2415462 w 2738992"/>
              <a:gd name="connsiteY0" fmla="*/ 0 h 1854740"/>
              <a:gd name="connsiteX1" fmla="*/ 2540714 w 2738992"/>
              <a:gd name="connsiteY1" fmla="*/ 718051 h 1854740"/>
              <a:gd name="connsiteX2" fmla="*/ 2738992 w 2738992"/>
              <a:gd name="connsiteY2" fmla="*/ 1854740 h 1854740"/>
              <a:gd name="connsiteX3" fmla="*/ 0 w 2738992"/>
              <a:gd name="connsiteY3" fmla="*/ 1416074 h 1854740"/>
              <a:gd name="connsiteX4" fmla="*/ 128025 w 2738992"/>
              <a:gd name="connsiteY4" fmla="*/ 682129 h 1854740"/>
              <a:gd name="connsiteX5" fmla="*/ 2415462 w 2738992"/>
              <a:gd name="connsiteY5" fmla="*/ 0 h 185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8992" h="1854740">
                <a:moveTo>
                  <a:pt x="2415462" y="0"/>
                </a:moveTo>
                <a:lnTo>
                  <a:pt x="2540714" y="718051"/>
                </a:lnTo>
                <a:lnTo>
                  <a:pt x="2738992" y="1854740"/>
                </a:lnTo>
                <a:lnTo>
                  <a:pt x="0" y="1416074"/>
                </a:lnTo>
                <a:lnTo>
                  <a:pt x="128025" y="682129"/>
                </a:lnTo>
                <a:lnTo>
                  <a:pt x="2415462" y="0"/>
                </a:ln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254000" dist="38100" dir="5400000" algn="t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: 形状 38"/>
          <p:cNvSpPr/>
          <p:nvPr>
            <p:custDataLst>
              <p:tags r:id="rId4"/>
            </p:custDataLst>
          </p:nvPr>
        </p:nvSpPr>
        <p:spPr>
          <a:xfrm>
            <a:off x="4426420" y="1185308"/>
            <a:ext cx="3082694" cy="1667729"/>
          </a:xfrm>
          <a:custGeom>
            <a:avLst/>
            <a:gdLst>
              <a:gd name="connsiteX0" fmla="*/ 290909 w 2287437"/>
              <a:gd name="connsiteY0" fmla="*/ 0 h 1667729"/>
              <a:gd name="connsiteX1" fmla="*/ 2115514 w 2287437"/>
              <a:gd name="connsiteY1" fmla="*/ 0 h 1667729"/>
              <a:gd name="connsiteX2" fmla="*/ 2287437 w 2287437"/>
              <a:gd name="connsiteY2" fmla="*/ 985600 h 1667729"/>
              <a:gd name="connsiteX3" fmla="*/ 0 w 2287437"/>
              <a:gd name="connsiteY3" fmla="*/ 1667729 h 1667729"/>
              <a:gd name="connsiteX4" fmla="*/ 290909 w 2287437"/>
              <a:gd name="connsiteY4" fmla="*/ 0 h 1667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7437" h="1667729">
                <a:moveTo>
                  <a:pt x="290909" y="0"/>
                </a:moveTo>
                <a:lnTo>
                  <a:pt x="2115514" y="0"/>
                </a:lnTo>
                <a:lnTo>
                  <a:pt x="2287437" y="985600"/>
                </a:lnTo>
                <a:lnTo>
                  <a:pt x="0" y="1667729"/>
                </a:lnTo>
                <a:lnTo>
                  <a:pt x="290909" y="0"/>
                </a:ln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254000" dist="38100" dir="5400000" algn="t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: 形状 9"/>
          <p:cNvSpPr/>
          <p:nvPr/>
        </p:nvSpPr>
        <p:spPr>
          <a:xfrm>
            <a:off x="7234695" y="1874150"/>
            <a:ext cx="81660" cy="74725"/>
          </a:xfrm>
          <a:custGeom>
            <a:avLst/>
            <a:gdLst>
              <a:gd name="connsiteX0" fmla="*/ 81660 w 81660"/>
              <a:gd name="connsiteY0" fmla="*/ 74725 h 74725"/>
              <a:gd name="connsiteX1" fmla="*/ 26241 w 81660"/>
              <a:gd name="connsiteY1" fmla="*/ 65488 h 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660" h="74725">
                <a:moveTo>
                  <a:pt x="81660" y="74725"/>
                </a:moveTo>
                <a:cubicBezTo>
                  <a:pt x="23162" y="11609"/>
                  <a:pt x="-35335" y="-51506"/>
                  <a:pt x="26241" y="65488"/>
                </a:cubicBezTo>
              </a:path>
            </a:pathLst>
          </a:custGeom>
          <a:noFill/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"/>
            </p:custDataLst>
          </p:nvPr>
        </p:nvSpPr>
        <p:spPr>
          <a:xfrm rot="21142078">
            <a:off x="4343106" y="5720326"/>
            <a:ext cx="28670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决策缺乏支撑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6"/>
            </p:custDataLst>
          </p:nvPr>
        </p:nvSpPr>
        <p:spPr>
          <a:xfrm rot="164206">
            <a:off x="4894580" y="4332605"/>
            <a:ext cx="2878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故障效率低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>
            <a:off x="4795775" y="3001849"/>
            <a:ext cx="21971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</a:rPr>
              <a:t>查询门槛高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8"/>
            </p:custDataLst>
          </p:nvPr>
        </p:nvSpPr>
        <p:spPr>
          <a:xfrm>
            <a:off x="5158105" y="1604010"/>
            <a:ext cx="2442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</a:rPr>
              <a:t>知识利用低效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49" name="弧形 48"/>
          <p:cNvSpPr/>
          <p:nvPr>
            <p:custDataLst>
              <p:tags r:id="rId9"/>
            </p:custDataLst>
          </p:nvPr>
        </p:nvSpPr>
        <p:spPr>
          <a:xfrm rot="11029427">
            <a:off x="4196233" y="2327752"/>
            <a:ext cx="818638" cy="1134384"/>
          </a:xfrm>
          <a:prstGeom prst="arc">
            <a:avLst>
              <a:gd name="adj1" fmla="val 17136690"/>
              <a:gd name="adj2" fmla="val 4946851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headEnd type="stealth"/>
            <a:tailEnd type="stealth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弧形 49"/>
          <p:cNvSpPr/>
          <p:nvPr>
            <p:custDataLst>
              <p:tags r:id="rId10"/>
            </p:custDataLst>
          </p:nvPr>
        </p:nvSpPr>
        <p:spPr>
          <a:xfrm rot="11029427">
            <a:off x="3649645" y="5059381"/>
            <a:ext cx="818638" cy="1134384"/>
          </a:xfrm>
          <a:prstGeom prst="arc">
            <a:avLst>
              <a:gd name="adj1" fmla="val 17136690"/>
              <a:gd name="adj2" fmla="val 4946851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headEnd type="stealth"/>
            <a:tailEnd type="stealth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弧形 50"/>
          <p:cNvSpPr/>
          <p:nvPr>
            <p:custDataLst>
              <p:tags r:id="rId11"/>
            </p:custDataLst>
          </p:nvPr>
        </p:nvSpPr>
        <p:spPr>
          <a:xfrm rot="20503224">
            <a:off x="7442441" y="3565622"/>
            <a:ext cx="818638" cy="1134384"/>
          </a:xfrm>
          <a:prstGeom prst="arc">
            <a:avLst>
              <a:gd name="adj1" fmla="val 17136690"/>
              <a:gd name="adj2" fmla="val 4946851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headEnd type="stealth"/>
            <a:tailEnd type="stealth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: 圆角 76"/>
          <p:cNvSpPr/>
          <p:nvPr>
            <p:custDataLst>
              <p:tags r:id="rId12"/>
            </p:custDataLst>
          </p:nvPr>
        </p:nvSpPr>
        <p:spPr>
          <a:xfrm>
            <a:off x="9277350" y="6219799"/>
            <a:ext cx="2762250" cy="211816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左大括号 58"/>
          <p:cNvSpPr/>
          <p:nvPr>
            <p:custDataLst>
              <p:tags r:id="rId13"/>
            </p:custDataLst>
          </p:nvPr>
        </p:nvSpPr>
        <p:spPr>
          <a:xfrm rot="20963683">
            <a:off x="8650060" y="4121433"/>
            <a:ext cx="454491" cy="2499624"/>
          </a:xfrm>
          <a:prstGeom prst="leftBrace">
            <a:avLst>
              <a:gd name="adj1" fmla="val 8333"/>
              <a:gd name="adj2" fmla="val 49042"/>
            </a:avLst>
          </a:prstGeom>
          <a:ln>
            <a:solidFill>
              <a:srgbClr val="3855CB"/>
            </a:solidFill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: 圆角 84"/>
          <p:cNvSpPr/>
          <p:nvPr>
            <p:custDataLst>
              <p:tags r:id="rId14"/>
            </p:custDataLst>
          </p:nvPr>
        </p:nvSpPr>
        <p:spPr>
          <a:xfrm>
            <a:off x="375243" y="5720295"/>
            <a:ext cx="2762250" cy="211816"/>
          </a:xfrm>
          <a:prstGeom prst="roundRect">
            <a:avLst/>
          </a:prstGeom>
          <a:solidFill>
            <a:srgbClr val="1973C5"/>
          </a:solidFill>
          <a:ln>
            <a:noFill/>
          </a:ln>
          <a:effectLst>
            <a:outerShdw blurRad="254000" sx="102000" sy="102000" algn="ctr" rotWithShape="0">
              <a:srgbClr val="1973C5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左大括号 65"/>
          <p:cNvSpPr/>
          <p:nvPr>
            <p:custDataLst>
              <p:tags r:id="rId15"/>
            </p:custDataLst>
          </p:nvPr>
        </p:nvSpPr>
        <p:spPr>
          <a:xfrm rot="20776156">
            <a:off x="7856661" y="1568674"/>
            <a:ext cx="454491" cy="2202654"/>
          </a:xfrm>
          <a:prstGeom prst="leftBrace">
            <a:avLst>
              <a:gd name="adj1" fmla="val 8333"/>
              <a:gd name="adj2" fmla="val 49042"/>
            </a:avLst>
          </a:prstGeom>
          <a:ln>
            <a:solidFill>
              <a:srgbClr val="3855CB"/>
            </a:solidFill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左大括号 74"/>
          <p:cNvSpPr/>
          <p:nvPr>
            <p:custDataLst>
              <p:tags r:id="rId16"/>
            </p:custDataLst>
          </p:nvPr>
        </p:nvSpPr>
        <p:spPr>
          <a:xfrm rot="11551128">
            <a:off x="3898081" y="1239554"/>
            <a:ext cx="454491" cy="2202654"/>
          </a:xfrm>
          <a:prstGeom prst="leftBrace">
            <a:avLst>
              <a:gd name="adj1" fmla="val 8333"/>
              <a:gd name="adj2" fmla="val 49042"/>
            </a:avLst>
          </a:prstGeom>
          <a:ln>
            <a:solidFill>
              <a:srgbClr val="1973C5"/>
            </a:solidFill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: 圆角 13"/>
          <p:cNvSpPr/>
          <p:nvPr>
            <p:custDataLst>
              <p:tags r:id="rId17"/>
            </p:custDataLst>
          </p:nvPr>
        </p:nvSpPr>
        <p:spPr>
          <a:xfrm>
            <a:off x="448546" y="3189956"/>
            <a:ext cx="2762250" cy="211816"/>
          </a:xfrm>
          <a:prstGeom prst="roundRect">
            <a:avLst/>
          </a:prstGeom>
          <a:solidFill>
            <a:srgbClr val="1973C5"/>
          </a:solidFill>
          <a:ln>
            <a:noFill/>
          </a:ln>
          <a:effectLst>
            <a:outerShdw blurRad="254000" sx="102000" sy="102000" algn="ctr" rotWithShape="0">
              <a:srgbClr val="1973C5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18"/>
            </p:custDataLst>
          </p:nvPr>
        </p:nvSpPr>
        <p:spPr>
          <a:xfrm>
            <a:off x="477520" y="1445895"/>
            <a:ext cx="2733040" cy="1501140"/>
          </a:xfrm>
          <a:prstGeom prst="rect">
            <a:avLst/>
          </a:prstGeom>
          <a:noFill/>
          <a:ln>
            <a:solidFill>
              <a:srgbClr val="FFFFFF">
                <a:lumMod val="50000"/>
              </a:srgbClr>
            </a:solidFill>
            <a:prstDash val="lgDash"/>
          </a:ln>
        </p:spPr>
        <p:txBody>
          <a:bodyPr wrap="square" rtlCol="0">
            <a:noAutofit/>
          </a:bodyPr>
          <a:lstStyle/>
          <a:p>
            <a:pPr indent="0" algn="ctr"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accent1"/>
                </a:solidFill>
              </a:rPr>
              <a:t>知识利用低效，经验留不住</a:t>
            </a:r>
            <a:endParaRPr lang="zh-CN" altLang="en-US" sz="1400" b="1">
              <a:solidFill>
                <a:schemeClr val="accent1"/>
              </a:solidFill>
            </a:endParaRPr>
          </a:p>
          <a:p>
            <a:endParaRPr lang="zh-CN" altLang="en-US" sz="1200"/>
          </a:p>
          <a:p>
            <a:r>
              <a:rPr lang="zh-CN" altLang="en-US" sz="1200"/>
              <a:t>规程、案例、检修报告等非结构化文档堆积，人工查阅耗时；经验依赖口传，故障溯源依赖个人记忆，缺乏系统化知识复用。</a:t>
            </a:r>
            <a:endParaRPr lang="zh-CN" altLang="en-US" sz="1200"/>
          </a:p>
        </p:txBody>
      </p:sp>
      <p:sp>
        <p:nvSpPr>
          <p:cNvPr id="91" name="矩形: 圆角 19"/>
          <p:cNvSpPr/>
          <p:nvPr>
            <p:custDataLst>
              <p:tags r:id="rId19"/>
            </p:custDataLst>
          </p:nvPr>
        </p:nvSpPr>
        <p:spPr>
          <a:xfrm>
            <a:off x="8669473" y="3390099"/>
            <a:ext cx="2762250" cy="211816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20"/>
            </p:custDataLst>
          </p:nvPr>
        </p:nvSpPr>
        <p:spPr>
          <a:xfrm>
            <a:off x="8669655" y="1665605"/>
            <a:ext cx="2761615" cy="15246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rgbClr val="3855CB"/>
                </a:solidFill>
                <a:sym typeface="+mn-ea"/>
              </a:rPr>
              <a:t>数据查询门槛高，取数难</a:t>
            </a:r>
            <a:endParaRPr lang="zh-CN" altLang="en-US" sz="1400" b="1">
              <a:solidFill>
                <a:srgbClr val="3855CB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3855CB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运行数据、检修记录、测厚报告、缺陷台账等信息分散存储，缺乏统一管理和关联分析，数据价值难以充分发挥，</a:t>
            </a:r>
            <a:r>
              <a:rPr lang="zh-CN" altLang="en-US" sz="1200">
                <a:sym typeface="+mn-ea"/>
              </a:rPr>
              <a:t>应急响应时“等数据”耽误决策。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97" name="左大括号 96"/>
          <p:cNvSpPr/>
          <p:nvPr>
            <p:custDataLst>
              <p:tags r:id="rId21"/>
            </p:custDataLst>
          </p:nvPr>
        </p:nvSpPr>
        <p:spPr>
          <a:xfrm rot="11493865">
            <a:off x="3251620" y="4199612"/>
            <a:ext cx="454491" cy="1921505"/>
          </a:xfrm>
          <a:prstGeom prst="leftBrace">
            <a:avLst>
              <a:gd name="adj1" fmla="val 8333"/>
              <a:gd name="adj2" fmla="val 49042"/>
            </a:avLst>
          </a:prstGeom>
          <a:ln>
            <a:solidFill>
              <a:srgbClr val="1973C5"/>
            </a:solidFill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8" name="图形 64" descr="对话框"/>
          <p:cNvGrpSpPr/>
          <p:nvPr>
            <p:custDataLst>
              <p:tags r:id="rId22"/>
            </p:custDataLst>
          </p:nvPr>
        </p:nvGrpSpPr>
        <p:grpSpPr>
          <a:xfrm>
            <a:off x="4798946" y="1691643"/>
            <a:ext cx="359915" cy="360000"/>
            <a:chOff x="4941821" y="1691643"/>
            <a:chExt cx="359915" cy="360000"/>
          </a:xfrm>
          <a:solidFill>
            <a:srgbClr val="FFFFFF"/>
          </a:solidFill>
        </p:grpSpPr>
        <p:sp>
          <p:nvSpPr>
            <p:cNvPr id="99" name="任意多边形: 形状 27"/>
            <p:cNvSpPr/>
            <p:nvPr>
              <p:custDataLst>
                <p:tags r:id="rId23"/>
              </p:custDataLst>
            </p:nvPr>
          </p:nvSpPr>
          <p:spPr>
            <a:xfrm>
              <a:off x="5085334" y="1927893"/>
              <a:ext cx="182736" cy="123750"/>
            </a:xfrm>
            <a:custGeom>
              <a:avLst/>
              <a:gdLst>
                <a:gd name="connsiteX0" fmla="*/ 151799 w 182736"/>
                <a:gd name="connsiteY0" fmla="*/ 0 h 123750"/>
                <a:gd name="connsiteX1" fmla="*/ 182737 w 182736"/>
                <a:gd name="connsiteY1" fmla="*/ 30938 h 123750"/>
                <a:gd name="connsiteX2" fmla="*/ 182737 w 182736"/>
                <a:gd name="connsiteY2" fmla="*/ 92813 h 123750"/>
                <a:gd name="connsiteX3" fmla="*/ 151799 w 182736"/>
                <a:gd name="connsiteY3" fmla="*/ 123750 h 123750"/>
                <a:gd name="connsiteX4" fmla="*/ 70237 w 182736"/>
                <a:gd name="connsiteY4" fmla="*/ 123750 h 123750"/>
                <a:gd name="connsiteX5" fmla="*/ 39299 w 182736"/>
                <a:gd name="connsiteY5" fmla="*/ 92813 h 123750"/>
                <a:gd name="connsiteX6" fmla="*/ 39299 w 182736"/>
                <a:gd name="connsiteY6" fmla="*/ 51230 h 123750"/>
                <a:gd name="connsiteX7" fmla="*/ 2399 w 182736"/>
                <a:gd name="connsiteY7" fmla="*/ 14330 h 123750"/>
                <a:gd name="connsiteX8" fmla="*/ 648 w 182736"/>
                <a:gd name="connsiteY8" fmla="*/ 5196 h 123750"/>
                <a:gd name="connsiteX9" fmla="*/ 8362 w 182736"/>
                <a:gd name="connsiteY9" fmla="*/ 0 h 123750"/>
                <a:gd name="connsiteX10" fmla="*/ 151799 w 182736"/>
                <a:gd name="connsiteY10" fmla="*/ 0 h 123750"/>
                <a:gd name="connsiteX11" fmla="*/ 146174 w 182736"/>
                <a:gd name="connsiteY11" fmla="*/ 73125 h 123750"/>
                <a:gd name="connsiteX12" fmla="*/ 75862 w 182736"/>
                <a:gd name="connsiteY12" fmla="*/ 73125 h 123750"/>
                <a:gd name="connsiteX13" fmla="*/ 67424 w 182736"/>
                <a:gd name="connsiteY13" fmla="*/ 81563 h 123750"/>
                <a:gd name="connsiteX14" fmla="*/ 75862 w 182736"/>
                <a:gd name="connsiteY14" fmla="*/ 90000 h 123750"/>
                <a:gd name="connsiteX15" fmla="*/ 146174 w 182736"/>
                <a:gd name="connsiteY15" fmla="*/ 90000 h 123750"/>
                <a:gd name="connsiteX16" fmla="*/ 154612 w 182736"/>
                <a:gd name="connsiteY16" fmla="*/ 81563 h 123750"/>
                <a:gd name="connsiteX17" fmla="*/ 146174 w 182736"/>
                <a:gd name="connsiteY17" fmla="*/ 73125 h 123750"/>
                <a:gd name="connsiteX18" fmla="*/ 146174 w 182736"/>
                <a:gd name="connsiteY18" fmla="*/ 33750 h 123750"/>
                <a:gd name="connsiteX19" fmla="*/ 92737 w 182736"/>
                <a:gd name="connsiteY19" fmla="*/ 33750 h 123750"/>
                <a:gd name="connsiteX20" fmla="*/ 84299 w 182736"/>
                <a:gd name="connsiteY20" fmla="*/ 42188 h 123750"/>
                <a:gd name="connsiteX21" fmla="*/ 92737 w 182736"/>
                <a:gd name="connsiteY21" fmla="*/ 50625 h 123750"/>
                <a:gd name="connsiteX22" fmla="*/ 146174 w 182736"/>
                <a:gd name="connsiteY22" fmla="*/ 50625 h 123750"/>
                <a:gd name="connsiteX23" fmla="*/ 154612 w 182736"/>
                <a:gd name="connsiteY23" fmla="*/ 42188 h 123750"/>
                <a:gd name="connsiteX24" fmla="*/ 146174 w 182736"/>
                <a:gd name="connsiteY24" fmla="*/ 33750 h 12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736" h="123750">
                  <a:moveTo>
                    <a:pt x="151799" y="0"/>
                  </a:moveTo>
                  <a:cubicBezTo>
                    <a:pt x="168098" y="0"/>
                    <a:pt x="182737" y="14611"/>
                    <a:pt x="182737" y="30938"/>
                  </a:cubicBezTo>
                  <a:lnTo>
                    <a:pt x="182737" y="92813"/>
                  </a:lnTo>
                  <a:cubicBezTo>
                    <a:pt x="182737" y="109111"/>
                    <a:pt x="168112" y="123750"/>
                    <a:pt x="151799" y="123750"/>
                  </a:cubicBezTo>
                  <a:lnTo>
                    <a:pt x="70237" y="123750"/>
                  </a:lnTo>
                  <a:cubicBezTo>
                    <a:pt x="53924" y="123750"/>
                    <a:pt x="39299" y="109125"/>
                    <a:pt x="39299" y="92813"/>
                  </a:cubicBezTo>
                  <a:lnTo>
                    <a:pt x="39299" y="51230"/>
                  </a:lnTo>
                  <a:lnTo>
                    <a:pt x="2399" y="14330"/>
                  </a:lnTo>
                  <a:cubicBezTo>
                    <a:pt x="38" y="11911"/>
                    <a:pt x="-651" y="8317"/>
                    <a:pt x="648" y="5196"/>
                  </a:cubicBezTo>
                  <a:cubicBezTo>
                    <a:pt x="1946" y="2076"/>
                    <a:pt x="4982" y="31"/>
                    <a:pt x="8362" y="0"/>
                  </a:cubicBezTo>
                  <a:lnTo>
                    <a:pt x="151799" y="0"/>
                  </a:lnTo>
                  <a:moveTo>
                    <a:pt x="146174" y="73125"/>
                  </a:moveTo>
                  <a:lnTo>
                    <a:pt x="75862" y="73125"/>
                  </a:lnTo>
                  <a:cubicBezTo>
                    <a:pt x="71201" y="73125"/>
                    <a:pt x="67424" y="76902"/>
                    <a:pt x="67424" y="81563"/>
                  </a:cubicBezTo>
                  <a:cubicBezTo>
                    <a:pt x="67424" y="86223"/>
                    <a:pt x="71201" y="90000"/>
                    <a:pt x="75862" y="90000"/>
                  </a:cubicBezTo>
                  <a:lnTo>
                    <a:pt x="146174" y="90000"/>
                  </a:lnTo>
                  <a:cubicBezTo>
                    <a:pt x="150834" y="90000"/>
                    <a:pt x="154612" y="86223"/>
                    <a:pt x="154612" y="81563"/>
                  </a:cubicBezTo>
                  <a:cubicBezTo>
                    <a:pt x="154612" y="76902"/>
                    <a:pt x="150834" y="73125"/>
                    <a:pt x="146174" y="73125"/>
                  </a:cubicBezTo>
                  <a:moveTo>
                    <a:pt x="146174" y="33750"/>
                  </a:moveTo>
                  <a:lnTo>
                    <a:pt x="92737" y="33750"/>
                  </a:lnTo>
                  <a:cubicBezTo>
                    <a:pt x="88076" y="33750"/>
                    <a:pt x="84299" y="37527"/>
                    <a:pt x="84299" y="42188"/>
                  </a:cubicBezTo>
                  <a:cubicBezTo>
                    <a:pt x="84299" y="46848"/>
                    <a:pt x="88076" y="50625"/>
                    <a:pt x="92737" y="50625"/>
                  </a:cubicBezTo>
                  <a:lnTo>
                    <a:pt x="146174" y="50625"/>
                  </a:lnTo>
                  <a:cubicBezTo>
                    <a:pt x="150834" y="50625"/>
                    <a:pt x="154612" y="46848"/>
                    <a:pt x="154612" y="42188"/>
                  </a:cubicBezTo>
                  <a:cubicBezTo>
                    <a:pt x="154612" y="37527"/>
                    <a:pt x="150834" y="33750"/>
                    <a:pt x="146174" y="33750"/>
                  </a:cubicBez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28"/>
            <p:cNvSpPr/>
            <p:nvPr>
              <p:custDataLst>
                <p:tags r:id="rId24"/>
              </p:custDataLst>
            </p:nvPr>
          </p:nvSpPr>
          <p:spPr>
            <a:xfrm>
              <a:off x="4955883" y="1899768"/>
              <a:ext cx="112500" cy="151875"/>
            </a:xfrm>
            <a:custGeom>
              <a:avLst/>
              <a:gdLst>
                <a:gd name="connsiteX0" fmla="*/ 90000 w 112500"/>
                <a:gd name="connsiteY0" fmla="*/ 0 h 151875"/>
                <a:gd name="connsiteX1" fmla="*/ 112500 w 112500"/>
                <a:gd name="connsiteY1" fmla="*/ 22500 h 151875"/>
                <a:gd name="connsiteX2" fmla="*/ 112500 w 112500"/>
                <a:gd name="connsiteY2" fmla="*/ 129375 h 151875"/>
                <a:gd name="connsiteX3" fmla="*/ 90000 w 112500"/>
                <a:gd name="connsiteY3" fmla="*/ 151875 h 151875"/>
                <a:gd name="connsiteX4" fmla="*/ 22500 w 112500"/>
                <a:gd name="connsiteY4" fmla="*/ 151875 h 151875"/>
                <a:gd name="connsiteX5" fmla="*/ 0 w 112500"/>
                <a:gd name="connsiteY5" fmla="*/ 129375 h 151875"/>
                <a:gd name="connsiteX6" fmla="*/ 0 w 112500"/>
                <a:gd name="connsiteY6" fmla="*/ 22500 h 151875"/>
                <a:gd name="connsiteX7" fmla="*/ 22500 w 112500"/>
                <a:gd name="connsiteY7" fmla="*/ 0 h 151875"/>
                <a:gd name="connsiteX8" fmla="*/ 90000 w 112500"/>
                <a:gd name="connsiteY8" fmla="*/ 0 h 151875"/>
                <a:gd name="connsiteX9" fmla="*/ 67500 w 112500"/>
                <a:gd name="connsiteY9" fmla="*/ 109688 h 151875"/>
                <a:gd name="connsiteX10" fmla="*/ 45000 w 112500"/>
                <a:gd name="connsiteY10" fmla="*/ 109688 h 151875"/>
                <a:gd name="connsiteX11" fmla="*/ 36563 w 112500"/>
                <a:gd name="connsiteY11" fmla="*/ 118125 h 151875"/>
                <a:gd name="connsiteX12" fmla="*/ 45000 w 112500"/>
                <a:gd name="connsiteY12" fmla="*/ 126563 h 151875"/>
                <a:gd name="connsiteX13" fmla="*/ 67500 w 112500"/>
                <a:gd name="connsiteY13" fmla="*/ 126563 h 151875"/>
                <a:gd name="connsiteX14" fmla="*/ 75938 w 112500"/>
                <a:gd name="connsiteY14" fmla="*/ 118125 h 151875"/>
                <a:gd name="connsiteX15" fmla="*/ 67500 w 112500"/>
                <a:gd name="connsiteY15" fmla="*/ 109688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2500" h="151875">
                  <a:moveTo>
                    <a:pt x="90000" y="0"/>
                  </a:moveTo>
                  <a:cubicBezTo>
                    <a:pt x="102426" y="0"/>
                    <a:pt x="112500" y="10073"/>
                    <a:pt x="112500" y="22500"/>
                  </a:cubicBezTo>
                  <a:lnTo>
                    <a:pt x="112500" y="129375"/>
                  </a:lnTo>
                  <a:cubicBezTo>
                    <a:pt x="112500" y="141802"/>
                    <a:pt x="102426" y="151875"/>
                    <a:pt x="90000" y="151875"/>
                  </a:cubicBezTo>
                  <a:lnTo>
                    <a:pt x="22500" y="151875"/>
                  </a:lnTo>
                  <a:cubicBezTo>
                    <a:pt x="10074" y="151875"/>
                    <a:pt x="0" y="141802"/>
                    <a:pt x="0" y="129375"/>
                  </a:cubicBezTo>
                  <a:lnTo>
                    <a:pt x="0" y="22500"/>
                  </a:lnTo>
                  <a:cubicBezTo>
                    <a:pt x="0" y="10073"/>
                    <a:pt x="10074" y="0"/>
                    <a:pt x="22500" y="0"/>
                  </a:cubicBezTo>
                  <a:lnTo>
                    <a:pt x="90000" y="0"/>
                  </a:lnTo>
                  <a:moveTo>
                    <a:pt x="67500" y="109688"/>
                  </a:moveTo>
                  <a:lnTo>
                    <a:pt x="45000" y="109688"/>
                  </a:lnTo>
                  <a:cubicBezTo>
                    <a:pt x="40340" y="109688"/>
                    <a:pt x="36563" y="113465"/>
                    <a:pt x="36563" y="118125"/>
                  </a:cubicBezTo>
                  <a:cubicBezTo>
                    <a:pt x="36563" y="122785"/>
                    <a:pt x="40340" y="126563"/>
                    <a:pt x="45000" y="126563"/>
                  </a:cubicBezTo>
                  <a:lnTo>
                    <a:pt x="67500" y="126563"/>
                  </a:lnTo>
                  <a:cubicBezTo>
                    <a:pt x="72160" y="126563"/>
                    <a:pt x="75938" y="122785"/>
                    <a:pt x="75938" y="118125"/>
                  </a:cubicBezTo>
                  <a:cubicBezTo>
                    <a:pt x="75938" y="113465"/>
                    <a:pt x="72160" y="109688"/>
                    <a:pt x="67500" y="109688"/>
                  </a:cubicBez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29"/>
            <p:cNvSpPr/>
            <p:nvPr>
              <p:custDataLst>
                <p:tags r:id="rId25"/>
              </p:custDataLst>
            </p:nvPr>
          </p:nvSpPr>
          <p:spPr>
            <a:xfrm>
              <a:off x="5085265" y="1781643"/>
              <a:ext cx="216470" cy="129375"/>
            </a:xfrm>
            <a:custGeom>
              <a:avLst/>
              <a:gdLst>
                <a:gd name="connsiteX0" fmla="*/ 185533 w 216470"/>
                <a:gd name="connsiteY0" fmla="*/ 0 h 129375"/>
                <a:gd name="connsiteX1" fmla="*/ 216471 w 216470"/>
                <a:gd name="connsiteY1" fmla="*/ 30938 h 129375"/>
                <a:gd name="connsiteX2" fmla="*/ 216471 w 216470"/>
                <a:gd name="connsiteY2" fmla="*/ 98438 h 129375"/>
                <a:gd name="connsiteX3" fmla="*/ 185533 w 216470"/>
                <a:gd name="connsiteY3" fmla="*/ 129375 h 129375"/>
                <a:gd name="connsiteX4" fmla="*/ 8430 w 216470"/>
                <a:gd name="connsiteY4" fmla="*/ 129375 h 129375"/>
                <a:gd name="connsiteX5" fmla="*/ 642 w 216470"/>
                <a:gd name="connsiteY5" fmla="*/ 124165 h 129375"/>
                <a:gd name="connsiteX6" fmla="*/ 2468 w 216470"/>
                <a:gd name="connsiteY6" fmla="*/ 114975 h 129375"/>
                <a:gd name="connsiteX7" fmla="*/ 28118 w 216470"/>
                <a:gd name="connsiteY7" fmla="*/ 89269 h 129375"/>
                <a:gd name="connsiteX8" fmla="*/ 28118 w 216470"/>
                <a:gd name="connsiteY8" fmla="*/ 30938 h 129375"/>
                <a:gd name="connsiteX9" fmla="*/ 59055 w 216470"/>
                <a:gd name="connsiteY9" fmla="*/ 0 h 129375"/>
                <a:gd name="connsiteX10" fmla="*/ 185533 w 216470"/>
                <a:gd name="connsiteY10" fmla="*/ 0 h 129375"/>
                <a:gd name="connsiteX11" fmla="*/ 177096 w 216470"/>
                <a:gd name="connsiteY11" fmla="*/ 75938 h 129375"/>
                <a:gd name="connsiteX12" fmla="*/ 67493 w 216470"/>
                <a:gd name="connsiteY12" fmla="*/ 75938 h 129375"/>
                <a:gd name="connsiteX13" fmla="*/ 59055 w 216470"/>
                <a:gd name="connsiteY13" fmla="*/ 84375 h 129375"/>
                <a:gd name="connsiteX14" fmla="*/ 67493 w 216470"/>
                <a:gd name="connsiteY14" fmla="*/ 92813 h 129375"/>
                <a:gd name="connsiteX15" fmla="*/ 177180 w 216470"/>
                <a:gd name="connsiteY15" fmla="*/ 92813 h 129375"/>
                <a:gd name="connsiteX16" fmla="*/ 185618 w 216470"/>
                <a:gd name="connsiteY16" fmla="*/ 84375 h 129375"/>
                <a:gd name="connsiteX17" fmla="*/ 177180 w 216470"/>
                <a:gd name="connsiteY17" fmla="*/ 75938 h 129375"/>
                <a:gd name="connsiteX18" fmla="*/ 177096 w 216470"/>
                <a:gd name="connsiteY18" fmla="*/ 75938 h 129375"/>
                <a:gd name="connsiteX19" fmla="*/ 177096 w 216470"/>
                <a:gd name="connsiteY19" fmla="*/ 36563 h 129375"/>
                <a:gd name="connsiteX20" fmla="*/ 104055 w 216470"/>
                <a:gd name="connsiteY20" fmla="*/ 36563 h 129375"/>
                <a:gd name="connsiteX21" fmla="*/ 95618 w 216470"/>
                <a:gd name="connsiteY21" fmla="*/ 45000 h 129375"/>
                <a:gd name="connsiteX22" fmla="*/ 104055 w 216470"/>
                <a:gd name="connsiteY22" fmla="*/ 53438 h 129375"/>
                <a:gd name="connsiteX23" fmla="*/ 177180 w 216470"/>
                <a:gd name="connsiteY23" fmla="*/ 53438 h 129375"/>
                <a:gd name="connsiteX24" fmla="*/ 185618 w 216470"/>
                <a:gd name="connsiteY24" fmla="*/ 45000 h 129375"/>
                <a:gd name="connsiteX25" fmla="*/ 177180 w 216470"/>
                <a:gd name="connsiteY25" fmla="*/ 36563 h 129375"/>
                <a:gd name="connsiteX26" fmla="*/ 177096 w 216470"/>
                <a:gd name="connsiteY26" fmla="*/ 36563 h 12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6470" h="129375">
                  <a:moveTo>
                    <a:pt x="185533" y="0"/>
                  </a:moveTo>
                  <a:cubicBezTo>
                    <a:pt x="201846" y="0"/>
                    <a:pt x="216471" y="14625"/>
                    <a:pt x="216471" y="30938"/>
                  </a:cubicBezTo>
                  <a:lnTo>
                    <a:pt x="216471" y="98438"/>
                  </a:lnTo>
                  <a:cubicBezTo>
                    <a:pt x="216471" y="114750"/>
                    <a:pt x="201860" y="129375"/>
                    <a:pt x="185533" y="129375"/>
                  </a:cubicBezTo>
                  <a:lnTo>
                    <a:pt x="8430" y="129375"/>
                  </a:lnTo>
                  <a:cubicBezTo>
                    <a:pt x="5020" y="129372"/>
                    <a:pt x="1946" y="127316"/>
                    <a:pt x="642" y="124165"/>
                  </a:cubicBezTo>
                  <a:cubicBezTo>
                    <a:pt x="-663" y="121015"/>
                    <a:pt x="57" y="117388"/>
                    <a:pt x="2468" y="114975"/>
                  </a:cubicBezTo>
                  <a:lnTo>
                    <a:pt x="28118" y="89269"/>
                  </a:lnTo>
                  <a:lnTo>
                    <a:pt x="28118" y="30938"/>
                  </a:lnTo>
                  <a:cubicBezTo>
                    <a:pt x="28118" y="14625"/>
                    <a:pt x="42743" y="0"/>
                    <a:pt x="59055" y="0"/>
                  </a:cubicBezTo>
                  <a:lnTo>
                    <a:pt x="185533" y="0"/>
                  </a:lnTo>
                  <a:moveTo>
                    <a:pt x="177096" y="75938"/>
                  </a:moveTo>
                  <a:lnTo>
                    <a:pt x="67493" y="75938"/>
                  </a:lnTo>
                  <a:cubicBezTo>
                    <a:pt x="62832" y="75938"/>
                    <a:pt x="59055" y="79715"/>
                    <a:pt x="59055" y="84375"/>
                  </a:cubicBezTo>
                  <a:cubicBezTo>
                    <a:pt x="59055" y="89035"/>
                    <a:pt x="62832" y="92813"/>
                    <a:pt x="67493" y="92813"/>
                  </a:cubicBezTo>
                  <a:lnTo>
                    <a:pt x="177180" y="92813"/>
                  </a:lnTo>
                  <a:cubicBezTo>
                    <a:pt x="181841" y="92813"/>
                    <a:pt x="185618" y="89035"/>
                    <a:pt x="185618" y="84375"/>
                  </a:cubicBezTo>
                  <a:cubicBezTo>
                    <a:pt x="185618" y="79715"/>
                    <a:pt x="181841" y="75938"/>
                    <a:pt x="177180" y="75938"/>
                  </a:cubicBezTo>
                  <a:lnTo>
                    <a:pt x="177096" y="75938"/>
                  </a:lnTo>
                  <a:moveTo>
                    <a:pt x="177096" y="36563"/>
                  </a:moveTo>
                  <a:lnTo>
                    <a:pt x="104055" y="36563"/>
                  </a:lnTo>
                  <a:cubicBezTo>
                    <a:pt x="99395" y="36563"/>
                    <a:pt x="95618" y="40340"/>
                    <a:pt x="95618" y="45000"/>
                  </a:cubicBezTo>
                  <a:cubicBezTo>
                    <a:pt x="95618" y="49660"/>
                    <a:pt x="99395" y="53438"/>
                    <a:pt x="104055" y="53438"/>
                  </a:cubicBezTo>
                  <a:lnTo>
                    <a:pt x="177180" y="53438"/>
                  </a:lnTo>
                  <a:cubicBezTo>
                    <a:pt x="181841" y="53438"/>
                    <a:pt x="185618" y="49660"/>
                    <a:pt x="185618" y="45000"/>
                  </a:cubicBezTo>
                  <a:cubicBezTo>
                    <a:pt x="185618" y="40340"/>
                    <a:pt x="181841" y="36563"/>
                    <a:pt x="177180" y="36563"/>
                  </a:cubicBezTo>
                  <a:lnTo>
                    <a:pt x="177096" y="36563"/>
                  </a:ln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30"/>
            <p:cNvSpPr/>
            <p:nvPr>
              <p:custDataLst>
                <p:tags r:id="rId26"/>
              </p:custDataLst>
            </p:nvPr>
          </p:nvSpPr>
          <p:spPr>
            <a:xfrm>
              <a:off x="4941821" y="1691643"/>
              <a:ext cx="286875" cy="191186"/>
            </a:xfrm>
            <a:custGeom>
              <a:avLst/>
              <a:gdLst>
                <a:gd name="connsiteX0" fmla="*/ 250313 w 286875"/>
                <a:gd name="connsiteY0" fmla="*/ 0 h 191186"/>
                <a:gd name="connsiteX1" fmla="*/ 286875 w 286875"/>
                <a:gd name="connsiteY1" fmla="*/ 36563 h 191186"/>
                <a:gd name="connsiteX2" fmla="*/ 286875 w 286875"/>
                <a:gd name="connsiteY2" fmla="*/ 73125 h 191186"/>
                <a:gd name="connsiteX3" fmla="*/ 202500 w 286875"/>
                <a:gd name="connsiteY3" fmla="*/ 73125 h 191186"/>
                <a:gd name="connsiteX4" fmla="*/ 154688 w 286875"/>
                <a:gd name="connsiteY4" fmla="*/ 120938 h 191186"/>
                <a:gd name="connsiteX5" fmla="*/ 154688 w 286875"/>
                <a:gd name="connsiteY5" fmla="*/ 163125 h 191186"/>
                <a:gd name="connsiteX6" fmla="*/ 101911 w 286875"/>
                <a:gd name="connsiteY6" fmla="*/ 163125 h 191186"/>
                <a:gd name="connsiteX7" fmla="*/ 76261 w 286875"/>
                <a:gd name="connsiteY7" fmla="*/ 188719 h 191186"/>
                <a:gd name="connsiteX8" fmla="*/ 64336 w 286875"/>
                <a:gd name="connsiteY8" fmla="*/ 188719 h 191186"/>
                <a:gd name="connsiteX9" fmla="*/ 38686 w 286875"/>
                <a:gd name="connsiteY9" fmla="*/ 163125 h 191186"/>
                <a:gd name="connsiteX10" fmla="*/ 36563 w 286875"/>
                <a:gd name="connsiteY10" fmla="*/ 163125 h 191186"/>
                <a:gd name="connsiteX11" fmla="*/ 0 w 286875"/>
                <a:gd name="connsiteY11" fmla="*/ 126563 h 191186"/>
                <a:gd name="connsiteX12" fmla="*/ 0 w 286875"/>
                <a:gd name="connsiteY12" fmla="*/ 36563 h 191186"/>
                <a:gd name="connsiteX13" fmla="*/ 36563 w 286875"/>
                <a:gd name="connsiteY13" fmla="*/ 0 h 191186"/>
                <a:gd name="connsiteX14" fmla="*/ 250313 w 286875"/>
                <a:gd name="connsiteY14" fmla="*/ 0 h 191186"/>
                <a:gd name="connsiteX15" fmla="*/ 118125 w 286875"/>
                <a:gd name="connsiteY15" fmla="*/ 112500 h 191186"/>
                <a:gd name="connsiteX16" fmla="*/ 39375 w 286875"/>
                <a:gd name="connsiteY16" fmla="*/ 112500 h 191186"/>
                <a:gd name="connsiteX17" fmla="*/ 30938 w 286875"/>
                <a:gd name="connsiteY17" fmla="*/ 120938 h 191186"/>
                <a:gd name="connsiteX18" fmla="*/ 39375 w 286875"/>
                <a:gd name="connsiteY18" fmla="*/ 129375 h 191186"/>
                <a:gd name="connsiteX19" fmla="*/ 118125 w 286875"/>
                <a:gd name="connsiteY19" fmla="*/ 129375 h 191186"/>
                <a:gd name="connsiteX20" fmla="*/ 126563 w 286875"/>
                <a:gd name="connsiteY20" fmla="*/ 120938 h 191186"/>
                <a:gd name="connsiteX21" fmla="*/ 118125 w 286875"/>
                <a:gd name="connsiteY21" fmla="*/ 112500 h 191186"/>
                <a:gd name="connsiteX22" fmla="*/ 118125 w 286875"/>
                <a:gd name="connsiteY22" fmla="*/ 73125 h 191186"/>
                <a:gd name="connsiteX23" fmla="*/ 39375 w 286875"/>
                <a:gd name="connsiteY23" fmla="*/ 73125 h 191186"/>
                <a:gd name="connsiteX24" fmla="*/ 30938 w 286875"/>
                <a:gd name="connsiteY24" fmla="*/ 81563 h 191186"/>
                <a:gd name="connsiteX25" fmla="*/ 39375 w 286875"/>
                <a:gd name="connsiteY25" fmla="*/ 90000 h 191186"/>
                <a:gd name="connsiteX26" fmla="*/ 118125 w 286875"/>
                <a:gd name="connsiteY26" fmla="*/ 90000 h 191186"/>
                <a:gd name="connsiteX27" fmla="*/ 126563 w 286875"/>
                <a:gd name="connsiteY27" fmla="*/ 81563 h 191186"/>
                <a:gd name="connsiteX28" fmla="*/ 118125 w 286875"/>
                <a:gd name="connsiteY28" fmla="*/ 73125 h 191186"/>
                <a:gd name="connsiteX29" fmla="*/ 247500 w 286875"/>
                <a:gd name="connsiteY29" fmla="*/ 33750 h 191186"/>
                <a:gd name="connsiteX30" fmla="*/ 70313 w 286875"/>
                <a:gd name="connsiteY30" fmla="*/ 33750 h 191186"/>
                <a:gd name="connsiteX31" fmla="*/ 61875 w 286875"/>
                <a:gd name="connsiteY31" fmla="*/ 42188 h 191186"/>
                <a:gd name="connsiteX32" fmla="*/ 70313 w 286875"/>
                <a:gd name="connsiteY32" fmla="*/ 50625 h 191186"/>
                <a:gd name="connsiteX33" fmla="*/ 247500 w 286875"/>
                <a:gd name="connsiteY33" fmla="*/ 50625 h 191186"/>
                <a:gd name="connsiteX34" fmla="*/ 255938 w 286875"/>
                <a:gd name="connsiteY34" fmla="*/ 42188 h 191186"/>
                <a:gd name="connsiteX35" fmla="*/ 247500 w 286875"/>
                <a:gd name="connsiteY35" fmla="*/ 33750 h 191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86875" h="191186">
                  <a:moveTo>
                    <a:pt x="250313" y="0"/>
                  </a:moveTo>
                  <a:cubicBezTo>
                    <a:pt x="270505" y="0"/>
                    <a:pt x="286875" y="16370"/>
                    <a:pt x="286875" y="36563"/>
                  </a:cubicBezTo>
                  <a:lnTo>
                    <a:pt x="286875" y="73125"/>
                  </a:lnTo>
                  <a:lnTo>
                    <a:pt x="202500" y="73125"/>
                  </a:lnTo>
                  <a:cubicBezTo>
                    <a:pt x="176878" y="73125"/>
                    <a:pt x="154688" y="95302"/>
                    <a:pt x="154688" y="120938"/>
                  </a:cubicBezTo>
                  <a:lnTo>
                    <a:pt x="154688" y="163125"/>
                  </a:lnTo>
                  <a:lnTo>
                    <a:pt x="101911" y="163125"/>
                  </a:lnTo>
                  <a:lnTo>
                    <a:pt x="76261" y="188719"/>
                  </a:lnTo>
                  <a:cubicBezTo>
                    <a:pt x="72967" y="192009"/>
                    <a:pt x="67630" y="192009"/>
                    <a:pt x="64336" y="188719"/>
                  </a:cubicBezTo>
                  <a:lnTo>
                    <a:pt x="38686" y="163125"/>
                  </a:lnTo>
                  <a:lnTo>
                    <a:pt x="36563" y="163125"/>
                  </a:lnTo>
                  <a:cubicBezTo>
                    <a:pt x="16370" y="163125"/>
                    <a:pt x="0" y="146755"/>
                    <a:pt x="0" y="126563"/>
                  </a:cubicBezTo>
                  <a:lnTo>
                    <a:pt x="0" y="36563"/>
                  </a:lnTo>
                  <a:cubicBezTo>
                    <a:pt x="0" y="16370"/>
                    <a:pt x="16370" y="0"/>
                    <a:pt x="36563" y="0"/>
                  </a:cubicBezTo>
                  <a:lnTo>
                    <a:pt x="250313" y="0"/>
                  </a:lnTo>
                  <a:moveTo>
                    <a:pt x="118125" y="112500"/>
                  </a:moveTo>
                  <a:lnTo>
                    <a:pt x="39375" y="112500"/>
                  </a:lnTo>
                  <a:cubicBezTo>
                    <a:pt x="34715" y="112500"/>
                    <a:pt x="30938" y="116278"/>
                    <a:pt x="30938" y="120938"/>
                  </a:cubicBezTo>
                  <a:cubicBezTo>
                    <a:pt x="30938" y="125597"/>
                    <a:pt x="34715" y="129375"/>
                    <a:pt x="39375" y="129375"/>
                  </a:cubicBezTo>
                  <a:lnTo>
                    <a:pt x="118125" y="129375"/>
                  </a:lnTo>
                  <a:cubicBezTo>
                    <a:pt x="122785" y="129375"/>
                    <a:pt x="126563" y="125597"/>
                    <a:pt x="126563" y="120938"/>
                  </a:cubicBezTo>
                  <a:cubicBezTo>
                    <a:pt x="126563" y="116278"/>
                    <a:pt x="122785" y="112500"/>
                    <a:pt x="118125" y="112500"/>
                  </a:cubicBezTo>
                  <a:moveTo>
                    <a:pt x="118125" y="73125"/>
                  </a:moveTo>
                  <a:lnTo>
                    <a:pt x="39375" y="73125"/>
                  </a:lnTo>
                  <a:cubicBezTo>
                    <a:pt x="34715" y="73125"/>
                    <a:pt x="30938" y="76903"/>
                    <a:pt x="30938" y="81563"/>
                  </a:cubicBezTo>
                  <a:cubicBezTo>
                    <a:pt x="30938" y="86222"/>
                    <a:pt x="34715" y="90000"/>
                    <a:pt x="39375" y="90000"/>
                  </a:cubicBezTo>
                  <a:lnTo>
                    <a:pt x="118125" y="90000"/>
                  </a:lnTo>
                  <a:cubicBezTo>
                    <a:pt x="122785" y="90000"/>
                    <a:pt x="126563" y="86222"/>
                    <a:pt x="126563" y="81563"/>
                  </a:cubicBezTo>
                  <a:cubicBezTo>
                    <a:pt x="126563" y="76903"/>
                    <a:pt x="122785" y="73125"/>
                    <a:pt x="118125" y="73125"/>
                  </a:cubicBezTo>
                  <a:moveTo>
                    <a:pt x="247500" y="33750"/>
                  </a:moveTo>
                  <a:lnTo>
                    <a:pt x="70313" y="33750"/>
                  </a:lnTo>
                  <a:cubicBezTo>
                    <a:pt x="65653" y="33750"/>
                    <a:pt x="61875" y="37528"/>
                    <a:pt x="61875" y="42188"/>
                  </a:cubicBezTo>
                  <a:cubicBezTo>
                    <a:pt x="61875" y="46847"/>
                    <a:pt x="65653" y="50625"/>
                    <a:pt x="70313" y="50625"/>
                  </a:cubicBezTo>
                  <a:lnTo>
                    <a:pt x="247500" y="50625"/>
                  </a:lnTo>
                  <a:cubicBezTo>
                    <a:pt x="252160" y="50625"/>
                    <a:pt x="255938" y="46847"/>
                    <a:pt x="255938" y="42188"/>
                  </a:cubicBezTo>
                  <a:cubicBezTo>
                    <a:pt x="255938" y="37528"/>
                    <a:pt x="252160" y="33750"/>
                    <a:pt x="247500" y="33750"/>
                  </a:cubicBez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7" name="图形 58" descr="云"/>
          <p:cNvGrpSpPr/>
          <p:nvPr>
            <p:custDataLst>
              <p:tags r:id="rId27"/>
            </p:custDataLst>
          </p:nvPr>
        </p:nvGrpSpPr>
        <p:grpSpPr>
          <a:xfrm rot="21120000">
            <a:off x="7211717" y="5627938"/>
            <a:ext cx="360000" cy="359943"/>
            <a:chOff x="6859292" y="5627938"/>
            <a:chExt cx="360000" cy="359943"/>
          </a:xfrm>
          <a:solidFill>
            <a:srgbClr val="FFFFFF"/>
          </a:solidFill>
        </p:grpSpPr>
        <p:sp>
          <p:nvSpPr>
            <p:cNvPr id="108" name="任意多边形: 形状 37"/>
            <p:cNvSpPr/>
            <p:nvPr>
              <p:custDataLst>
                <p:tags r:id="rId28"/>
              </p:custDataLst>
            </p:nvPr>
          </p:nvSpPr>
          <p:spPr>
            <a:xfrm>
              <a:off x="6859292" y="5627938"/>
              <a:ext cx="360000" cy="359943"/>
            </a:xfrm>
            <a:custGeom>
              <a:avLst/>
              <a:gdLst>
                <a:gd name="connsiteX0" fmla="*/ 174375 w 360000"/>
                <a:gd name="connsiteY0" fmla="*/ 0 h 359943"/>
                <a:gd name="connsiteX1" fmla="*/ 262111 w 360000"/>
                <a:gd name="connsiteY1" fmla="*/ 46294 h 359943"/>
                <a:gd name="connsiteX2" fmla="*/ 271111 w 360000"/>
                <a:gd name="connsiteY2" fmla="*/ 62213 h 359943"/>
                <a:gd name="connsiteX3" fmla="*/ 278438 w 360000"/>
                <a:gd name="connsiteY3" fmla="*/ 61875 h 359943"/>
                <a:gd name="connsiteX4" fmla="*/ 282656 w 360000"/>
                <a:gd name="connsiteY4" fmla="*/ 61973 h 359943"/>
                <a:gd name="connsiteX5" fmla="*/ 360000 w 360000"/>
                <a:gd name="connsiteY5" fmla="*/ 143409 h 359943"/>
                <a:gd name="connsiteX6" fmla="*/ 278438 w 360000"/>
                <a:gd name="connsiteY6" fmla="*/ 224972 h 359943"/>
                <a:gd name="connsiteX7" fmla="*/ 191250 w 360000"/>
                <a:gd name="connsiteY7" fmla="*/ 224972 h 359943"/>
                <a:gd name="connsiteX8" fmla="*/ 191250 w 360000"/>
                <a:gd name="connsiteY8" fmla="*/ 260016 h 359943"/>
                <a:gd name="connsiteX9" fmla="*/ 230625 w 360000"/>
                <a:gd name="connsiteY9" fmla="*/ 309319 h 359943"/>
                <a:gd name="connsiteX10" fmla="*/ 180000 w 360000"/>
                <a:gd name="connsiteY10" fmla="*/ 359944 h 359943"/>
                <a:gd name="connsiteX11" fmla="*/ 129375 w 360000"/>
                <a:gd name="connsiteY11" fmla="*/ 309319 h 359943"/>
                <a:gd name="connsiteX12" fmla="*/ 168750 w 360000"/>
                <a:gd name="connsiteY12" fmla="*/ 260016 h 359943"/>
                <a:gd name="connsiteX13" fmla="*/ 168750 w 360000"/>
                <a:gd name="connsiteY13" fmla="*/ 225000 h 359943"/>
                <a:gd name="connsiteX14" fmla="*/ 70313 w 360000"/>
                <a:gd name="connsiteY14" fmla="*/ 225000 h 359943"/>
                <a:gd name="connsiteX15" fmla="*/ 0 w 360000"/>
                <a:gd name="connsiteY15" fmla="*/ 154688 h 359943"/>
                <a:gd name="connsiteX16" fmla="*/ 69961 w 360000"/>
                <a:gd name="connsiteY16" fmla="*/ 84375 h 359943"/>
                <a:gd name="connsiteX17" fmla="*/ 174220 w 360000"/>
                <a:gd name="connsiteY17" fmla="*/ 0 h 359943"/>
                <a:gd name="connsiteX18" fmla="*/ 174375 w 360000"/>
                <a:gd name="connsiteY18" fmla="*/ 0 h 35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0000" h="359943">
                  <a:moveTo>
                    <a:pt x="174375" y="0"/>
                  </a:moveTo>
                  <a:cubicBezTo>
                    <a:pt x="209416" y="215"/>
                    <a:pt x="242155" y="17489"/>
                    <a:pt x="262111" y="46294"/>
                  </a:cubicBezTo>
                  <a:cubicBezTo>
                    <a:pt x="266892" y="53255"/>
                    <a:pt x="267455" y="54956"/>
                    <a:pt x="271111" y="62213"/>
                  </a:cubicBezTo>
                  <a:cubicBezTo>
                    <a:pt x="273545" y="61958"/>
                    <a:pt x="275991" y="61846"/>
                    <a:pt x="278438" y="61875"/>
                  </a:cubicBezTo>
                  <a:lnTo>
                    <a:pt x="282656" y="61973"/>
                  </a:lnTo>
                  <a:cubicBezTo>
                    <a:pt x="326883" y="65517"/>
                    <a:pt x="358875" y="98972"/>
                    <a:pt x="360000" y="143409"/>
                  </a:cubicBezTo>
                  <a:cubicBezTo>
                    <a:pt x="360000" y="188456"/>
                    <a:pt x="323484" y="224972"/>
                    <a:pt x="278438" y="224972"/>
                  </a:cubicBezTo>
                  <a:lnTo>
                    <a:pt x="191250" y="224972"/>
                  </a:lnTo>
                  <a:lnTo>
                    <a:pt x="191250" y="260016"/>
                  </a:lnTo>
                  <a:cubicBezTo>
                    <a:pt x="214664" y="264853"/>
                    <a:pt x="230034" y="286059"/>
                    <a:pt x="230625" y="309319"/>
                  </a:cubicBezTo>
                  <a:cubicBezTo>
                    <a:pt x="230625" y="337278"/>
                    <a:pt x="207959" y="359944"/>
                    <a:pt x="180000" y="359944"/>
                  </a:cubicBezTo>
                  <a:cubicBezTo>
                    <a:pt x="152041" y="359944"/>
                    <a:pt x="129375" y="337278"/>
                    <a:pt x="129375" y="309319"/>
                  </a:cubicBezTo>
                  <a:cubicBezTo>
                    <a:pt x="129502" y="286313"/>
                    <a:pt x="145814" y="264698"/>
                    <a:pt x="168750" y="260016"/>
                  </a:cubicBezTo>
                  <a:lnTo>
                    <a:pt x="168750" y="225000"/>
                  </a:lnTo>
                  <a:lnTo>
                    <a:pt x="70313" y="225000"/>
                  </a:lnTo>
                  <a:cubicBezTo>
                    <a:pt x="31480" y="225000"/>
                    <a:pt x="0" y="193520"/>
                    <a:pt x="0" y="154688"/>
                  </a:cubicBezTo>
                  <a:cubicBezTo>
                    <a:pt x="492" y="115453"/>
                    <a:pt x="30938" y="85388"/>
                    <a:pt x="69961" y="84375"/>
                  </a:cubicBezTo>
                  <a:cubicBezTo>
                    <a:pt x="81211" y="34228"/>
                    <a:pt x="123469" y="1772"/>
                    <a:pt x="174220" y="0"/>
                  </a:cubicBezTo>
                  <a:lnTo>
                    <a:pt x="174375" y="0"/>
                  </a:lnTo>
                  <a:close/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39"/>
            <p:cNvSpPr/>
            <p:nvPr>
              <p:custDataLst>
                <p:tags r:id="rId29"/>
              </p:custDataLst>
            </p:nvPr>
          </p:nvSpPr>
          <p:spPr>
            <a:xfrm>
              <a:off x="6887417" y="5926063"/>
              <a:ext cx="85317" cy="22500"/>
            </a:xfrm>
            <a:custGeom>
              <a:avLst/>
              <a:gdLst>
                <a:gd name="connsiteX0" fmla="*/ 85317 w 85317"/>
                <a:gd name="connsiteY0" fmla="*/ 0 h 22500"/>
                <a:gd name="connsiteX1" fmla="*/ 84347 w 85317"/>
                <a:gd name="connsiteY1" fmla="*/ 11250 h 22500"/>
                <a:gd name="connsiteX2" fmla="*/ 85317 w 85317"/>
                <a:gd name="connsiteY2" fmla="*/ 22500 h 22500"/>
                <a:gd name="connsiteX3" fmla="*/ 11250 w 85317"/>
                <a:gd name="connsiteY3" fmla="*/ 22500 h 22500"/>
                <a:gd name="connsiteX4" fmla="*/ 0 w 85317"/>
                <a:gd name="connsiteY4" fmla="*/ 11250 h 22500"/>
                <a:gd name="connsiteX5" fmla="*/ 11250 w 85317"/>
                <a:gd name="connsiteY5" fmla="*/ 0 h 22500"/>
                <a:gd name="connsiteX6" fmla="*/ 85317 w 85317"/>
                <a:gd name="connsiteY6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317" h="22500">
                  <a:moveTo>
                    <a:pt x="85317" y="0"/>
                  </a:moveTo>
                  <a:cubicBezTo>
                    <a:pt x="84614" y="3707"/>
                    <a:pt x="84289" y="7477"/>
                    <a:pt x="84347" y="11250"/>
                  </a:cubicBezTo>
                  <a:cubicBezTo>
                    <a:pt x="84304" y="15023"/>
                    <a:pt x="84629" y="18790"/>
                    <a:pt x="85317" y="22500"/>
                  </a:cubicBezTo>
                  <a:lnTo>
                    <a:pt x="11250" y="22500"/>
                  </a:lnTo>
                  <a:cubicBezTo>
                    <a:pt x="5037" y="22500"/>
                    <a:pt x="0" y="17463"/>
                    <a:pt x="0" y="11250"/>
                  </a:cubicBezTo>
                  <a:cubicBezTo>
                    <a:pt x="0" y="5037"/>
                    <a:pt x="5037" y="0"/>
                    <a:pt x="11250" y="0"/>
                  </a:cubicBezTo>
                  <a:lnTo>
                    <a:pt x="85317" y="0"/>
                  </a:lnTo>
                  <a:close/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40"/>
            <p:cNvSpPr/>
            <p:nvPr>
              <p:custDataLst>
                <p:tags r:id="rId30"/>
              </p:custDataLst>
            </p:nvPr>
          </p:nvSpPr>
          <p:spPr>
            <a:xfrm>
              <a:off x="7105751" y="5926063"/>
              <a:ext cx="85331" cy="22500"/>
            </a:xfrm>
            <a:custGeom>
              <a:avLst/>
              <a:gdLst>
                <a:gd name="connsiteX0" fmla="*/ 74081 w 85331"/>
                <a:gd name="connsiteY0" fmla="*/ 0 h 22500"/>
                <a:gd name="connsiteX1" fmla="*/ 85331 w 85331"/>
                <a:gd name="connsiteY1" fmla="*/ 11250 h 22500"/>
                <a:gd name="connsiteX2" fmla="*/ 74081 w 85331"/>
                <a:gd name="connsiteY2" fmla="*/ 22500 h 22500"/>
                <a:gd name="connsiteX3" fmla="*/ 0 w 85331"/>
                <a:gd name="connsiteY3" fmla="*/ 22500 h 22500"/>
                <a:gd name="connsiteX4" fmla="*/ 970 w 85331"/>
                <a:gd name="connsiteY4" fmla="*/ 11250 h 22500"/>
                <a:gd name="connsiteX5" fmla="*/ 0 w 85331"/>
                <a:gd name="connsiteY5" fmla="*/ 0 h 22500"/>
                <a:gd name="connsiteX6" fmla="*/ 74081 w 85331"/>
                <a:gd name="connsiteY6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331" h="22500">
                  <a:moveTo>
                    <a:pt x="74081" y="0"/>
                  </a:moveTo>
                  <a:cubicBezTo>
                    <a:pt x="80294" y="0"/>
                    <a:pt x="85331" y="5037"/>
                    <a:pt x="85331" y="11250"/>
                  </a:cubicBezTo>
                  <a:cubicBezTo>
                    <a:pt x="85331" y="17463"/>
                    <a:pt x="80294" y="22500"/>
                    <a:pt x="74081" y="22500"/>
                  </a:cubicBezTo>
                  <a:lnTo>
                    <a:pt x="0" y="22500"/>
                  </a:lnTo>
                  <a:cubicBezTo>
                    <a:pt x="696" y="18792"/>
                    <a:pt x="1021" y="15023"/>
                    <a:pt x="970" y="11250"/>
                  </a:cubicBezTo>
                  <a:cubicBezTo>
                    <a:pt x="1007" y="7477"/>
                    <a:pt x="682" y="3710"/>
                    <a:pt x="0" y="0"/>
                  </a:cubicBezTo>
                  <a:lnTo>
                    <a:pt x="74081" y="0"/>
                  </a:lnTo>
                  <a:close/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11" name="文本框 110"/>
          <p:cNvSpPr txBox="1"/>
          <p:nvPr>
            <p:custDataLst>
              <p:tags r:id="rId31"/>
            </p:custDataLst>
          </p:nvPr>
        </p:nvSpPr>
        <p:spPr>
          <a:xfrm>
            <a:off x="404495" y="4030980"/>
            <a:ext cx="2733040" cy="1501140"/>
          </a:xfrm>
          <a:prstGeom prst="rect">
            <a:avLst/>
          </a:prstGeom>
          <a:noFill/>
          <a:ln>
            <a:solidFill>
              <a:srgbClr val="FFFFFF">
                <a:lumMod val="50000"/>
              </a:srgbClr>
            </a:solidFill>
            <a:prstDash val="lgDash"/>
          </a:ln>
        </p:spPr>
        <p:txBody>
          <a:bodyPr wrap="square" rtlCol="0">
            <a:noAutofit/>
          </a:bodyPr>
          <a:lstStyle/>
          <a:p>
            <a:pPr indent="0" algn="ctr"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accent1"/>
                </a:solidFill>
                <a:sym typeface="+mn-ea"/>
              </a:rPr>
              <a:t>故障分析响应效率低</a:t>
            </a:r>
            <a:endParaRPr lang="zh-CN" altLang="en-US" sz="1400" b="1">
              <a:solidFill>
                <a:schemeClr val="accent1"/>
              </a:solidFill>
            </a:endParaRPr>
          </a:p>
          <a:p>
            <a:endParaRPr lang="zh-CN" altLang="en-US" sz="1200"/>
          </a:p>
          <a:p>
            <a:r>
              <a:rPr lang="zh-CN" altLang="en-US" sz="1200"/>
              <a:t>超温、泄漏、爆管等异常发生后，需要人工查询大量历史数据和规程，分析周期长，响应效率低。</a:t>
            </a:r>
            <a:endParaRPr lang="zh-CN" altLang="en-US" sz="1200"/>
          </a:p>
        </p:txBody>
      </p:sp>
      <p:sp>
        <p:nvSpPr>
          <p:cNvPr id="112" name="文本框 111"/>
          <p:cNvSpPr txBox="1"/>
          <p:nvPr>
            <p:custDataLst>
              <p:tags r:id="rId32"/>
            </p:custDataLst>
          </p:nvPr>
        </p:nvSpPr>
        <p:spPr>
          <a:xfrm>
            <a:off x="9271635" y="4443730"/>
            <a:ext cx="2761615" cy="15246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rgbClr val="3855CB"/>
                </a:solidFill>
                <a:sym typeface="+mn-ea"/>
              </a:rPr>
              <a:t>生产场景决策缺乏智能支撑</a:t>
            </a:r>
            <a:endParaRPr lang="zh-CN" altLang="en-US" sz="1400" b="1">
              <a:solidFill>
                <a:srgbClr val="3855CB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3855CB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检修策略、风险评估、运行调整主要依赖人工经验，缺乏智能分析与科学决策依据，存在漏判、误判风险。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8" name="图形 64" descr="对话框"/>
          <p:cNvGrpSpPr/>
          <p:nvPr>
            <p:custDataLst>
              <p:tags r:id="rId33"/>
            </p:custDataLst>
          </p:nvPr>
        </p:nvGrpSpPr>
        <p:grpSpPr>
          <a:xfrm>
            <a:off x="6898256" y="3089913"/>
            <a:ext cx="359915" cy="360000"/>
            <a:chOff x="4941821" y="1691643"/>
            <a:chExt cx="359915" cy="360000"/>
          </a:xfrm>
          <a:solidFill>
            <a:srgbClr val="FFFFFF"/>
          </a:solidFill>
        </p:grpSpPr>
        <p:sp>
          <p:nvSpPr>
            <p:cNvPr id="9" name="任意多边形: 形状 27"/>
            <p:cNvSpPr/>
            <p:nvPr>
              <p:custDataLst>
                <p:tags r:id="rId34"/>
              </p:custDataLst>
            </p:nvPr>
          </p:nvSpPr>
          <p:spPr>
            <a:xfrm>
              <a:off x="5085334" y="1927893"/>
              <a:ext cx="182736" cy="123750"/>
            </a:xfrm>
            <a:custGeom>
              <a:avLst/>
              <a:gdLst>
                <a:gd name="connsiteX0" fmla="*/ 151799 w 182736"/>
                <a:gd name="connsiteY0" fmla="*/ 0 h 123750"/>
                <a:gd name="connsiteX1" fmla="*/ 182737 w 182736"/>
                <a:gd name="connsiteY1" fmla="*/ 30938 h 123750"/>
                <a:gd name="connsiteX2" fmla="*/ 182737 w 182736"/>
                <a:gd name="connsiteY2" fmla="*/ 92813 h 123750"/>
                <a:gd name="connsiteX3" fmla="*/ 151799 w 182736"/>
                <a:gd name="connsiteY3" fmla="*/ 123750 h 123750"/>
                <a:gd name="connsiteX4" fmla="*/ 70237 w 182736"/>
                <a:gd name="connsiteY4" fmla="*/ 123750 h 123750"/>
                <a:gd name="connsiteX5" fmla="*/ 39299 w 182736"/>
                <a:gd name="connsiteY5" fmla="*/ 92813 h 123750"/>
                <a:gd name="connsiteX6" fmla="*/ 39299 w 182736"/>
                <a:gd name="connsiteY6" fmla="*/ 51230 h 123750"/>
                <a:gd name="connsiteX7" fmla="*/ 2399 w 182736"/>
                <a:gd name="connsiteY7" fmla="*/ 14330 h 123750"/>
                <a:gd name="connsiteX8" fmla="*/ 648 w 182736"/>
                <a:gd name="connsiteY8" fmla="*/ 5196 h 123750"/>
                <a:gd name="connsiteX9" fmla="*/ 8362 w 182736"/>
                <a:gd name="connsiteY9" fmla="*/ 0 h 123750"/>
                <a:gd name="connsiteX10" fmla="*/ 151799 w 182736"/>
                <a:gd name="connsiteY10" fmla="*/ 0 h 123750"/>
                <a:gd name="connsiteX11" fmla="*/ 146174 w 182736"/>
                <a:gd name="connsiteY11" fmla="*/ 73125 h 123750"/>
                <a:gd name="connsiteX12" fmla="*/ 75862 w 182736"/>
                <a:gd name="connsiteY12" fmla="*/ 73125 h 123750"/>
                <a:gd name="connsiteX13" fmla="*/ 67424 w 182736"/>
                <a:gd name="connsiteY13" fmla="*/ 81563 h 123750"/>
                <a:gd name="connsiteX14" fmla="*/ 75862 w 182736"/>
                <a:gd name="connsiteY14" fmla="*/ 90000 h 123750"/>
                <a:gd name="connsiteX15" fmla="*/ 146174 w 182736"/>
                <a:gd name="connsiteY15" fmla="*/ 90000 h 123750"/>
                <a:gd name="connsiteX16" fmla="*/ 154612 w 182736"/>
                <a:gd name="connsiteY16" fmla="*/ 81563 h 123750"/>
                <a:gd name="connsiteX17" fmla="*/ 146174 w 182736"/>
                <a:gd name="connsiteY17" fmla="*/ 73125 h 123750"/>
                <a:gd name="connsiteX18" fmla="*/ 146174 w 182736"/>
                <a:gd name="connsiteY18" fmla="*/ 33750 h 123750"/>
                <a:gd name="connsiteX19" fmla="*/ 92737 w 182736"/>
                <a:gd name="connsiteY19" fmla="*/ 33750 h 123750"/>
                <a:gd name="connsiteX20" fmla="*/ 84299 w 182736"/>
                <a:gd name="connsiteY20" fmla="*/ 42188 h 123750"/>
                <a:gd name="connsiteX21" fmla="*/ 92737 w 182736"/>
                <a:gd name="connsiteY21" fmla="*/ 50625 h 123750"/>
                <a:gd name="connsiteX22" fmla="*/ 146174 w 182736"/>
                <a:gd name="connsiteY22" fmla="*/ 50625 h 123750"/>
                <a:gd name="connsiteX23" fmla="*/ 154612 w 182736"/>
                <a:gd name="connsiteY23" fmla="*/ 42188 h 123750"/>
                <a:gd name="connsiteX24" fmla="*/ 146174 w 182736"/>
                <a:gd name="connsiteY24" fmla="*/ 33750 h 12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736" h="123750">
                  <a:moveTo>
                    <a:pt x="151799" y="0"/>
                  </a:moveTo>
                  <a:cubicBezTo>
                    <a:pt x="168098" y="0"/>
                    <a:pt x="182737" y="14611"/>
                    <a:pt x="182737" y="30938"/>
                  </a:cubicBezTo>
                  <a:lnTo>
                    <a:pt x="182737" y="92813"/>
                  </a:lnTo>
                  <a:cubicBezTo>
                    <a:pt x="182737" y="109111"/>
                    <a:pt x="168112" y="123750"/>
                    <a:pt x="151799" y="123750"/>
                  </a:cubicBezTo>
                  <a:lnTo>
                    <a:pt x="70237" y="123750"/>
                  </a:lnTo>
                  <a:cubicBezTo>
                    <a:pt x="53924" y="123750"/>
                    <a:pt x="39299" y="109125"/>
                    <a:pt x="39299" y="92813"/>
                  </a:cubicBezTo>
                  <a:lnTo>
                    <a:pt x="39299" y="51230"/>
                  </a:lnTo>
                  <a:lnTo>
                    <a:pt x="2399" y="14330"/>
                  </a:lnTo>
                  <a:cubicBezTo>
                    <a:pt x="38" y="11911"/>
                    <a:pt x="-651" y="8317"/>
                    <a:pt x="648" y="5196"/>
                  </a:cubicBezTo>
                  <a:cubicBezTo>
                    <a:pt x="1946" y="2076"/>
                    <a:pt x="4982" y="31"/>
                    <a:pt x="8362" y="0"/>
                  </a:cubicBezTo>
                  <a:lnTo>
                    <a:pt x="151799" y="0"/>
                  </a:lnTo>
                  <a:moveTo>
                    <a:pt x="146174" y="73125"/>
                  </a:moveTo>
                  <a:lnTo>
                    <a:pt x="75862" y="73125"/>
                  </a:lnTo>
                  <a:cubicBezTo>
                    <a:pt x="71201" y="73125"/>
                    <a:pt x="67424" y="76902"/>
                    <a:pt x="67424" y="81563"/>
                  </a:cubicBezTo>
                  <a:cubicBezTo>
                    <a:pt x="67424" y="86223"/>
                    <a:pt x="71201" y="90000"/>
                    <a:pt x="75862" y="90000"/>
                  </a:cubicBezTo>
                  <a:lnTo>
                    <a:pt x="146174" y="90000"/>
                  </a:lnTo>
                  <a:cubicBezTo>
                    <a:pt x="150834" y="90000"/>
                    <a:pt x="154612" y="86223"/>
                    <a:pt x="154612" y="81563"/>
                  </a:cubicBezTo>
                  <a:cubicBezTo>
                    <a:pt x="154612" y="76902"/>
                    <a:pt x="150834" y="73125"/>
                    <a:pt x="146174" y="73125"/>
                  </a:cubicBezTo>
                  <a:moveTo>
                    <a:pt x="146174" y="33750"/>
                  </a:moveTo>
                  <a:lnTo>
                    <a:pt x="92737" y="33750"/>
                  </a:lnTo>
                  <a:cubicBezTo>
                    <a:pt x="88076" y="33750"/>
                    <a:pt x="84299" y="37527"/>
                    <a:pt x="84299" y="42188"/>
                  </a:cubicBezTo>
                  <a:cubicBezTo>
                    <a:pt x="84299" y="46848"/>
                    <a:pt x="88076" y="50625"/>
                    <a:pt x="92737" y="50625"/>
                  </a:cubicBezTo>
                  <a:lnTo>
                    <a:pt x="146174" y="50625"/>
                  </a:lnTo>
                  <a:cubicBezTo>
                    <a:pt x="150834" y="50625"/>
                    <a:pt x="154612" y="46848"/>
                    <a:pt x="154612" y="42188"/>
                  </a:cubicBezTo>
                  <a:cubicBezTo>
                    <a:pt x="154612" y="37527"/>
                    <a:pt x="150834" y="33750"/>
                    <a:pt x="146174" y="33750"/>
                  </a:cubicBez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28"/>
            <p:cNvSpPr/>
            <p:nvPr>
              <p:custDataLst>
                <p:tags r:id="rId35"/>
              </p:custDataLst>
            </p:nvPr>
          </p:nvSpPr>
          <p:spPr>
            <a:xfrm>
              <a:off x="4955883" y="1899768"/>
              <a:ext cx="112500" cy="151875"/>
            </a:xfrm>
            <a:custGeom>
              <a:avLst/>
              <a:gdLst>
                <a:gd name="connsiteX0" fmla="*/ 90000 w 112500"/>
                <a:gd name="connsiteY0" fmla="*/ 0 h 151875"/>
                <a:gd name="connsiteX1" fmla="*/ 112500 w 112500"/>
                <a:gd name="connsiteY1" fmla="*/ 22500 h 151875"/>
                <a:gd name="connsiteX2" fmla="*/ 112500 w 112500"/>
                <a:gd name="connsiteY2" fmla="*/ 129375 h 151875"/>
                <a:gd name="connsiteX3" fmla="*/ 90000 w 112500"/>
                <a:gd name="connsiteY3" fmla="*/ 151875 h 151875"/>
                <a:gd name="connsiteX4" fmla="*/ 22500 w 112500"/>
                <a:gd name="connsiteY4" fmla="*/ 151875 h 151875"/>
                <a:gd name="connsiteX5" fmla="*/ 0 w 112500"/>
                <a:gd name="connsiteY5" fmla="*/ 129375 h 151875"/>
                <a:gd name="connsiteX6" fmla="*/ 0 w 112500"/>
                <a:gd name="connsiteY6" fmla="*/ 22500 h 151875"/>
                <a:gd name="connsiteX7" fmla="*/ 22500 w 112500"/>
                <a:gd name="connsiteY7" fmla="*/ 0 h 151875"/>
                <a:gd name="connsiteX8" fmla="*/ 90000 w 112500"/>
                <a:gd name="connsiteY8" fmla="*/ 0 h 151875"/>
                <a:gd name="connsiteX9" fmla="*/ 67500 w 112500"/>
                <a:gd name="connsiteY9" fmla="*/ 109688 h 151875"/>
                <a:gd name="connsiteX10" fmla="*/ 45000 w 112500"/>
                <a:gd name="connsiteY10" fmla="*/ 109688 h 151875"/>
                <a:gd name="connsiteX11" fmla="*/ 36563 w 112500"/>
                <a:gd name="connsiteY11" fmla="*/ 118125 h 151875"/>
                <a:gd name="connsiteX12" fmla="*/ 45000 w 112500"/>
                <a:gd name="connsiteY12" fmla="*/ 126563 h 151875"/>
                <a:gd name="connsiteX13" fmla="*/ 67500 w 112500"/>
                <a:gd name="connsiteY13" fmla="*/ 126563 h 151875"/>
                <a:gd name="connsiteX14" fmla="*/ 75938 w 112500"/>
                <a:gd name="connsiteY14" fmla="*/ 118125 h 151875"/>
                <a:gd name="connsiteX15" fmla="*/ 67500 w 112500"/>
                <a:gd name="connsiteY15" fmla="*/ 109688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2500" h="151875">
                  <a:moveTo>
                    <a:pt x="90000" y="0"/>
                  </a:moveTo>
                  <a:cubicBezTo>
                    <a:pt x="102426" y="0"/>
                    <a:pt x="112500" y="10073"/>
                    <a:pt x="112500" y="22500"/>
                  </a:cubicBezTo>
                  <a:lnTo>
                    <a:pt x="112500" y="129375"/>
                  </a:lnTo>
                  <a:cubicBezTo>
                    <a:pt x="112500" y="141802"/>
                    <a:pt x="102426" y="151875"/>
                    <a:pt x="90000" y="151875"/>
                  </a:cubicBezTo>
                  <a:lnTo>
                    <a:pt x="22500" y="151875"/>
                  </a:lnTo>
                  <a:cubicBezTo>
                    <a:pt x="10074" y="151875"/>
                    <a:pt x="0" y="141802"/>
                    <a:pt x="0" y="129375"/>
                  </a:cubicBezTo>
                  <a:lnTo>
                    <a:pt x="0" y="22500"/>
                  </a:lnTo>
                  <a:cubicBezTo>
                    <a:pt x="0" y="10073"/>
                    <a:pt x="10074" y="0"/>
                    <a:pt x="22500" y="0"/>
                  </a:cubicBezTo>
                  <a:lnTo>
                    <a:pt x="90000" y="0"/>
                  </a:lnTo>
                  <a:moveTo>
                    <a:pt x="67500" y="109688"/>
                  </a:moveTo>
                  <a:lnTo>
                    <a:pt x="45000" y="109688"/>
                  </a:lnTo>
                  <a:cubicBezTo>
                    <a:pt x="40340" y="109688"/>
                    <a:pt x="36563" y="113465"/>
                    <a:pt x="36563" y="118125"/>
                  </a:cubicBezTo>
                  <a:cubicBezTo>
                    <a:pt x="36563" y="122785"/>
                    <a:pt x="40340" y="126563"/>
                    <a:pt x="45000" y="126563"/>
                  </a:cubicBezTo>
                  <a:lnTo>
                    <a:pt x="67500" y="126563"/>
                  </a:lnTo>
                  <a:cubicBezTo>
                    <a:pt x="72160" y="126563"/>
                    <a:pt x="75938" y="122785"/>
                    <a:pt x="75938" y="118125"/>
                  </a:cubicBezTo>
                  <a:cubicBezTo>
                    <a:pt x="75938" y="113465"/>
                    <a:pt x="72160" y="109688"/>
                    <a:pt x="67500" y="109688"/>
                  </a:cubicBez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29"/>
            <p:cNvSpPr/>
            <p:nvPr>
              <p:custDataLst>
                <p:tags r:id="rId36"/>
              </p:custDataLst>
            </p:nvPr>
          </p:nvSpPr>
          <p:spPr>
            <a:xfrm>
              <a:off x="5085265" y="1781643"/>
              <a:ext cx="216470" cy="129375"/>
            </a:xfrm>
            <a:custGeom>
              <a:avLst/>
              <a:gdLst>
                <a:gd name="connsiteX0" fmla="*/ 185533 w 216470"/>
                <a:gd name="connsiteY0" fmla="*/ 0 h 129375"/>
                <a:gd name="connsiteX1" fmla="*/ 216471 w 216470"/>
                <a:gd name="connsiteY1" fmla="*/ 30938 h 129375"/>
                <a:gd name="connsiteX2" fmla="*/ 216471 w 216470"/>
                <a:gd name="connsiteY2" fmla="*/ 98438 h 129375"/>
                <a:gd name="connsiteX3" fmla="*/ 185533 w 216470"/>
                <a:gd name="connsiteY3" fmla="*/ 129375 h 129375"/>
                <a:gd name="connsiteX4" fmla="*/ 8430 w 216470"/>
                <a:gd name="connsiteY4" fmla="*/ 129375 h 129375"/>
                <a:gd name="connsiteX5" fmla="*/ 642 w 216470"/>
                <a:gd name="connsiteY5" fmla="*/ 124165 h 129375"/>
                <a:gd name="connsiteX6" fmla="*/ 2468 w 216470"/>
                <a:gd name="connsiteY6" fmla="*/ 114975 h 129375"/>
                <a:gd name="connsiteX7" fmla="*/ 28118 w 216470"/>
                <a:gd name="connsiteY7" fmla="*/ 89269 h 129375"/>
                <a:gd name="connsiteX8" fmla="*/ 28118 w 216470"/>
                <a:gd name="connsiteY8" fmla="*/ 30938 h 129375"/>
                <a:gd name="connsiteX9" fmla="*/ 59055 w 216470"/>
                <a:gd name="connsiteY9" fmla="*/ 0 h 129375"/>
                <a:gd name="connsiteX10" fmla="*/ 185533 w 216470"/>
                <a:gd name="connsiteY10" fmla="*/ 0 h 129375"/>
                <a:gd name="connsiteX11" fmla="*/ 177096 w 216470"/>
                <a:gd name="connsiteY11" fmla="*/ 75938 h 129375"/>
                <a:gd name="connsiteX12" fmla="*/ 67493 w 216470"/>
                <a:gd name="connsiteY12" fmla="*/ 75938 h 129375"/>
                <a:gd name="connsiteX13" fmla="*/ 59055 w 216470"/>
                <a:gd name="connsiteY13" fmla="*/ 84375 h 129375"/>
                <a:gd name="connsiteX14" fmla="*/ 67493 w 216470"/>
                <a:gd name="connsiteY14" fmla="*/ 92813 h 129375"/>
                <a:gd name="connsiteX15" fmla="*/ 177180 w 216470"/>
                <a:gd name="connsiteY15" fmla="*/ 92813 h 129375"/>
                <a:gd name="connsiteX16" fmla="*/ 185618 w 216470"/>
                <a:gd name="connsiteY16" fmla="*/ 84375 h 129375"/>
                <a:gd name="connsiteX17" fmla="*/ 177180 w 216470"/>
                <a:gd name="connsiteY17" fmla="*/ 75938 h 129375"/>
                <a:gd name="connsiteX18" fmla="*/ 177096 w 216470"/>
                <a:gd name="connsiteY18" fmla="*/ 75938 h 129375"/>
                <a:gd name="connsiteX19" fmla="*/ 177096 w 216470"/>
                <a:gd name="connsiteY19" fmla="*/ 36563 h 129375"/>
                <a:gd name="connsiteX20" fmla="*/ 104055 w 216470"/>
                <a:gd name="connsiteY20" fmla="*/ 36563 h 129375"/>
                <a:gd name="connsiteX21" fmla="*/ 95618 w 216470"/>
                <a:gd name="connsiteY21" fmla="*/ 45000 h 129375"/>
                <a:gd name="connsiteX22" fmla="*/ 104055 w 216470"/>
                <a:gd name="connsiteY22" fmla="*/ 53438 h 129375"/>
                <a:gd name="connsiteX23" fmla="*/ 177180 w 216470"/>
                <a:gd name="connsiteY23" fmla="*/ 53438 h 129375"/>
                <a:gd name="connsiteX24" fmla="*/ 185618 w 216470"/>
                <a:gd name="connsiteY24" fmla="*/ 45000 h 129375"/>
                <a:gd name="connsiteX25" fmla="*/ 177180 w 216470"/>
                <a:gd name="connsiteY25" fmla="*/ 36563 h 129375"/>
                <a:gd name="connsiteX26" fmla="*/ 177096 w 216470"/>
                <a:gd name="connsiteY26" fmla="*/ 36563 h 12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6470" h="129375">
                  <a:moveTo>
                    <a:pt x="185533" y="0"/>
                  </a:moveTo>
                  <a:cubicBezTo>
                    <a:pt x="201846" y="0"/>
                    <a:pt x="216471" y="14625"/>
                    <a:pt x="216471" y="30938"/>
                  </a:cubicBezTo>
                  <a:lnTo>
                    <a:pt x="216471" y="98438"/>
                  </a:lnTo>
                  <a:cubicBezTo>
                    <a:pt x="216471" y="114750"/>
                    <a:pt x="201860" y="129375"/>
                    <a:pt x="185533" y="129375"/>
                  </a:cubicBezTo>
                  <a:lnTo>
                    <a:pt x="8430" y="129375"/>
                  </a:lnTo>
                  <a:cubicBezTo>
                    <a:pt x="5020" y="129372"/>
                    <a:pt x="1946" y="127316"/>
                    <a:pt x="642" y="124165"/>
                  </a:cubicBezTo>
                  <a:cubicBezTo>
                    <a:pt x="-663" y="121015"/>
                    <a:pt x="57" y="117388"/>
                    <a:pt x="2468" y="114975"/>
                  </a:cubicBezTo>
                  <a:lnTo>
                    <a:pt x="28118" y="89269"/>
                  </a:lnTo>
                  <a:lnTo>
                    <a:pt x="28118" y="30938"/>
                  </a:lnTo>
                  <a:cubicBezTo>
                    <a:pt x="28118" y="14625"/>
                    <a:pt x="42743" y="0"/>
                    <a:pt x="59055" y="0"/>
                  </a:cubicBezTo>
                  <a:lnTo>
                    <a:pt x="185533" y="0"/>
                  </a:lnTo>
                  <a:moveTo>
                    <a:pt x="177096" y="75938"/>
                  </a:moveTo>
                  <a:lnTo>
                    <a:pt x="67493" y="75938"/>
                  </a:lnTo>
                  <a:cubicBezTo>
                    <a:pt x="62832" y="75938"/>
                    <a:pt x="59055" y="79715"/>
                    <a:pt x="59055" y="84375"/>
                  </a:cubicBezTo>
                  <a:cubicBezTo>
                    <a:pt x="59055" y="89035"/>
                    <a:pt x="62832" y="92813"/>
                    <a:pt x="67493" y="92813"/>
                  </a:cubicBezTo>
                  <a:lnTo>
                    <a:pt x="177180" y="92813"/>
                  </a:lnTo>
                  <a:cubicBezTo>
                    <a:pt x="181841" y="92813"/>
                    <a:pt x="185618" y="89035"/>
                    <a:pt x="185618" y="84375"/>
                  </a:cubicBezTo>
                  <a:cubicBezTo>
                    <a:pt x="185618" y="79715"/>
                    <a:pt x="181841" y="75938"/>
                    <a:pt x="177180" y="75938"/>
                  </a:cubicBezTo>
                  <a:lnTo>
                    <a:pt x="177096" y="75938"/>
                  </a:lnTo>
                  <a:moveTo>
                    <a:pt x="177096" y="36563"/>
                  </a:moveTo>
                  <a:lnTo>
                    <a:pt x="104055" y="36563"/>
                  </a:lnTo>
                  <a:cubicBezTo>
                    <a:pt x="99395" y="36563"/>
                    <a:pt x="95618" y="40340"/>
                    <a:pt x="95618" y="45000"/>
                  </a:cubicBezTo>
                  <a:cubicBezTo>
                    <a:pt x="95618" y="49660"/>
                    <a:pt x="99395" y="53438"/>
                    <a:pt x="104055" y="53438"/>
                  </a:cubicBezTo>
                  <a:lnTo>
                    <a:pt x="177180" y="53438"/>
                  </a:lnTo>
                  <a:cubicBezTo>
                    <a:pt x="181841" y="53438"/>
                    <a:pt x="185618" y="49660"/>
                    <a:pt x="185618" y="45000"/>
                  </a:cubicBezTo>
                  <a:cubicBezTo>
                    <a:pt x="185618" y="40340"/>
                    <a:pt x="181841" y="36563"/>
                    <a:pt x="177180" y="36563"/>
                  </a:cubicBezTo>
                  <a:lnTo>
                    <a:pt x="177096" y="36563"/>
                  </a:ln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30"/>
            <p:cNvSpPr/>
            <p:nvPr>
              <p:custDataLst>
                <p:tags r:id="rId37"/>
              </p:custDataLst>
            </p:nvPr>
          </p:nvSpPr>
          <p:spPr>
            <a:xfrm>
              <a:off x="4941821" y="1691643"/>
              <a:ext cx="286875" cy="191186"/>
            </a:xfrm>
            <a:custGeom>
              <a:avLst/>
              <a:gdLst>
                <a:gd name="connsiteX0" fmla="*/ 250313 w 286875"/>
                <a:gd name="connsiteY0" fmla="*/ 0 h 191186"/>
                <a:gd name="connsiteX1" fmla="*/ 286875 w 286875"/>
                <a:gd name="connsiteY1" fmla="*/ 36563 h 191186"/>
                <a:gd name="connsiteX2" fmla="*/ 286875 w 286875"/>
                <a:gd name="connsiteY2" fmla="*/ 73125 h 191186"/>
                <a:gd name="connsiteX3" fmla="*/ 202500 w 286875"/>
                <a:gd name="connsiteY3" fmla="*/ 73125 h 191186"/>
                <a:gd name="connsiteX4" fmla="*/ 154688 w 286875"/>
                <a:gd name="connsiteY4" fmla="*/ 120938 h 191186"/>
                <a:gd name="connsiteX5" fmla="*/ 154688 w 286875"/>
                <a:gd name="connsiteY5" fmla="*/ 163125 h 191186"/>
                <a:gd name="connsiteX6" fmla="*/ 101911 w 286875"/>
                <a:gd name="connsiteY6" fmla="*/ 163125 h 191186"/>
                <a:gd name="connsiteX7" fmla="*/ 76261 w 286875"/>
                <a:gd name="connsiteY7" fmla="*/ 188719 h 191186"/>
                <a:gd name="connsiteX8" fmla="*/ 64336 w 286875"/>
                <a:gd name="connsiteY8" fmla="*/ 188719 h 191186"/>
                <a:gd name="connsiteX9" fmla="*/ 38686 w 286875"/>
                <a:gd name="connsiteY9" fmla="*/ 163125 h 191186"/>
                <a:gd name="connsiteX10" fmla="*/ 36563 w 286875"/>
                <a:gd name="connsiteY10" fmla="*/ 163125 h 191186"/>
                <a:gd name="connsiteX11" fmla="*/ 0 w 286875"/>
                <a:gd name="connsiteY11" fmla="*/ 126563 h 191186"/>
                <a:gd name="connsiteX12" fmla="*/ 0 w 286875"/>
                <a:gd name="connsiteY12" fmla="*/ 36563 h 191186"/>
                <a:gd name="connsiteX13" fmla="*/ 36563 w 286875"/>
                <a:gd name="connsiteY13" fmla="*/ 0 h 191186"/>
                <a:gd name="connsiteX14" fmla="*/ 250313 w 286875"/>
                <a:gd name="connsiteY14" fmla="*/ 0 h 191186"/>
                <a:gd name="connsiteX15" fmla="*/ 118125 w 286875"/>
                <a:gd name="connsiteY15" fmla="*/ 112500 h 191186"/>
                <a:gd name="connsiteX16" fmla="*/ 39375 w 286875"/>
                <a:gd name="connsiteY16" fmla="*/ 112500 h 191186"/>
                <a:gd name="connsiteX17" fmla="*/ 30938 w 286875"/>
                <a:gd name="connsiteY17" fmla="*/ 120938 h 191186"/>
                <a:gd name="connsiteX18" fmla="*/ 39375 w 286875"/>
                <a:gd name="connsiteY18" fmla="*/ 129375 h 191186"/>
                <a:gd name="connsiteX19" fmla="*/ 118125 w 286875"/>
                <a:gd name="connsiteY19" fmla="*/ 129375 h 191186"/>
                <a:gd name="connsiteX20" fmla="*/ 126563 w 286875"/>
                <a:gd name="connsiteY20" fmla="*/ 120938 h 191186"/>
                <a:gd name="connsiteX21" fmla="*/ 118125 w 286875"/>
                <a:gd name="connsiteY21" fmla="*/ 112500 h 191186"/>
                <a:gd name="connsiteX22" fmla="*/ 118125 w 286875"/>
                <a:gd name="connsiteY22" fmla="*/ 73125 h 191186"/>
                <a:gd name="connsiteX23" fmla="*/ 39375 w 286875"/>
                <a:gd name="connsiteY23" fmla="*/ 73125 h 191186"/>
                <a:gd name="connsiteX24" fmla="*/ 30938 w 286875"/>
                <a:gd name="connsiteY24" fmla="*/ 81563 h 191186"/>
                <a:gd name="connsiteX25" fmla="*/ 39375 w 286875"/>
                <a:gd name="connsiteY25" fmla="*/ 90000 h 191186"/>
                <a:gd name="connsiteX26" fmla="*/ 118125 w 286875"/>
                <a:gd name="connsiteY26" fmla="*/ 90000 h 191186"/>
                <a:gd name="connsiteX27" fmla="*/ 126563 w 286875"/>
                <a:gd name="connsiteY27" fmla="*/ 81563 h 191186"/>
                <a:gd name="connsiteX28" fmla="*/ 118125 w 286875"/>
                <a:gd name="connsiteY28" fmla="*/ 73125 h 191186"/>
                <a:gd name="connsiteX29" fmla="*/ 247500 w 286875"/>
                <a:gd name="connsiteY29" fmla="*/ 33750 h 191186"/>
                <a:gd name="connsiteX30" fmla="*/ 70313 w 286875"/>
                <a:gd name="connsiteY30" fmla="*/ 33750 h 191186"/>
                <a:gd name="connsiteX31" fmla="*/ 61875 w 286875"/>
                <a:gd name="connsiteY31" fmla="*/ 42188 h 191186"/>
                <a:gd name="connsiteX32" fmla="*/ 70313 w 286875"/>
                <a:gd name="connsiteY32" fmla="*/ 50625 h 191186"/>
                <a:gd name="connsiteX33" fmla="*/ 247500 w 286875"/>
                <a:gd name="connsiteY33" fmla="*/ 50625 h 191186"/>
                <a:gd name="connsiteX34" fmla="*/ 255938 w 286875"/>
                <a:gd name="connsiteY34" fmla="*/ 42188 h 191186"/>
                <a:gd name="connsiteX35" fmla="*/ 247500 w 286875"/>
                <a:gd name="connsiteY35" fmla="*/ 33750 h 191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86875" h="191186">
                  <a:moveTo>
                    <a:pt x="250313" y="0"/>
                  </a:moveTo>
                  <a:cubicBezTo>
                    <a:pt x="270505" y="0"/>
                    <a:pt x="286875" y="16370"/>
                    <a:pt x="286875" y="36563"/>
                  </a:cubicBezTo>
                  <a:lnTo>
                    <a:pt x="286875" y="73125"/>
                  </a:lnTo>
                  <a:lnTo>
                    <a:pt x="202500" y="73125"/>
                  </a:lnTo>
                  <a:cubicBezTo>
                    <a:pt x="176878" y="73125"/>
                    <a:pt x="154688" y="95302"/>
                    <a:pt x="154688" y="120938"/>
                  </a:cubicBezTo>
                  <a:lnTo>
                    <a:pt x="154688" y="163125"/>
                  </a:lnTo>
                  <a:lnTo>
                    <a:pt x="101911" y="163125"/>
                  </a:lnTo>
                  <a:lnTo>
                    <a:pt x="76261" y="188719"/>
                  </a:lnTo>
                  <a:cubicBezTo>
                    <a:pt x="72967" y="192009"/>
                    <a:pt x="67630" y="192009"/>
                    <a:pt x="64336" y="188719"/>
                  </a:cubicBezTo>
                  <a:lnTo>
                    <a:pt x="38686" y="163125"/>
                  </a:lnTo>
                  <a:lnTo>
                    <a:pt x="36563" y="163125"/>
                  </a:lnTo>
                  <a:cubicBezTo>
                    <a:pt x="16370" y="163125"/>
                    <a:pt x="0" y="146755"/>
                    <a:pt x="0" y="126563"/>
                  </a:cubicBezTo>
                  <a:lnTo>
                    <a:pt x="0" y="36563"/>
                  </a:lnTo>
                  <a:cubicBezTo>
                    <a:pt x="0" y="16370"/>
                    <a:pt x="16370" y="0"/>
                    <a:pt x="36563" y="0"/>
                  </a:cubicBezTo>
                  <a:lnTo>
                    <a:pt x="250313" y="0"/>
                  </a:lnTo>
                  <a:moveTo>
                    <a:pt x="118125" y="112500"/>
                  </a:moveTo>
                  <a:lnTo>
                    <a:pt x="39375" y="112500"/>
                  </a:lnTo>
                  <a:cubicBezTo>
                    <a:pt x="34715" y="112500"/>
                    <a:pt x="30938" y="116278"/>
                    <a:pt x="30938" y="120938"/>
                  </a:cubicBezTo>
                  <a:cubicBezTo>
                    <a:pt x="30938" y="125597"/>
                    <a:pt x="34715" y="129375"/>
                    <a:pt x="39375" y="129375"/>
                  </a:cubicBezTo>
                  <a:lnTo>
                    <a:pt x="118125" y="129375"/>
                  </a:lnTo>
                  <a:cubicBezTo>
                    <a:pt x="122785" y="129375"/>
                    <a:pt x="126563" y="125597"/>
                    <a:pt x="126563" y="120938"/>
                  </a:cubicBezTo>
                  <a:cubicBezTo>
                    <a:pt x="126563" y="116278"/>
                    <a:pt x="122785" y="112500"/>
                    <a:pt x="118125" y="112500"/>
                  </a:cubicBezTo>
                  <a:moveTo>
                    <a:pt x="118125" y="73125"/>
                  </a:moveTo>
                  <a:lnTo>
                    <a:pt x="39375" y="73125"/>
                  </a:lnTo>
                  <a:cubicBezTo>
                    <a:pt x="34715" y="73125"/>
                    <a:pt x="30938" y="76903"/>
                    <a:pt x="30938" y="81563"/>
                  </a:cubicBezTo>
                  <a:cubicBezTo>
                    <a:pt x="30938" y="86222"/>
                    <a:pt x="34715" y="90000"/>
                    <a:pt x="39375" y="90000"/>
                  </a:cubicBezTo>
                  <a:lnTo>
                    <a:pt x="118125" y="90000"/>
                  </a:lnTo>
                  <a:cubicBezTo>
                    <a:pt x="122785" y="90000"/>
                    <a:pt x="126563" y="86222"/>
                    <a:pt x="126563" y="81563"/>
                  </a:cubicBezTo>
                  <a:cubicBezTo>
                    <a:pt x="126563" y="76903"/>
                    <a:pt x="122785" y="73125"/>
                    <a:pt x="118125" y="73125"/>
                  </a:cubicBezTo>
                  <a:moveTo>
                    <a:pt x="247500" y="33750"/>
                  </a:moveTo>
                  <a:lnTo>
                    <a:pt x="70313" y="33750"/>
                  </a:lnTo>
                  <a:cubicBezTo>
                    <a:pt x="65653" y="33750"/>
                    <a:pt x="61875" y="37528"/>
                    <a:pt x="61875" y="42188"/>
                  </a:cubicBezTo>
                  <a:cubicBezTo>
                    <a:pt x="61875" y="46847"/>
                    <a:pt x="65653" y="50625"/>
                    <a:pt x="70313" y="50625"/>
                  </a:cubicBezTo>
                  <a:lnTo>
                    <a:pt x="247500" y="50625"/>
                  </a:lnTo>
                  <a:cubicBezTo>
                    <a:pt x="252160" y="50625"/>
                    <a:pt x="255938" y="46847"/>
                    <a:pt x="255938" y="42188"/>
                  </a:cubicBezTo>
                  <a:cubicBezTo>
                    <a:pt x="255938" y="37528"/>
                    <a:pt x="252160" y="33750"/>
                    <a:pt x="247500" y="33750"/>
                  </a:cubicBezTo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3" name="图形 58" descr="云"/>
          <p:cNvGrpSpPr/>
          <p:nvPr>
            <p:custDataLst>
              <p:tags r:id="rId38"/>
            </p:custDataLst>
          </p:nvPr>
        </p:nvGrpSpPr>
        <p:grpSpPr>
          <a:xfrm rot="180000">
            <a:off x="4822212" y="4342698"/>
            <a:ext cx="360000" cy="359943"/>
            <a:chOff x="6859292" y="5627938"/>
            <a:chExt cx="360000" cy="359943"/>
          </a:xfrm>
          <a:solidFill>
            <a:srgbClr val="FFFFFF"/>
          </a:solidFill>
        </p:grpSpPr>
        <p:sp>
          <p:nvSpPr>
            <p:cNvPr id="14" name="任意多边形: 形状 37"/>
            <p:cNvSpPr/>
            <p:nvPr>
              <p:custDataLst>
                <p:tags r:id="rId39"/>
              </p:custDataLst>
            </p:nvPr>
          </p:nvSpPr>
          <p:spPr>
            <a:xfrm>
              <a:off x="6859292" y="5627938"/>
              <a:ext cx="360000" cy="359943"/>
            </a:xfrm>
            <a:custGeom>
              <a:avLst/>
              <a:gdLst>
                <a:gd name="connsiteX0" fmla="*/ 174375 w 360000"/>
                <a:gd name="connsiteY0" fmla="*/ 0 h 359943"/>
                <a:gd name="connsiteX1" fmla="*/ 262111 w 360000"/>
                <a:gd name="connsiteY1" fmla="*/ 46294 h 359943"/>
                <a:gd name="connsiteX2" fmla="*/ 271111 w 360000"/>
                <a:gd name="connsiteY2" fmla="*/ 62213 h 359943"/>
                <a:gd name="connsiteX3" fmla="*/ 278438 w 360000"/>
                <a:gd name="connsiteY3" fmla="*/ 61875 h 359943"/>
                <a:gd name="connsiteX4" fmla="*/ 282656 w 360000"/>
                <a:gd name="connsiteY4" fmla="*/ 61973 h 359943"/>
                <a:gd name="connsiteX5" fmla="*/ 360000 w 360000"/>
                <a:gd name="connsiteY5" fmla="*/ 143409 h 359943"/>
                <a:gd name="connsiteX6" fmla="*/ 278438 w 360000"/>
                <a:gd name="connsiteY6" fmla="*/ 224972 h 359943"/>
                <a:gd name="connsiteX7" fmla="*/ 191250 w 360000"/>
                <a:gd name="connsiteY7" fmla="*/ 224972 h 359943"/>
                <a:gd name="connsiteX8" fmla="*/ 191250 w 360000"/>
                <a:gd name="connsiteY8" fmla="*/ 260016 h 359943"/>
                <a:gd name="connsiteX9" fmla="*/ 230625 w 360000"/>
                <a:gd name="connsiteY9" fmla="*/ 309319 h 359943"/>
                <a:gd name="connsiteX10" fmla="*/ 180000 w 360000"/>
                <a:gd name="connsiteY10" fmla="*/ 359944 h 359943"/>
                <a:gd name="connsiteX11" fmla="*/ 129375 w 360000"/>
                <a:gd name="connsiteY11" fmla="*/ 309319 h 359943"/>
                <a:gd name="connsiteX12" fmla="*/ 168750 w 360000"/>
                <a:gd name="connsiteY12" fmla="*/ 260016 h 359943"/>
                <a:gd name="connsiteX13" fmla="*/ 168750 w 360000"/>
                <a:gd name="connsiteY13" fmla="*/ 225000 h 359943"/>
                <a:gd name="connsiteX14" fmla="*/ 70313 w 360000"/>
                <a:gd name="connsiteY14" fmla="*/ 225000 h 359943"/>
                <a:gd name="connsiteX15" fmla="*/ 0 w 360000"/>
                <a:gd name="connsiteY15" fmla="*/ 154688 h 359943"/>
                <a:gd name="connsiteX16" fmla="*/ 69961 w 360000"/>
                <a:gd name="connsiteY16" fmla="*/ 84375 h 359943"/>
                <a:gd name="connsiteX17" fmla="*/ 174220 w 360000"/>
                <a:gd name="connsiteY17" fmla="*/ 0 h 359943"/>
                <a:gd name="connsiteX18" fmla="*/ 174375 w 360000"/>
                <a:gd name="connsiteY18" fmla="*/ 0 h 35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0000" h="359943">
                  <a:moveTo>
                    <a:pt x="174375" y="0"/>
                  </a:moveTo>
                  <a:cubicBezTo>
                    <a:pt x="209416" y="215"/>
                    <a:pt x="242155" y="17489"/>
                    <a:pt x="262111" y="46294"/>
                  </a:cubicBezTo>
                  <a:cubicBezTo>
                    <a:pt x="266892" y="53255"/>
                    <a:pt x="267455" y="54956"/>
                    <a:pt x="271111" y="62213"/>
                  </a:cubicBezTo>
                  <a:cubicBezTo>
                    <a:pt x="273545" y="61958"/>
                    <a:pt x="275991" y="61846"/>
                    <a:pt x="278438" y="61875"/>
                  </a:cubicBezTo>
                  <a:lnTo>
                    <a:pt x="282656" y="61973"/>
                  </a:lnTo>
                  <a:cubicBezTo>
                    <a:pt x="326883" y="65517"/>
                    <a:pt x="358875" y="98972"/>
                    <a:pt x="360000" y="143409"/>
                  </a:cubicBezTo>
                  <a:cubicBezTo>
                    <a:pt x="360000" y="188456"/>
                    <a:pt x="323484" y="224972"/>
                    <a:pt x="278438" y="224972"/>
                  </a:cubicBezTo>
                  <a:lnTo>
                    <a:pt x="191250" y="224972"/>
                  </a:lnTo>
                  <a:lnTo>
                    <a:pt x="191250" y="260016"/>
                  </a:lnTo>
                  <a:cubicBezTo>
                    <a:pt x="214664" y="264853"/>
                    <a:pt x="230034" y="286059"/>
                    <a:pt x="230625" y="309319"/>
                  </a:cubicBezTo>
                  <a:cubicBezTo>
                    <a:pt x="230625" y="337278"/>
                    <a:pt x="207959" y="359944"/>
                    <a:pt x="180000" y="359944"/>
                  </a:cubicBezTo>
                  <a:cubicBezTo>
                    <a:pt x="152041" y="359944"/>
                    <a:pt x="129375" y="337278"/>
                    <a:pt x="129375" y="309319"/>
                  </a:cubicBezTo>
                  <a:cubicBezTo>
                    <a:pt x="129502" y="286313"/>
                    <a:pt x="145814" y="264698"/>
                    <a:pt x="168750" y="260016"/>
                  </a:cubicBezTo>
                  <a:lnTo>
                    <a:pt x="168750" y="225000"/>
                  </a:lnTo>
                  <a:lnTo>
                    <a:pt x="70313" y="225000"/>
                  </a:lnTo>
                  <a:cubicBezTo>
                    <a:pt x="31480" y="225000"/>
                    <a:pt x="0" y="193520"/>
                    <a:pt x="0" y="154688"/>
                  </a:cubicBezTo>
                  <a:cubicBezTo>
                    <a:pt x="492" y="115453"/>
                    <a:pt x="30938" y="85388"/>
                    <a:pt x="69961" y="84375"/>
                  </a:cubicBezTo>
                  <a:cubicBezTo>
                    <a:pt x="81211" y="34228"/>
                    <a:pt x="123469" y="1772"/>
                    <a:pt x="174220" y="0"/>
                  </a:cubicBezTo>
                  <a:lnTo>
                    <a:pt x="174375" y="0"/>
                  </a:lnTo>
                  <a:close/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39"/>
            <p:cNvSpPr/>
            <p:nvPr>
              <p:custDataLst>
                <p:tags r:id="rId40"/>
              </p:custDataLst>
            </p:nvPr>
          </p:nvSpPr>
          <p:spPr>
            <a:xfrm>
              <a:off x="6887417" y="5926063"/>
              <a:ext cx="85317" cy="22500"/>
            </a:xfrm>
            <a:custGeom>
              <a:avLst/>
              <a:gdLst>
                <a:gd name="connsiteX0" fmla="*/ 85317 w 85317"/>
                <a:gd name="connsiteY0" fmla="*/ 0 h 22500"/>
                <a:gd name="connsiteX1" fmla="*/ 84347 w 85317"/>
                <a:gd name="connsiteY1" fmla="*/ 11250 h 22500"/>
                <a:gd name="connsiteX2" fmla="*/ 85317 w 85317"/>
                <a:gd name="connsiteY2" fmla="*/ 22500 h 22500"/>
                <a:gd name="connsiteX3" fmla="*/ 11250 w 85317"/>
                <a:gd name="connsiteY3" fmla="*/ 22500 h 22500"/>
                <a:gd name="connsiteX4" fmla="*/ 0 w 85317"/>
                <a:gd name="connsiteY4" fmla="*/ 11250 h 22500"/>
                <a:gd name="connsiteX5" fmla="*/ 11250 w 85317"/>
                <a:gd name="connsiteY5" fmla="*/ 0 h 22500"/>
                <a:gd name="connsiteX6" fmla="*/ 85317 w 85317"/>
                <a:gd name="connsiteY6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317" h="22500">
                  <a:moveTo>
                    <a:pt x="85317" y="0"/>
                  </a:moveTo>
                  <a:cubicBezTo>
                    <a:pt x="84614" y="3707"/>
                    <a:pt x="84289" y="7477"/>
                    <a:pt x="84347" y="11250"/>
                  </a:cubicBezTo>
                  <a:cubicBezTo>
                    <a:pt x="84304" y="15023"/>
                    <a:pt x="84629" y="18790"/>
                    <a:pt x="85317" y="22500"/>
                  </a:cubicBezTo>
                  <a:lnTo>
                    <a:pt x="11250" y="22500"/>
                  </a:lnTo>
                  <a:cubicBezTo>
                    <a:pt x="5037" y="22500"/>
                    <a:pt x="0" y="17463"/>
                    <a:pt x="0" y="11250"/>
                  </a:cubicBezTo>
                  <a:cubicBezTo>
                    <a:pt x="0" y="5037"/>
                    <a:pt x="5037" y="0"/>
                    <a:pt x="11250" y="0"/>
                  </a:cubicBezTo>
                  <a:lnTo>
                    <a:pt x="85317" y="0"/>
                  </a:lnTo>
                  <a:close/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40"/>
            <p:cNvSpPr/>
            <p:nvPr>
              <p:custDataLst>
                <p:tags r:id="rId41"/>
              </p:custDataLst>
            </p:nvPr>
          </p:nvSpPr>
          <p:spPr>
            <a:xfrm>
              <a:off x="7105751" y="5926063"/>
              <a:ext cx="85331" cy="22500"/>
            </a:xfrm>
            <a:custGeom>
              <a:avLst/>
              <a:gdLst>
                <a:gd name="connsiteX0" fmla="*/ 74081 w 85331"/>
                <a:gd name="connsiteY0" fmla="*/ 0 h 22500"/>
                <a:gd name="connsiteX1" fmla="*/ 85331 w 85331"/>
                <a:gd name="connsiteY1" fmla="*/ 11250 h 22500"/>
                <a:gd name="connsiteX2" fmla="*/ 74081 w 85331"/>
                <a:gd name="connsiteY2" fmla="*/ 22500 h 22500"/>
                <a:gd name="connsiteX3" fmla="*/ 0 w 85331"/>
                <a:gd name="connsiteY3" fmla="*/ 22500 h 22500"/>
                <a:gd name="connsiteX4" fmla="*/ 970 w 85331"/>
                <a:gd name="connsiteY4" fmla="*/ 11250 h 22500"/>
                <a:gd name="connsiteX5" fmla="*/ 0 w 85331"/>
                <a:gd name="connsiteY5" fmla="*/ 0 h 22500"/>
                <a:gd name="connsiteX6" fmla="*/ 74081 w 85331"/>
                <a:gd name="connsiteY6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331" h="22500">
                  <a:moveTo>
                    <a:pt x="74081" y="0"/>
                  </a:moveTo>
                  <a:cubicBezTo>
                    <a:pt x="80294" y="0"/>
                    <a:pt x="85331" y="5037"/>
                    <a:pt x="85331" y="11250"/>
                  </a:cubicBezTo>
                  <a:cubicBezTo>
                    <a:pt x="85331" y="17463"/>
                    <a:pt x="80294" y="22500"/>
                    <a:pt x="74081" y="22500"/>
                  </a:cubicBezTo>
                  <a:lnTo>
                    <a:pt x="0" y="22500"/>
                  </a:lnTo>
                  <a:cubicBezTo>
                    <a:pt x="696" y="18792"/>
                    <a:pt x="1021" y="15023"/>
                    <a:pt x="970" y="11250"/>
                  </a:cubicBezTo>
                  <a:cubicBezTo>
                    <a:pt x="1007" y="7477"/>
                    <a:pt x="682" y="3710"/>
                    <a:pt x="0" y="0"/>
                  </a:cubicBezTo>
                  <a:lnTo>
                    <a:pt x="74081" y="0"/>
                  </a:lnTo>
                  <a:close/>
                </a:path>
              </a:pathLst>
            </a:custGeom>
            <a:solidFill>
              <a:srgbClr val="FFFFFF"/>
            </a:solidFill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建设目标</a:t>
            </a:r>
            <a:endParaRPr lang="zh-CN" altLang="en-US"/>
          </a:p>
        </p:txBody>
      </p:sp>
      <p:sp>
        <p:nvSpPr>
          <p:cNvPr id="6" name="矩形: 圆角 15"/>
          <p:cNvSpPr/>
          <p:nvPr>
            <p:custDataLst>
              <p:tags r:id="rId1"/>
            </p:custDataLst>
          </p:nvPr>
        </p:nvSpPr>
        <p:spPr>
          <a:xfrm>
            <a:off x="6461760" y="1609090"/>
            <a:ext cx="5174615" cy="708025"/>
          </a:xfrm>
          <a:prstGeom prst="roundRect">
            <a:avLst>
              <a:gd name="adj" fmla="val 10224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18910" y="1731645"/>
            <a:ext cx="497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融合规程标准、检修经验、历史案例等知识资产，实现企业知识统一管理与智能问答</a:t>
            </a:r>
            <a:endParaRPr lang="zh-CN" altLang="en-US" sz="1200">
              <a:latin typeface="微软雅黑" panose="020B0503020204020204" charset="-122"/>
            </a:endParaRPr>
          </a:p>
        </p:txBody>
      </p:sp>
      <p:sp>
        <p:nvSpPr>
          <p:cNvPr id="5" name="矩形: 圆角 12"/>
          <p:cNvSpPr/>
          <p:nvPr>
            <p:custDataLst>
              <p:tags r:id="rId3"/>
            </p:custDataLst>
          </p:nvPr>
        </p:nvSpPr>
        <p:spPr>
          <a:xfrm>
            <a:off x="6461760" y="1045210"/>
            <a:ext cx="5173980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建立智能知识问答服务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4"/>
            </p:custDataLst>
          </p:nvPr>
        </p:nvSpPr>
        <p:spPr>
          <a:xfrm>
            <a:off x="6461760" y="3009900"/>
            <a:ext cx="5174615" cy="708025"/>
          </a:xfrm>
          <a:prstGeom prst="roundRect">
            <a:avLst>
              <a:gd name="adj" fmla="val 10224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6518910" y="3132455"/>
            <a:ext cx="497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结合运行数据、检修数据和历史案例，实现超温分析、缺陷识别、泄爆溯源等智能分析能力。</a:t>
            </a:r>
            <a:endParaRPr lang="zh-CN" altLang="en-US" sz="1200">
              <a:latin typeface="微软雅黑" panose="020B0503020204020204" charset="-122"/>
            </a:endParaRPr>
          </a:p>
        </p:txBody>
      </p:sp>
      <p:sp>
        <p:nvSpPr>
          <p:cNvPr id="18" name="矩形: 圆角 12"/>
          <p:cNvSpPr/>
          <p:nvPr>
            <p:custDataLst>
              <p:tags r:id="rId6"/>
            </p:custDataLst>
          </p:nvPr>
        </p:nvSpPr>
        <p:spPr>
          <a:xfrm>
            <a:off x="6461760" y="2446020"/>
            <a:ext cx="5173980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b="1">
                <a:sym typeface="+mn-ea"/>
              </a:rPr>
              <a:t>② </a:t>
            </a:r>
            <a:r>
              <a:rPr lang="zh-CN" altLang="en-US" b="1">
                <a:sym typeface="+mn-ea"/>
              </a:rPr>
              <a:t>构建</a:t>
            </a:r>
            <a:r>
              <a:rPr lang="en-US" altLang="zh-CN" b="1">
                <a:sym typeface="+mn-ea"/>
              </a:rPr>
              <a:t>AI</a:t>
            </a:r>
            <a:r>
              <a:rPr lang="zh-CN" altLang="en-US" b="1">
                <a:sym typeface="+mn-ea"/>
              </a:rPr>
              <a:t>智能分析能力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5"/>
          <p:cNvSpPr/>
          <p:nvPr>
            <p:custDataLst>
              <p:tags r:id="rId7"/>
            </p:custDataLst>
          </p:nvPr>
        </p:nvSpPr>
        <p:spPr>
          <a:xfrm>
            <a:off x="6462395" y="4451985"/>
            <a:ext cx="5174615" cy="708025"/>
          </a:xfrm>
          <a:prstGeom prst="roundRect">
            <a:avLst>
              <a:gd name="adj" fmla="val 10224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6519545" y="4574540"/>
            <a:ext cx="497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覆盖知识查询、故障分析、看图诊断、报告解析、检修策划等业务场景，提升运维效率。</a:t>
            </a:r>
            <a:endParaRPr lang="zh-CN" altLang="en-US" sz="1200">
              <a:latin typeface="微软雅黑" panose="020B0503020204020204" charset="-122"/>
            </a:endParaRPr>
          </a:p>
        </p:txBody>
      </p:sp>
      <p:sp>
        <p:nvSpPr>
          <p:cNvPr id="21" name="矩形: 圆角 12"/>
          <p:cNvSpPr/>
          <p:nvPr>
            <p:custDataLst>
              <p:tags r:id="rId9"/>
            </p:custDataLst>
          </p:nvPr>
        </p:nvSpPr>
        <p:spPr>
          <a:xfrm>
            <a:off x="6462395" y="3888105"/>
            <a:ext cx="5173980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b="1">
                <a:sym typeface="+mn-ea"/>
              </a:rPr>
              <a:t>③ </a:t>
            </a:r>
            <a:r>
              <a:rPr lang="zh-CN" altLang="en-US" b="1">
                <a:sym typeface="+mn-ea"/>
              </a:rPr>
              <a:t>实现运维全过程智能辅助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15"/>
          <p:cNvSpPr/>
          <p:nvPr>
            <p:custDataLst>
              <p:tags r:id="rId10"/>
            </p:custDataLst>
          </p:nvPr>
        </p:nvSpPr>
        <p:spPr>
          <a:xfrm>
            <a:off x="6462395" y="5891530"/>
            <a:ext cx="5174615" cy="708025"/>
          </a:xfrm>
          <a:prstGeom prst="roundRect">
            <a:avLst>
              <a:gd name="adj" fmla="val 10224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519545" y="6014085"/>
            <a:ext cx="497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推动锅炉四管运维由</a:t>
            </a:r>
            <a:r>
              <a:rPr lang="en-US" altLang="zh-CN" sz="1200">
                <a:sym typeface="+mn-ea"/>
              </a:rPr>
              <a:t>"</a:t>
            </a:r>
            <a:r>
              <a:rPr lang="zh-CN" altLang="en-US" sz="1200">
                <a:sym typeface="+mn-ea"/>
              </a:rPr>
              <a:t>经验驱动</a:t>
            </a:r>
            <a:r>
              <a:rPr lang="en-US" altLang="zh-CN" sz="1200">
                <a:sym typeface="+mn-ea"/>
              </a:rPr>
              <a:t>"</a:t>
            </a:r>
            <a:r>
              <a:rPr lang="zh-CN" altLang="en-US" sz="1200">
                <a:sym typeface="+mn-ea"/>
              </a:rPr>
              <a:t>向</a:t>
            </a:r>
            <a:r>
              <a:rPr lang="en-US" altLang="zh-CN" sz="1200">
                <a:sym typeface="+mn-ea"/>
              </a:rPr>
              <a:t>"</a:t>
            </a:r>
            <a:r>
              <a:rPr lang="zh-CN" altLang="en-US" sz="1200">
                <a:sym typeface="+mn-ea"/>
              </a:rPr>
              <a:t>数据驱动、</a:t>
            </a:r>
            <a:r>
              <a:rPr lang="en-US" altLang="zh-CN" sz="1200">
                <a:sym typeface="+mn-ea"/>
              </a:rPr>
              <a:t>AI</a:t>
            </a:r>
            <a:r>
              <a:rPr lang="zh-CN" altLang="en-US" sz="1200">
                <a:sym typeface="+mn-ea"/>
              </a:rPr>
              <a:t>辅助、预测运维</a:t>
            </a:r>
            <a:r>
              <a:rPr lang="en-US" altLang="zh-CN" sz="1200">
                <a:sym typeface="+mn-ea"/>
              </a:rPr>
              <a:t>"</a:t>
            </a:r>
            <a:r>
              <a:rPr lang="zh-CN" altLang="en-US" sz="1200">
                <a:sym typeface="+mn-ea"/>
              </a:rPr>
              <a:t>升级。</a:t>
            </a:r>
            <a:endParaRPr lang="zh-CN" altLang="en-US" sz="1200">
              <a:latin typeface="微软雅黑" panose="020B0503020204020204" charset="-122"/>
            </a:endParaRPr>
          </a:p>
        </p:txBody>
      </p:sp>
      <p:sp>
        <p:nvSpPr>
          <p:cNvPr id="26" name="矩形: 圆角 12"/>
          <p:cNvSpPr/>
          <p:nvPr>
            <p:custDataLst>
              <p:tags r:id="rId12"/>
            </p:custDataLst>
          </p:nvPr>
        </p:nvSpPr>
        <p:spPr>
          <a:xfrm>
            <a:off x="6462395" y="5327650"/>
            <a:ext cx="5173980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b="1">
                <a:sym typeface="+mn-ea"/>
              </a:rPr>
              <a:t>④ </a:t>
            </a:r>
            <a:r>
              <a:rPr lang="zh-CN" altLang="en-US" b="1">
                <a:sym typeface="+mn-ea"/>
              </a:rPr>
              <a:t>打造预测性智能运维体系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880980" y="3311411"/>
            <a:ext cx="3881119" cy="3366847"/>
          </a:xfrm>
          <a:custGeom>
            <a:avLst/>
            <a:gdLst>
              <a:gd name="connsiteX0" fmla="*/ 0 w 3818766"/>
              <a:gd name="connsiteY0" fmla="*/ 0 h 3366847"/>
              <a:gd name="connsiteX1" fmla="*/ 3818766 w 3818766"/>
              <a:gd name="connsiteY1" fmla="*/ 0 h 3366847"/>
              <a:gd name="connsiteX2" fmla="*/ 3707675 w 3818766"/>
              <a:gd name="connsiteY2" fmla="*/ 1004647 h 3366847"/>
              <a:gd name="connsiteX3" fmla="*/ 3416030 w 3818766"/>
              <a:gd name="connsiteY3" fmla="*/ 1743787 h 3366847"/>
              <a:gd name="connsiteX4" fmla="*/ 2548574 w 3818766"/>
              <a:gd name="connsiteY4" fmla="*/ 2902027 h 3366847"/>
              <a:gd name="connsiteX5" fmla="*/ 2234495 w 3818766"/>
              <a:gd name="connsiteY5" fmla="*/ 2650567 h 3366847"/>
              <a:gd name="connsiteX6" fmla="*/ 1815722 w 3818766"/>
              <a:gd name="connsiteY6" fmla="*/ 3366847 h 3366847"/>
              <a:gd name="connsiteX7" fmla="*/ 1389472 w 3818766"/>
              <a:gd name="connsiteY7" fmla="*/ 2848687 h 3366847"/>
              <a:gd name="connsiteX8" fmla="*/ 1135218 w 3818766"/>
              <a:gd name="connsiteY8" fmla="*/ 3077287 h 3366847"/>
              <a:gd name="connsiteX9" fmla="*/ 708968 w 3818766"/>
              <a:gd name="connsiteY9" fmla="*/ 2010487 h 3366847"/>
              <a:gd name="connsiteX10" fmla="*/ 447235 w 3818766"/>
              <a:gd name="connsiteY10" fmla="*/ 1339927 h 3366847"/>
              <a:gd name="connsiteX11" fmla="*/ 402367 w 3818766"/>
              <a:gd name="connsiteY11" fmla="*/ 920827 h 3366847"/>
              <a:gd name="connsiteX12" fmla="*/ 0 w 3818766"/>
              <a:gd name="connsiteY12" fmla="*/ 0 h 3366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8766" h="3366847">
                <a:moveTo>
                  <a:pt x="0" y="0"/>
                </a:moveTo>
                <a:lnTo>
                  <a:pt x="3818766" y="0"/>
                </a:lnTo>
                <a:lnTo>
                  <a:pt x="3707675" y="1004647"/>
                </a:lnTo>
                <a:lnTo>
                  <a:pt x="3416030" y="1743787"/>
                </a:lnTo>
                <a:lnTo>
                  <a:pt x="2548574" y="2902027"/>
                </a:lnTo>
                <a:lnTo>
                  <a:pt x="2234495" y="2650567"/>
                </a:lnTo>
                <a:lnTo>
                  <a:pt x="1815722" y="3366847"/>
                </a:lnTo>
                <a:lnTo>
                  <a:pt x="1389472" y="2848687"/>
                </a:lnTo>
                <a:lnTo>
                  <a:pt x="1135218" y="3077287"/>
                </a:lnTo>
                <a:lnTo>
                  <a:pt x="708968" y="2010487"/>
                </a:lnTo>
                <a:lnTo>
                  <a:pt x="447235" y="1339927"/>
                </a:lnTo>
                <a:lnTo>
                  <a:pt x="402367" y="92082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0000">
                <a:schemeClr val="accent1">
                  <a:alpha val="8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254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7" name="任意多边形: 形状 10"/>
          <p:cNvSpPr/>
          <p:nvPr/>
        </p:nvSpPr>
        <p:spPr>
          <a:xfrm>
            <a:off x="884555" y="1432083"/>
            <a:ext cx="3881120" cy="1843787"/>
          </a:xfrm>
          <a:custGeom>
            <a:avLst/>
            <a:gdLst>
              <a:gd name="connsiteX0" fmla="*/ 137160 w 5806440"/>
              <a:gd name="connsiteY0" fmla="*/ 2034540 h 2758440"/>
              <a:gd name="connsiteX1" fmla="*/ 381000 w 5806440"/>
              <a:gd name="connsiteY1" fmla="*/ 1653540 h 2758440"/>
              <a:gd name="connsiteX2" fmla="*/ 762000 w 5806440"/>
              <a:gd name="connsiteY2" fmla="*/ 1562100 h 2758440"/>
              <a:gd name="connsiteX3" fmla="*/ 1005840 w 5806440"/>
              <a:gd name="connsiteY3" fmla="*/ 1158240 h 2758440"/>
              <a:gd name="connsiteX4" fmla="*/ 1470660 w 5806440"/>
              <a:gd name="connsiteY4" fmla="*/ 1051560 h 2758440"/>
              <a:gd name="connsiteX5" fmla="*/ 2118360 w 5806440"/>
              <a:gd name="connsiteY5" fmla="*/ 670560 h 2758440"/>
              <a:gd name="connsiteX6" fmla="*/ 2385060 w 5806440"/>
              <a:gd name="connsiteY6" fmla="*/ 914400 h 2758440"/>
              <a:gd name="connsiteX7" fmla="*/ 2948940 w 5806440"/>
              <a:gd name="connsiteY7" fmla="*/ 0 h 2758440"/>
              <a:gd name="connsiteX8" fmla="*/ 3307080 w 5806440"/>
              <a:gd name="connsiteY8" fmla="*/ 213360 h 2758440"/>
              <a:gd name="connsiteX9" fmla="*/ 3810000 w 5806440"/>
              <a:gd name="connsiteY9" fmla="*/ 297180 h 2758440"/>
              <a:gd name="connsiteX10" fmla="*/ 4351020 w 5806440"/>
              <a:gd name="connsiteY10" fmla="*/ 1158240 h 2758440"/>
              <a:gd name="connsiteX11" fmla="*/ 4808220 w 5806440"/>
              <a:gd name="connsiteY11" fmla="*/ 1280160 h 2758440"/>
              <a:gd name="connsiteX12" fmla="*/ 5166360 w 5806440"/>
              <a:gd name="connsiteY12" fmla="*/ 2148840 h 2758440"/>
              <a:gd name="connsiteX13" fmla="*/ 5524500 w 5806440"/>
              <a:gd name="connsiteY13" fmla="*/ 2293620 h 2758440"/>
              <a:gd name="connsiteX14" fmla="*/ 5806440 w 5806440"/>
              <a:gd name="connsiteY14" fmla="*/ 2758440 h 2758440"/>
              <a:gd name="connsiteX15" fmla="*/ 0 w 5806440"/>
              <a:gd name="connsiteY15" fmla="*/ 2758440 h 2758440"/>
              <a:gd name="connsiteX16" fmla="*/ 137160 w 5806440"/>
              <a:gd name="connsiteY16" fmla="*/ 2034540 h 2758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06440" h="2758440">
                <a:moveTo>
                  <a:pt x="137160" y="2034540"/>
                </a:moveTo>
                <a:lnTo>
                  <a:pt x="381000" y="1653540"/>
                </a:lnTo>
                <a:lnTo>
                  <a:pt x="762000" y="1562100"/>
                </a:lnTo>
                <a:lnTo>
                  <a:pt x="1005840" y="1158240"/>
                </a:lnTo>
                <a:lnTo>
                  <a:pt x="1470660" y="1051560"/>
                </a:lnTo>
                <a:lnTo>
                  <a:pt x="2118360" y="670560"/>
                </a:lnTo>
                <a:lnTo>
                  <a:pt x="2385060" y="914400"/>
                </a:lnTo>
                <a:lnTo>
                  <a:pt x="2948940" y="0"/>
                </a:lnTo>
                <a:lnTo>
                  <a:pt x="3307080" y="213360"/>
                </a:lnTo>
                <a:lnTo>
                  <a:pt x="3810000" y="297180"/>
                </a:lnTo>
                <a:lnTo>
                  <a:pt x="4351020" y="1158240"/>
                </a:lnTo>
                <a:lnTo>
                  <a:pt x="4808220" y="1280160"/>
                </a:lnTo>
                <a:lnTo>
                  <a:pt x="5166360" y="2148840"/>
                </a:lnTo>
                <a:lnTo>
                  <a:pt x="5524500" y="2293620"/>
                </a:lnTo>
                <a:lnTo>
                  <a:pt x="5806440" y="2758440"/>
                </a:lnTo>
                <a:lnTo>
                  <a:pt x="0" y="2758440"/>
                </a:lnTo>
                <a:lnTo>
                  <a:pt x="137160" y="20345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2540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5615" y="2132330"/>
            <a:ext cx="5467350" cy="2832735"/>
          </a:xfrm>
          <a:prstGeom prst="rect">
            <a:avLst/>
          </a:prstGeom>
        </p:spPr>
        <p:txBody>
          <a:bodyPr wrap="square">
            <a:noAutofit/>
          </a:bodyPr>
          <a:p>
            <a:pPr marL="76200"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锅炉四</a:t>
            </a:r>
            <a:r>
              <a:rPr lang="zh-CN" altLang="en-US" sz="1200" b="0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管作为火电机组核心承压设备，是全厂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安全管控的重中之重。长期以来，</a:t>
            </a:r>
            <a:r>
              <a:rPr lang="zh-CN" altLang="en-US" sz="1200" b="0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防磨防爆工作高度依赖老师傅经验：分析靠人工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、报告靠整理、检修靠经验、</a:t>
            </a:r>
            <a:r>
              <a:rPr lang="zh-CN" altLang="en-US" sz="1200" b="0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故障复盘靠记忆。数据繁杂、缺陷隐蔽、原因难判、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处置滞后、经验难传承</a:t>
            </a:r>
            <a:r>
              <a:rPr lang="zh-CN" altLang="en-US" sz="1200" b="0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，一直是锅炉运维的行业痛点。</a:t>
            </a:r>
            <a:endParaRPr lang="zh-CN" altLang="en-US" sz="1200" b="0" i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6200"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为彻底解决行业痛点，基于大语言模型</a:t>
            </a:r>
            <a:r>
              <a:rPr lang="en-US" altLang="zh-CN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多模态视觉</a:t>
            </a:r>
            <a:r>
              <a:rPr lang="en-US" altLang="zh-CN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AI+</a:t>
            </a:r>
            <a:r>
              <a:rPr lang="en-US" altLang="zh-CN"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行业知识库，全新升</a:t>
            </a:r>
            <a:r>
              <a:rPr lang="zh-CN" altLang="en-US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r>
              <a:rPr lang="en-US" altLang="zh-CN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锅炉四管健康智能运维管控系统，将人工智能深度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融入四管防磨防爆全流程，</a:t>
            </a:r>
            <a:r>
              <a:rPr lang="zh-CN" altLang="en-US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实现智能问答诊断、超温</a:t>
            </a:r>
            <a:r>
              <a:rPr lang="en-US" altLang="zh-CN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溯源、报告智能解读、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检修智慧策划四大核心能</a:t>
            </a:r>
            <a:r>
              <a:rPr lang="zh-CN" altLang="en-US"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力落地，真正实现锅炉运维从“被动处置”向“主</a:t>
            </a: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动预判、数据决策、智能管控”</a:t>
            </a:r>
            <a:r>
              <a:rPr lang="zh-CN" altLang="en-US" sz="1200" b="0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升级。</a:t>
            </a:r>
            <a:endParaRPr lang="zh-CN" altLang="en-US" sz="1200" b="0" i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建设前</a:t>
            </a:r>
            <a:r>
              <a:rPr lang="en-US" altLang="zh-CN"/>
              <a:t> VS </a:t>
            </a:r>
            <a:r>
              <a:rPr lang="zh-CN" altLang="en-US"/>
              <a:t>建设后</a:t>
            </a:r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035246" y="2320175"/>
            <a:ext cx="3056400" cy="3056400"/>
          </a:xfrm>
          <a:prstGeom prst="ellipse">
            <a:avLst/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158133" y="2289596"/>
            <a:ext cx="3057525" cy="3057525"/>
          </a:xfrm>
          <a:prstGeom prst="ellipse">
            <a:avLst/>
          </a:prstGeom>
          <a:solidFill>
            <a:srgbClr val="FFFFFF">
              <a:lumMod val="85000"/>
            </a:srgbClr>
          </a:solidFill>
          <a:ln>
            <a:noFill/>
          </a:ln>
          <a:effectLst>
            <a:outerShdw blurRad="254000" sx="102000" sy="102000" algn="ctr" rotWithShape="0">
              <a:srgbClr val="FFFFFF">
                <a:lumMod val="95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639146" y="2770609"/>
            <a:ext cx="2095500" cy="2095500"/>
          </a:xfrm>
          <a:prstGeom prst="ellipse">
            <a:avLst/>
          </a:prstGeom>
          <a:solidFill>
            <a:srgbClr val="FFFFFF">
              <a:lumMod val="50000"/>
            </a:srgbClr>
          </a:solidFill>
          <a:ln>
            <a:noFill/>
          </a:ln>
          <a:effectLst>
            <a:outerShdw blurRad="254000" sx="102000" sy="102000" algn="ctr" rotWithShape="0">
              <a:srgbClr val="FFFFFF">
                <a:lumMod val="5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515696" y="2770609"/>
            <a:ext cx="2095500" cy="2095500"/>
          </a:xfrm>
          <a:prstGeom prst="ellipse">
            <a:avLst/>
          </a:prstGeom>
          <a:solidFill>
            <a:srgbClr val="2E55A2"/>
          </a:solidFill>
          <a:ln>
            <a:noFill/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877271" y="3309766"/>
            <a:ext cx="161925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</a:rPr>
              <a:t>建设前</a:t>
            </a:r>
            <a:endParaRPr lang="zh-CN" altLang="en-US" sz="2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2800" b="1">
                <a:solidFill>
                  <a:srgbClr val="FFFFFF"/>
                </a:solidFill>
                <a:latin typeface="微软雅黑" panose="020B0503020204020204" charset="-122"/>
              </a:rPr>
              <a:t>传统模式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563321" y="3382305"/>
            <a:ext cx="200025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</a:rPr>
              <a:t>建设后</a:t>
            </a:r>
            <a:endParaRPr lang="zh-CN" altLang="en-US" sz="2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2800" b="1">
                <a:solidFill>
                  <a:srgbClr val="FFFFFF"/>
                </a:solidFill>
                <a:latin typeface="微软雅黑" panose="020B0503020204020204" charset="-122"/>
              </a:rPr>
              <a:t>智能大模型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542754" y="3352851"/>
            <a:ext cx="1080000" cy="1080000"/>
          </a:xfrm>
          <a:prstGeom prst="ellipse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VS</a:t>
            </a:r>
            <a:endParaRPr lang="zh-CN" altLang="en-US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: 形状 21"/>
          <p:cNvSpPr/>
          <p:nvPr/>
        </p:nvSpPr>
        <p:spPr>
          <a:xfrm>
            <a:off x="5168991" y="4104088"/>
            <a:ext cx="1738529" cy="348644"/>
          </a:xfrm>
          <a:custGeom>
            <a:avLst/>
            <a:gdLst>
              <a:gd name="connsiteX0" fmla="*/ 1934557 w 7679114"/>
              <a:gd name="connsiteY0" fmla="*/ 0 h 959107"/>
              <a:gd name="connsiteX1" fmla="*/ 1934557 w 7679114"/>
              <a:gd name="connsiteY1" fmla="*/ 68361 h 959107"/>
              <a:gd name="connsiteX2" fmla="*/ 1735173 w 7679114"/>
              <a:gd name="connsiteY2" fmla="*/ 82452 h 959107"/>
              <a:gd name="connsiteX3" fmla="*/ 75744 w 7679114"/>
              <a:gd name="connsiteY3" fmla="*/ 445519 h 959107"/>
              <a:gd name="connsiteX4" fmla="*/ 3839557 w 7679114"/>
              <a:gd name="connsiteY4" fmla="*/ 883363 h 959107"/>
              <a:gd name="connsiteX5" fmla="*/ 7603370 w 7679114"/>
              <a:gd name="connsiteY5" fmla="*/ 445519 h 959107"/>
              <a:gd name="connsiteX6" fmla="*/ 5943941 w 7679114"/>
              <a:gd name="connsiteY6" fmla="*/ 82452 h 959107"/>
              <a:gd name="connsiteX7" fmla="*/ 5744557 w 7679114"/>
              <a:gd name="connsiteY7" fmla="*/ 68361 h 959107"/>
              <a:gd name="connsiteX8" fmla="*/ 5744557 w 7679114"/>
              <a:gd name="connsiteY8" fmla="*/ 0 h 959107"/>
              <a:gd name="connsiteX9" fmla="*/ 5986290 w 7679114"/>
              <a:gd name="connsiteY9" fmla="*/ 19644 h 959107"/>
              <a:gd name="connsiteX10" fmla="*/ 7679114 w 7679114"/>
              <a:gd name="connsiteY10" fmla="*/ 445519 h 959107"/>
              <a:gd name="connsiteX11" fmla="*/ 3839557 w 7679114"/>
              <a:gd name="connsiteY11" fmla="*/ 959107 h 959107"/>
              <a:gd name="connsiteX12" fmla="*/ 0 w 7679114"/>
              <a:gd name="connsiteY12" fmla="*/ 445519 h 959107"/>
              <a:gd name="connsiteX13" fmla="*/ 1692824 w 7679114"/>
              <a:gd name="connsiteY13" fmla="*/ 19644 h 959107"/>
              <a:gd name="connsiteX14" fmla="*/ 1934557 w 7679114"/>
              <a:gd name="connsiteY14" fmla="*/ 0 h 959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679114" h="959107">
                <a:moveTo>
                  <a:pt x="1934557" y="0"/>
                </a:moveTo>
                <a:lnTo>
                  <a:pt x="1934557" y="68361"/>
                </a:lnTo>
                <a:lnTo>
                  <a:pt x="1735173" y="82452"/>
                </a:lnTo>
                <a:cubicBezTo>
                  <a:pt x="733992" y="161136"/>
                  <a:pt x="75744" y="294385"/>
                  <a:pt x="75744" y="445519"/>
                </a:cubicBezTo>
                <a:cubicBezTo>
                  <a:pt x="75744" y="687334"/>
                  <a:pt x="1760860" y="883363"/>
                  <a:pt x="3839557" y="883363"/>
                </a:cubicBezTo>
                <a:cubicBezTo>
                  <a:pt x="5918254" y="883363"/>
                  <a:pt x="7603370" y="687334"/>
                  <a:pt x="7603370" y="445519"/>
                </a:cubicBezTo>
                <a:cubicBezTo>
                  <a:pt x="7603370" y="294385"/>
                  <a:pt x="6945122" y="161136"/>
                  <a:pt x="5943941" y="82452"/>
                </a:cubicBezTo>
                <a:lnTo>
                  <a:pt x="5744557" y="68361"/>
                </a:lnTo>
                <a:lnTo>
                  <a:pt x="5744557" y="0"/>
                </a:lnTo>
                <a:lnTo>
                  <a:pt x="5986290" y="19644"/>
                </a:lnTo>
                <a:cubicBezTo>
                  <a:pt x="7007619" y="111939"/>
                  <a:pt x="7679114" y="268240"/>
                  <a:pt x="7679114" y="445519"/>
                </a:cubicBezTo>
                <a:cubicBezTo>
                  <a:pt x="7679114" y="729166"/>
                  <a:pt x="5960086" y="959107"/>
                  <a:pt x="3839557" y="959107"/>
                </a:cubicBezTo>
                <a:cubicBezTo>
                  <a:pt x="1719028" y="959107"/>
                  <a:pt x="0" y="729166"/>
                  <a:pt x="0" y="445519"/>
                </a:cubicBezTo>
                <a:cubicBezTo>
                  <a:pt x="0" y="268240"/>
                  <a:pt x="671495" y="111939"/>
                  <a:pt x="1692824" y="19644"/>
                </a:cubicBezTo>
                <a:lnTo>
                  <a:pt x="1934557" y="0"/>
                </a:lnTo>
                <a:close/>
              </a:path>
            </a:pathLst>
          </a:custGeom>
          <a:gradFill>
            <a:gsLst>
              <a:gs pos="0">
                <a:srgbClr val="3855CB">
                  <a:alpha val="0"/>
                </a:srgbClr>
              </a:gs>
              <a:gs pos="100000">
                <a:srgbClr val="3855CB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498255" y="4502722"/>
            <a:ext cx="1080000" cy="45719"/>
          </a:xfrm>
          <a:prstGeom prst="ellipse">
            <a:avLst/>
          </a:prstGeom>
          <a:gradFill>
            <a:gsLst>
              <a:gs pos="49500">
                <a:srgbClr val="3855CB"/>
              </a:gs>
              <a:gs pos="0">
                <a:srgbClr val="3855CB">
                  <a:alpha val="20000"/>
                </a:srgbClr>
              </a:gs>
              <a:gs pos="100000">
                <a:srgbClr val="3855CB">
                  <a:alpha val="20000"/>
                </a:srgb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矩形: 圆角 24"/>
          <p:cNvSpPr/>
          <p:nvPr/>
        </p:nvSpPr>
        <p:spPr>
          <a:xfrm>
            <a:off x="420461" y="1721509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FFFFFF">
              <a:lumMod val="50000"/>
            </a:srgbClr>
          </a:solidFill>
          <a:ln>
            <a:noFill/>
          </a:ln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51240" y="1754782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规程、案例分散，查询效率低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68" name="矩形: 圆角 27"/>
          <p:cNvSpPr/>
          <p:nvPr/>
        </p:nvSpPr>
        <p:spPr>
          <a:xfrm>
            <a:off x="414602" y="2369720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FFFFFF">
              <a:lumMod val="50000"/>
            </a:srgbClr>
          </a:solidFill>
          <a:ln>
            <a:noFill/>
          </a:ln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45465" y="2402840"/>
            <a:ext cx="2663825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运行、检修数据、案例难以综合利用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70" name="矩形: 圆角 29"/>
          <p:cNvSpPr/>
          <p:nvPr/>
        </p:nvSpPr>
        <p:spPr>
          <a:xfrm>
            <a:off x="414602" y="3087486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FFFFFF">
              <a:lumMod val="50000"/>
            </a:srgbClr>
          </a:solidFill>
          <a:ln>
            <a:noFill/>
          </a:ln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45465" y="3121025"/>
            <a:ext cx="2663825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故障依靠人工排查，效率低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72" name="矩形: 圆角 31"/>
          <p:cNvSpPr/>
          <p:nvPr/>
        </p:nvSpPr>
        <p:spPr>
          <a:xfrm>
            <a:off x="318743" y="4344772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FFFFFF">
              <a:lumMod val="50000"/>
            </a:srgbClr>
          </a:solidFill>
          <a:ln>
            <a:noFill/>
          </a:ln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49522" y="4378045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报告录入繁琐，统计效率低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77" name="矩形: 圆角 33"/>
          <p:cNvSpPr/>
          <p:nvPr/>
        </p:nvSpPr>
        <p:spPr>
          <a:xfrm>
            <a:off x="308565" y="4999773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FFFFFF">
              <a:lumMod val="50000"/>
            </a:srgbClr>
          </a:solidFill>
          <a:ln>
            <a:noFill/>
          </a:ln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39344" y="5033046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按周期检修，存在过修、漏修问题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79" name="矩形: 圆角 35"/>
          <p:cNvSpPr/>
          <p:nvPr/>
        </p:nvSpPr>
        <p:spPr>
          <a:xfrm>
            <a:off x="318742" y="5650994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FFFFFF">
              <a:lumMod val="50000"/>
            </a:srgbClr>
          </a:solidFill>
          <a:ln>
            <a:noFill/>
          </a:ln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49521" y="5684267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FFFFFF">
                <a:lumMod val="50000"/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决策主要依赖人工经验，难以复制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81" name="矩形: 圆角 37"/>
          <p:cNvSpPr/>
          <p:nvPr/>
        </p:nvSpPr>
        <p:spPr>
          <a:xfrm>
            <a:off x="9205185" y="1721509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2E55A2"/>
          </a:solidFill>
          <a:ln>
            <a:noFill/>
          </a:ln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270574" y="1754782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智能问答秒级获取专业知识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83" name="矩形: 圆角 39"/>
          <p:cNvSpPr/>
          <p:nvPr/>
        </p:nvSpPr>
        <p:spPr>
          <a:xfrm>
            <a:off x="9205185" y="2369720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2E55A2"/>
          </a:solidFill>
          <a:ln>
            <a:noFill/>
          </a:ln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270574" y="2402993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打通多源数据，与业务融合分析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85" name="矩形: 圆角 41"/>
          <p:cNvSpPr/>
          <p:nvPr/>
        </p:nvSpPr>
        <p:spPr>
          <a:xfrm>
            <a:off x="9205185" y="3087486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2E55A2"/>
          </a:solidFill>
          <a:ln>
            <a:noFill/>
          </a:ln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270365" y="3121025"/>
            <a:ext cx="2661920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自动分析原因、评估影响及处置建议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87" name="矩形: 圆角 43"/>
          <p:cNvSpPr/>
          <p:nvPr/>
        </p:nvSpPr>
        <p:spPr>
          <a:xfrm>
            <a:off x="9205185" y="4311499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2E55A2"/>
          </a:solidFill>
          <a:ln>
            <a:noFill/>
          </a:ln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236253" y="4344772"/>
            <a:ext cx="2664114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自动提取关键信息，形成结构化数据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89" name="矩形: 圆角 45"/>
          <p:cNvSpPr/>
          <p:nvPr/>
        </p:nvSpPr>
        <p:spPr>
          <a:xfrm>
            <a:off x="9205185" y="4966500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2E55A2"/>
          </a:solidFill>
          <a:ln>
            <a:noFill/>
          </a:ln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270574" y="4999773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结合风险和设备状态制定检修方案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91" name="矩形: 圆角 47"/>
          <p:cNvSpPr/>
          <p:nvPr/>
        </p:nvSpPr>
        <p:spPr>
          <a:xfrm>
            <a:off x="9205185" y="5617721"/>
            <a:ext cx="2726250" cy="343544"/>
          </a:xfrm>
          <a:prstGeom prst="roundRect">
            <a:avLst>
              <a:gd name="adj" fmla="val 50000"/>
            </a:avLst>
          </a:prstGeom>
          <a:solidFill>
            <a:srgbClr val="2E55A2"/>
          </a:solidFill>
          <a:ln>
            <a:noFill/>
          </a:ln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9270574" y="5650994"/>
            <a:ext cx="2595472" cy="275590"/>
          </a:xfrm>
          <a:prstGeom prst="rect">
            <a:avLst/>
          </a:prstGeom>
          <a:noFill/>
          <a:effectLst>
            <a:outerShdw blurRad="254000" dist="127000" dir="2700000" algn="tl" rotWithShape="0">
              <a:srgbClr val="2E55A2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</a:rPr>
              <a:t>案例和规程沉淀为企业知识资产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93" name="弧形 92"/>
          <p:cNvSpPr/>
          <p:nvPr/>
        </p:nvSpPr>
        <p:spPr>
          <a:xfrm>
            <a:off x="3209491" y="981482"/>
            <a:ext cx="6012333" cy="2203338"/>
          </a:xfrm>
          <a:prstGeom prst="arc">
            <a:avLst>
              <a:gd name="adj1" fmla="val 11162761"/>
              <a:gd name="adj2" fmla="val 21203085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tailEnd type="none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614285" y="981710"/>
            <a:ext cx="1127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rgbClr val="1973C5"/>
                </a:solidFill>
              </a:rPr>
              <a:t>知识找人</a:t>
            </a:r>
            <a:endParaRPr lang="zh-CN" altLang="en-US" b="1">
              <a:solidFill>
                <a:srgbClr val="1973C5"/>
              </a:solidFill>
            </a:endParaRPr>
          </a:p>
        </p:txBody>
      </p:sp>
      <p:sp>
        <p:nvSpPr>
          <p:cNvPr id="95" name="弧形 94"/>
          <p:cNvSpPr/>
          <p:nvPr/>
        </p:nvSpPr>
        <p:spPr>
          <a:xfrm>
            <a:off x="3128136" y="1457581"/>
            <a:ext cx="6012333" cy="2203338"/>
          </a:xfrm>
          <a:prstGeom prst="arc">
            <a:avLst>
              <a:gd name="adj1" fmla="val 11162761"/>
              <a:gd name="adj2" fmla="val 21203085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tailEnd type="none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弧形 95"/>
          <p:cNvSpPr/>
          <p:nvPr/>
        </p:nvSpPr>
        <p:spPr>
          <a:xfrm>
            <a:off x="3128136" y="2010938"/>
            <a:ext cx="6012333" cy="2203338"/>
          </a:xfrm>
          <a:prstGeom prst="arc">
            <a:avLst>
              <a:gd name="adj1" fmla="val 11162761"/>
              <a:gd name="adj2" fmla="val 21203085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tailEnd type="none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397750" y="1442085"/>
            <a:ext cx="1343660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b="1">
                <a:solidFill>
                  <a:srgbClr val="1973C5"/>
                </a:solidFill>
              </a:rPr>
              <a:t>AI</a:t>
            </a:r>
            <a:r>
              <a:rPr lang="zh-CN" altLang="en-US" b="1">
                <a:solidFill>
                  <a:srgbClr val="1973C5"/>
                </a:solidFill>
              </a:rPr>
              <a:t>自动取数</a:t>
            </a:r>
            <a:endParaRPr lang="zh-CN" altLang="en-US" b="1">
              <a:solidFill>
                <a:srgbClr val="1973C5"/>
              </a:solidFill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7397750" y="1920240"/>
            <a:ext cx="1343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>
                <a:solidFill>
                  <a:srgbClr val="1973C5"/>
                </a:solidFill>
              </a:rPr>
              <a:t>AI</a:t>
            </a:r>
            <a:r>
              <a:rPr lang="zh-CN" altLang="en-US" b="1">
                <a:solidFill>
                  <a:srgbClr val="1973C5"/>
                </a:solidFill>
              </a:rPr>
              <a:t>智能诊断</a:t>
            </a:r>
            <a:endParaRPr lang="zh-CN" altLang="en-US" b="1">
              <a:solidFill>
                <a:srgbClr val="1973C5"/>
              </a:solidFill>
            </a:endParaRPr>
          </a:p>
        </p:txBody>
      </p:sp>
      <p:sp>
        <p:nvSpPr>
          <p:cNvPr id="99" name="弧形 98"/>
          <p:cNvSpPr/>
          <p:nvPr/>
        </p:nvSpPr>
        <p:spPr>
          <a:xfrm rot="10800000">
            <a:off x="3119049" y="3449800"/>
            <a:ext cx="6012333" cy="2203338"/>
          </a:xfrm>
          <a:prstGeom prst="arc">
            <a:avLst>
              <a:gd name="adj1" fmla="val 11162761"/>
              <a:gd name="adj2" fmla="val 21203085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tailEnd type="none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弧形 99"/>
          <p:cNvSpPr/>
          <p:nvPr/>
        </p:nvSpPr>
        <p:spPr>
          <a:xfrm rot="10800000">
            <a:off x="3109496" y="3994784"/>
            <a:ext cx="6012333" cy="2203338"/>
          </a:xfrm>
          <a:prstGeom prst="arc">
            <a:avLst>
              <a:gd name="adj1" fmla="val 11162761"/>
              <a:gd name="adj2" fmla="val 21203085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tailEnd type="none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弧形 100"/>
          <p:cNvSpPr/>
          <p:nvPr/>
        </p:nvSpPr>
        <p:spPr>
          <a:xfrm rot="10800000">
            <a:off x="3045677" y="4512251"/>
            <a:ext cx="6012333" cy="2203338"/>
          </a:xfrm>
          <a:prstGeom prst="arc">
            <a:avLst>
              <a:gd name="adj1" fmla="val 11162761"/>
              <a:gd name="adj2" fmla="val 21203085"/>
            </a:avLst>
          </a:prstGeom>
          <a:ln w="6350">
            <a:solidFill>
              <a:srgbClr val="FFFFFF">
                <a:lumMod val="50000"/>
              </a:srgbClr>
            </a:solidFill>
            <a:prstDash val="dash"/>
            <a:tailEnd type="none"/>
          </a:ln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5" name="图形 72" descr="3b32303134303334323b4e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2993" y="1644313"/>
            <a:ext cx="259200" cy="259200"/>
          </a:xfrm>
          <a:prstGeom prst="rect">
            <a:avLst/>
          </a:prstGeom>
        </p:spPr>
      </p:pic>
      <p:pic>
        <p:nvPicPr>
          <p:cNvPr id="106" name="图形 73" descr="3b32303134303334323b4e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2993" y="2232267"/>
            <a:ext cx="259200" cy="259200"/>
          </a:xfrm>
          <a:prstGeom prst="rect">
            <a:avLst/>
          </a:prstGeom>
        </p:spPr>
      </p:pic>
      <p:pic>
        <p:nvPicPr>
          <p:cNvPr id="107" name="图形 74" descr="3b32303134303334323b4e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2993" y="2790610"/>
            <a:ext cx="259200" cy="259200"/>
          </a:xfrm>
          <a:prstGeom prst="rect">
            <a:avLst/>
          </a:prstGeom>
        </p:spPr>
      </p:pic>
      <p:sp>
        <p:nvSpPr>
          <p:cNvPr id="108" name="任意多边形: 形状 1"/>
          <p:cNvSpPr/>
          <p:nvPr/>
        </p:nvSpPr>
        <p:spPr>
          <a:xfrm>
            <a:off x="8906624" y="1586885"/>
            <a:ext cx="259200" cy="259200"/>
          </a:xfrm>
          <a:custGeom>
            <a:avLst/>
            <a:gdLst>
              <a:gd name="T0" fmla="*/ 4510 w 10378"/>
              <a:gd name="T1" fmla="*/ 5695 h 10377"/>
              <a:gd name="T2" fmla="*/ 3593 w 10378"/>
              <a:gd name="T3" fmla="*/ 4778 h 10377"/>
              <a:gd name="T4" fmla="*/ 2676 w 10378"/>
              <a:gd name="T5" fmla="*/ 4778 h 10377"/>
              <a:gd name="T6" fmla="*/ 2676 w 10378"/>
              <a:gd name="T7" fmla="*/ 5695 h 10377"/>
              <a:gd name="T8" fmla="*/ 3594 w 10378"/>
              <a:gd name="T9" fmla="*/ 6613 h 10377"/>
              <a:gd name="T10" fmla="*/ 4053 w 10378"/>
              <a:gd name="T11" fmla="*/ 7072 h 10377"/>
              <a:gd name="T12" fmla="*/ 4970 w 10378"/>
              <a:gd name="T13" fmla="*/ 7072 h 10377"/>
              <a:gd name="T14" fmla="*/ 7722 w 10378"/>
              <a:gd name="T15" fmla="*/ 4320 h 10377"/>
              <a:gd name="T16" fmla="*/ 7722 w 10378"/>
              <a:gd name="T17" fmla="*/ 3403 h 10377"/>
              <a:gd name="T18" fmla="*/ 6804 w 10378"/>
              <a:gd name="T19" fmla="*/ 3403 h 10377"/>
              <a:gd name="T20" fmla="*/ 4510 w 10378"/>
              <a:gd name="T21" fmla="*/ 5695 h 10377"/>
              <a:gd name="T22" fmla="*/ 5189 w 10378"/>
              <a:gd name="T23" fmla="*/ 10377 h 10377"/>
              <a:gd name="T24" fmla="*/ 0 w 10378"/>
              <a:gd name="T25" fmla="*/ 5188 h 10377"/>
              <a:gd name="T26" fmla="*/ 5189 w 10378"/>
              <a:gd name="T27" fmla="*/ 0 h 10377"/>
              <a:gd name="T28" fmla="*/ 10378 w 10378"/>
              <a:gd name="T29" fmla="*/ 5188 h 10377"/>
              <a:gd name="T30" fmla="*/ 5189 w 10378"/>
              <a:gd name="T31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8" h="10377">
                <a:moveTo>
                  <a:pt x="4510" y="5695"/>
                </a:moveTo>
                <a:lnTo>
                  <a:pt x="3593" y="4778"/>
                </a:lnTo>
                <a:cubicBezTo>
                  <a:pt x="3339" y="4526"/>
                  <a:pt x="2929" y="4526"/>
                  <a:pt x="2676" y="4778"/>
                </a:cubicBezTo>
                <a:cubicBezTo>
                  <a:pt x="2423" y="5032"/>
                  <a:pt x="2423" y="5442"/>
                  <a:pt x="2676" y="5695"/>
                </a:cubicBezTo>
                <a:lnTo>
                  <a:pt x="3594" y="6613"/>
                </a:lnTo>
                <a:lnTo>
                  <a:pt x="4053" y="7072"/>
                </a:lnTo>
                <a:cubicBezTo>
                  <a:pt x="4307" y="7326"/>
                  <a:pt x="4717" y="7326"/>
                  <a:pt x="4970" y="7072"/>
                </a:cubicBezTo>
                <a:lnTo>
                  <a:pt x="7722" y="4320"/>
                </a:lnTo>
                <a:cubicBezTo>
                  <a:pt x="7975" y="4067"/>
                  <a:pt x="7975" y="3657"/>
                  <a:pt x="7722" y="3403"/>
                </a:cubicBezTo>
                <a:cubicBezTo>
                  <a:pt x="7468" y="3149"/>
                  <a:pt x="7058" y="3149"/>
                  <a:pt x="6804" y="3403"/>
                </a:cubicBezTo>
                <a:lnTo>
                  <a:pt x="4510" y="5695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3"/>
                  <a:pt x="10378" y="5188"/>
                </a:cubicBezTo>
                <a:cubicBezTo>
                  <a:pt x="10378" y="8053"/>
                  <a:pt x="8054" y="10377"/>
                  <a:pt x="5189" y="10377"/>
                </a:cubicBez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635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50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9" name="任意多边形: 形状 2"/>
          <p:cNvSpPr/>
          <p:nvPr/>
        </p:nvSpPr>
        <p:spPr>
          <a:xfrm>
            <a:off x="8906624" y="2147745"/>
            <a:ext cx="259200" cy="259200"/>
          </a:xfrm>
          <a:custGeom>
            <a:avLst/>
            <a:gdLst>
              <a:gd name="T0" fmla="*/ 4510 w 10378"/>
              <a:gd name="T1" fmla="*/ 5695 h 10377"/>
              <a:gd name="T2" fmla="*/ 3593 w 10378"/>
              <a:gd name="T3" fmla="*/ 4778 h 10377"/>
              <a:gd name="T4" fmla="*/ 2676 w 10378"/>
              <a:gd name="T5" fmla="*/ 4778 h 10377"/>
              <a:gd name="T6" fmla="*/ 2676 w 10378"/>
              <a:gd name="T7" fmla="*/ 5695 h 10377"/>
              <a:gd name="T8" fmla="*/ 3594 w 10378"/>
              <a:gd name="T9" fmla="*/ 6613 h 10377"/>
              <a:gd name="T10" fmla="*/ 4053 w 10378"/>
              <a:gd name="T11" fmla="*/ 7072 h 10377"/>
              <a:gd name="T12" fmla="*/ 4970 w 10378"/>
              <a:gd name="T13" fmla="*/ 7072 h 10377"/>
              <a:gd name="T14" fmla="*/ 7722 w 10378"/>
              <a:gd name="T15" fmla="*/ 4320 h 10377"/>
              <a:gd name="T16" fmla="*/ 7722 w 10378"/>
              <a:gd name="T17" fmla="*/ 3403 h 10377"/>
              <a:gd name="T18" fmla="*/ 6804 w 10378"/>
              <a:gd name="T19" fmla="*/ 3403 h 10377"/>
              <a:gd name="T20" fmla="*/ 4510 w 10378"/>
              <a:gd name="T21" fmla="*/ 5695 h 10377"/>
              <a:gd name="T22" fmla="*/ 5189 w 10378"/>
              <a:gd name="T23" fmla="*/ 10377 h 10377"/>
              <a:gd name="T24" fmla="*/ 0 w 10378"/>
              <a:gd name="T25" fmla="*/ 5188 h 10377"/>
              <a:gd name="T26" fmla="*/ 5189 w 10378"/>
              <a:gd name="T27" fmla="*/ 0 h 10377"/>
              <a:gd name="T28" fmla="*/ 10378 w 10378"/>
              <a:gd name="T29" fmla="*/ 5188 h 10377"/>
              <a:gd name="T30" fmla="*/ 5189 w 10378"/>
              <a:gd name="T31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8" h="10377">
                <a:moveTo>
                  <a:pt x="4510" y="5695"/>
                </a:moveTo>
                <a:lnTo>
                  <a:pt x="3593" y="4778"/>
                </a:lnTo>
                <a:cubicBezTo>
                  <a:pt x="3339" y="4526"/>
                  <a:pt x="2929" y="4526"/>
                  <a:pt x="2676" y="4778"/>
                </a:cubicBezTo>
                <a:cubicBezTo>
                  <a:pt x="2423" y="5032"/>
                  <a:pt x="2423" y="5442"/>
                  <a:pt x="2676" y="5695"/>
                </a:cubicBezTo>
                <a:lnTo>
                  <a:pt x="3594" y="6613"/>
                </a:lnTo>
                <a:lnTo>
                  <a:pt x="4053" y="7072"/>
                </a:lnTo>
                <a:cubicBezTo>
                  <a:pt x="4307" y="7326"/>
                  <a:pt x="4717" y="7326"/>
                  <a:pt x="4970" y="7072"/>
                </a:cubicBezTo>
                <a:lnTo>
                  <a:pt x="7722" y="4320"/>
                </a:lnTo>
                <a:cubicBezTo>
                  <a:pt x="7975" y="4067"/>
                  <a:pt x="7975" y="3657"/>
                  <a:pt x="7722" y="3403"/>
                </a:cubicBezTo>
                <a:cubicBezTo>
                  <a:pt x="7468" y="3149"/>
                  <a:pt x="7058" y="3149"/>
                  <a:pt x="6804" y="3403"/>
                </a:cubicBezTo>
                <a:lnTo>
                  <a:pt x="4510" y="5695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3"/>
                  <a:pt x="10378" y="5188"/>
                </a:cubicBezTo>
                <a:cubicBezTo>
                  <a:pt x="10378" y="8053"/>
                  <a:pt x="8054" y="10377"/>
                  <a:pt x="5189" y="10377"/>
                </a:cubicBez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635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50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0" name="任意多边形: 形状 11"/>
          <p:cNvSpPr/>
          <p:nvPr/>
        </p:nvSpPr>
        <p:spPr>
          <a:xfrm>
            <a:off x="8906624" y="2676391"/>
            <a:ext cx="259200" cy="259200"/>
          </a:xfrm>
          <a:custGeom>
            <a:avLst/>
            <a:gdLst>
              <a:gd name="T0" fmla="*/ 4510 w 10378"/>
              <a:gd name="T1" fmla="*/ 5695 h 10377"/>
              <a:gd name="T2" fmla="*/ 3593 w 10378"/>
              <a:gd name="T3" fmla="*/ 4778 h 10377"/>
              <a:gd name="T4" fmla="*/ 2676 w 10378"/>
              <a:gd name="T5" fmla="*/ 4778 h 10377"/>
              <a:gd name="T6" fmla="*/ 2676 w 10378"/>
              <a:gd name="T7" fmla="*/ 5695 h 10377"/>
              <a:gd name="T8" fmla="*/ 3594 w 10378"/>
              <a:gd name="T9" fmla="*/ 6613 h 10377"/>
              <a:gd name="T10" fmla="*/ 4053 w 10378"/>
              <a:gd name="T11" fmla="*/ 7072 h 10377"/>
              <a:gd name="T12" fmla="*/ 4970 w 10378"/>
              <a:gd name="T13" fmla="*/ 7072 h 10377"/>
              <a:gd name="T14" fmla="*/ 7722 w 10378"/>
              <a:gd name="T15" fmla="*/ 4320 h 10377"/>
              <a:gd name="T16" fmla="*/ 7722 w 10378"/>
              <a:gd name="T17" fmla="*/ 3403 h 10377"/>
              <a:gd name="T18" fmla="*/ 6804 w 10378"/>
              <a:gd name="T19" fmla="*/ 3403 h 10377"/>
              <a:gd name="T20" fmla="*/ 4510 w 10378"/>
              <a:gd name="T21" fmla="*/ 5695 h 10377"/>
              <a:gd name="T22" fmla="*/ 5189 w 10378"/>
              <a:gd name="T23" fmla="*/ 10377 h 10377"/>
              <a:gd name="T24" fmla="*/ 0 w 10378"/>
              <a:gd name="T25" fmla="*/ 5188 h 10377"/>
              <a:gd name="T26" fmla="*/ 5189 w 10378"/>
              <a:gd name="T27" fmla="*/ 0 h 10377"/>
              <a:gd name="T28" fmla="*/ 10378 w 10378"/>
              <a:gd name="T29" fmla="*/ 5188 h 10377"/>
              <a:gd name="T30" fmla="*/ 5189 w 10378"/>
              <a:gd name="T31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8" h="10377">
                <a:moveTo>
                  <a:pt x="4510" y="5695"/>
                </a:moveTo>
                <a:lnTo>
                  <a:pt x="3593" y="4778"/>
                </a:lnTo>
                <a:cubicBezTo>
                  <a:pt x="3339" y="4526"/>
                  <a:pt x="2929" y="4526"/>
                  <a:pt x="2676" y="4778"/>
                </a:cubicBezTo>
                <a:cubicBezTo>
                  <a:pt x="2423" y="5032"/>
                  <a:pt x="2423" y="5442"/>
                  <a:pt x="2676" y="5695"/>
                </a:cubicBezTo>
                <a:lnTo>
                  <a:pt x="3594" y="6613"/>
                </a:lnTo>
                <a:lnTo>
                  <a:pt x="4053" y="7072"/>
                </a:lnTo>
                <a:cubicBezTo>
                  <a:pt x="4307" y="7326"/>
                  <a:pt x="4717" y="7326"/>
                  <a:pt x="4970" y="7072"/>
                </a:cubicBezTo>
                <a:lnTo>
                  <a:pt x="7722" y="4320"/>
                </a:lnTo>
                <a:cubicBezTo>
                  <a:pt x="7975" y="4067"/>
                  <a:pt x="7975" y="3657"/>
                  <a:pt x="7722" y="3403"/>
                </a:cubicBezTo>
                <a:cubicBezTo>
                  <a:pt x="7468" y="3149"/>
                  <a:pt x="7058" y="3149"/>
                  <a:pt x="6804" y="3403"/>
                </a:cubicBezTo>
                <a:lnTo>
                  <a:pt x="4510" y="5695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3"/>
                  <a:pt x="10378" y="5188"/>
                </a:cubicBezTo>
                <a:cubicBezTo>
                  <a:pt x="10378" y="8053"/>
                  <a:pt x="8054" y="10377"/>
                  <a:pt x="5189" y="10377"/>
                </a:cubicBez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635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50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1" name="任意多边形: 形状 16"/>
          <p:cNvSpPr/>
          <p:nvPr/>
        </p:nvSpPr>
        <p:spPr>
          <a:xfrm>
            <a:off x="8906624" y="4760307"/>
            <a:ext cx="259200" cy="259200"/>
          </a:xfrm>
          <a:custGeom>
            <a:avLst/>
            <a:gdLst>
              <a:gd name="T0" fmla="*/ 4510 w 10378"/>
              <a:gd name="T1" fmla="*/ 5695 h 10377"/>
              <a:gd name="T2" fmla="*/ 3593 w 10378"/>
              <a:gd name="T3" fmla="*/ 4778 h 10377"/>
              <a:gd name="T4" fmla="*/ 2676 w 10378"/>
              <a:gd name="T5" fmla="*/ 4778 h 10377"/>
              <a:gd name="T6" fmla="*/ 2676 w 10378"/>
              <a:gd name="T7" fmla="*/ 5695 h 10377"/>
              <a:gd name="T8" fmla="*/ 3594 w 10378"/>
              <a:gd name="T9" fmla="*/ 6613 h 10377"/>
              <a:gd name="T10" fmla="*/ 4053 w 10378"/>
              <a:gd name="T11" fmla="*/ 7072 h 10377"/>
              <a:gd name="T12" fmla="*/ 4970 w 10378"/>
              <a:gd name="T13" fmla="*/ 7072 h 10377"/>
              <a:gd name="T14" fmla="*/ 7722 w 10378"/>
              <a:gd name="T15" fmla="*/ 4320 h 10377"/>
              <a:gd name="T16" fmla="*/ 7722 w 10378"/>
              <a:gd name="T17" fmla="*/ 3403 h 10377"/>
              <a:gd name="T18" fmla="*/ 6804 w 10378"/>
              <a:gd name="T19" fmla="*/ 3403 h 10377"/>
              <a:gd name="T20" fmla="*/ 4510 w 10378"/>
              <a:gd name="T21" fmla="*/ 5695 h 10377"/>
              <a:gd name="T22" fmla="*/ 5189 w 10378"/>
              <a:gd name="T23" fmla="*/ 10377 h 10377"/>
              <a:gd name="T24" fmla="*/ 0 w 10378"/>
              <a:gd name="T25" fmla="*/ 5188 h 10377"/>
              <a:gd name="T26" fmla="*/ 5189 w 10378"/>
              <a:gd name="T27" fmla="*/ 0 h 10377"/>
              <a:gd name="T28" fmla="*/ 10378 w 10378"/>
              <a:gd name="T29" fmla="*/ 5188 h 10377"/>
              <a:gd name="T30" fmla="*/ 5189 w 10378"/>
              <a:gd name="T31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8" h="10377">
                <a:moveTo>
                  <a:pt x="4510" y="5695"/>
                </a:moveTo>
                <a:lnTo>
                  <a:pt x="3593" y="4778"/>
                </a:lnTo>
                <a:cubicBezTo>
                  <a:pt x="3339" y="4526"/>
                  <a:pt x="2929" y="4526"/>
                  <a:pt x="2676" y="4778"/>
                </a:cubicBezTo>
                <a:cubicBezTo>
                  <a:pt x="2423" y="5032"/>
                  <a:pt x="2423" y="5442"/>
                  <a:pt x="2676" y="5695"/>
                </a:cubicBezTo>
                <a:lnTo>
                  <a:pt x="3594" y="6613"/>
                </a:lnTo>
                <a:lnTo>
                  <a:pt x="4053" y="7072"/>
                </a:lnTo>
                <a:cubicBezTo>
                  <a:pt x="4307" y="7326"/>
                  <a:pt x="4717" y="7326"/>
                  <a:pt x="4970" y="7072"/>
                </a:cubicBezTo>
                <a:lnTo>
                  <a:pt x="7722" y="4320"/>
                </a:lnTo>
                <a:cubicBezTo>
                  <a:pt x="7975" y="4067"/>
                  <a:pt x="7975" y="3657"/>
                  <a:pt x="7722" y="3403"/>
                </a:cubicBezTo>
                <a:cubicBezTo>
                  <a:pt x="7468" y="3149"/>
                  <a:pt x="7058" y="3149"/>
                  <a:pt x="6804" y="3403"/>
                </a:cubicBezTo>
                <a:lnTo>
                  <a:pt x="4510" y="5695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3"/>
                  <a:pt x="10378" y="5188"/>
                </a:cubicBezTo>
                <a:cubicBezTo>
                  <a:pt x="10378" y="8053"/>
                  <a:pt x="8054" y="10377"/>
                  <a:pt x="5189" y="10377"/>
                </a:cubicBez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635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50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2" name="任意多边形: 形状 17"/>
          <p:cNvSpPr/>
          <p:nvPr/>
        </p:nvSpPr>
        <p:spPr>
          <a:xfrm>
            <a:off x="8906624" y="5321167"/>
            <a:ext cx="259200" cy="259200"/>
          </a:xfrm>
          <a:custGeom>
            <a:avLst/>
            <a:gdLst>
              <a:gd name="T0" fmla="*/ 4510 w 10378"/>
              <a:gd name="T1" fmla="*/ 5695 h 10377"/>
              <a:gd name="T2" fmla="*/ 3593 w 10378"/>
              <a:gd name="T3" fmla="*/ 4778 h 10377"/>
              <a:gd name="T4" fmla="*/ 2676 w 10378"/>
              <a:gd name="T5" fmla="*/ 4778 h 10377"/>
              <a:gd name="T6" fmla="*/ 2676 w 10378"/>
              <a:gd name="T7" fmla="*/ 5695 h 10377"/>
              <a:gd name="T8" fmla="*/ 3594 w 10378"/>
              <a:gd name="T9" fmla="*/ 6613 h 10377"/>
              <a:gd name="T10" fmla="*/ 4053 w 10378"/>
              <a:gd name="T11" fmla="*/ 7072 h 10377"/>
              <a:gd name="T12" fmla="*/ 4970 w 10378"/>
              <a:gd name="T13" fmla="*/ 7072 h 10377"/>
              <a:gd name="T14" fmla="*/ 7722 w 10378"/>
              <a:gd name="T15" fmla="*/ 4320 h 10377"/>
              <a:gd name="T16" fmla="*/ 7722 w 10378"/>
              <a:gd name="T17" fmla="*/ 3403 h 10377"/>
              <a:gd name="T18" fmla="*/ 6804 w 10378"/>
              <a:gd name="T19" fmla="*/ 3403 h 10377"/>
              <a:gd name="T20" fmla="*/ 4510 w 10378"/>
              <a:gd name="T21" fmla="*/ 5695 h 10377"/>
              <a:gd name="T22" fmla="*/ 5189 w 10378"/>
              <a:gd name="T23" fmla="*/ 10377 h 10377"/>
              <a:gd name="T24" fmla="*/ 0 w 10378"/>
              <a:gd name="T25" fmla="*/ 5188 h 10377"/>
              <a:gd name="T26" fmla="*/ 5189 w 10378"/>
              <a:gd name="T27" fmla="*/ 0 h 10377"/>
              <a:gd name="T28" fmla="*/ 10378 w 10378"/>
              <a:gd name="T29" fmla="*/ 5188 h 10377"/>
              <a:gd name="T30" fmla="*/ 5189 w 10378"/>
              <a:gd name="T31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8" h="10377">
                <a:moveTo>
                  <a:pt x="4510" y="5695"/>
                </a:moveTo>
                <a:lnTo>
                  <a:pt x="3593" y="4778"/>
                </a:lnTo>
                <a:cubicBezTo>
                  <a:pt x="3339" y="4526"/>
                  <a:pt x="2929" y="4526"/>
                  <a:pt x="2676" y="4778"/>
                </a:cubicBezTo>
                <a:cubicBezTo>
                  <a:pt x="2423" y="5032"/>
                  <a:pt x="2423" y="5442"/>
                  <a:pt x="2676" y="5695"/>
                </a:cubicBezTo>
                <a:lnTo>
                  <a:pt x="3594" y="6613"/>
                </a:lnTo>
                <a:lnTo>
                  <a:pt x="4053" y="7072"/>
                </a:lnTo>
                <a:cubicBezTo>
                  <a:pt x="4307" y="7326"/>
                  <a:pt x="4717" y="7326"/>
                  <a:pt x="4970" y="7072"/>
                </a:cubicBezTo>
                <a:lnTo>
                  <a:pt x="7722" y="4320"/>
                </a:lnTo>
                <a:cubicBezTo>
                  <a:pt x="7975" y="4067"/>
                  <a:pt x="7975" y="3657"/>
                  <a:pt x="7722" y="3403"/>
                </a:cubicBezTo>
                <a:cubicBezTo>
                  <a:pt x="7468" y="3149"/>
                  <a:pt x="7058" y="3149"/>
                  <a:pt x="6804" y="3403"/>
                </a:cubicBezTo>
                <a:lnTo>
                  <a:pt x="4510" y="5695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3"/>
                  <a:pt x="10378" y="5188"/>
                </a:cubicBezTo>
                <a:cubicBezTo>
                  <a:pt x="10378" y="8053"/>
                  <a:pt x="8054" y="10377"/>
                  <a:pt x="5189" y="10377"/>
                </a:cubicBez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635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50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3" name="任意多边形: 形状 18"/>
          <p:cNvSpPr/>
          <p:nvPr/>
        </p:nvSpPr>
        <p:spPr>
          <a:xfrm>
            <a:off x="8906624" y="5849813"/>
            <a:ext cx="259200" cy="259200"/>
          </a:xfrm>
          <a:custGeom>
            <a:avLst/>
            <a:gdLst>
              <a:gd name="T0" fmla="*/ 4510 w 10378"/>
              <a:gd name="T1" fmla="*/ 5695 h 10377"/>
              <a:gd name="T2" fmla="*/ 3593 w 10378"/>
              <a:gd name="T3" fmla="*/ 4778 h 10377"/>
              <a:gd name="T4" fmla="*/ 2676 w 10378"/>
              <a:gd name="T5" fmla="*/ 4778 h 10377"/>
              <a:gd name="T6" fmla="*/ 2676 w 10378"/>
              <a:gd name="T7" fmla="*/ 5695 h 10377"/>
              <a:gd name="T8" fmla="*/ 3594 w 10378"/>
              <a:gd name="T9" fmla="*/ 6613 h 10377"/>
              <a:gd name="T10" fmla="*/ 4053 w 10378"/>
              <a:gd name="T11" fmla="*/ 7072 h 10377"/>
              <a:gd name="T12" fmla="*/ 4970 w 10378"/>
              <a:gd name="T13" fmla="*/ 7072 h 10377"/>
              <a:gd name="T14" fmla="*/ 7722 w 10378"/>
              <a:gd name="T15" fmla="*/ 4320 h 10377"/>
              <a:gd name="T16" fmla="*/ 7722 w 10378"/>
              <a:gd name="T17" fmla="*/ 3403 h 10377"/>
              <a:gd name="T18" fmla="*/ 6804 w 10378"/>
              <a:gd name="T19" fmla="*/ 3403 h 10377"/>
              <a:gd name="T20" fmla="*/ 4510 w 10378"/>
              <a:gd name="T21" fmla="*/ 5695 h 10377"/>
              <a:gd name="T22" fmla="*/ 5189 w 10378"/>
              <a:gd name="T23" fmla="*/ 10377 h 10377"/>
              <a:gd name="T24" fmla="*/ 0 w 10378"/>
              <a:gd name="T25" fmla="*/ 5188 h 10377"/>
              <a:gd name="T26" fmla="*/ 5189 w 10378"/>
              <a:gd name="T27" fmla="*/ 0 h 10377"/>
              <a:gd name="T28" fmla="*/ 10378 w 10378"/>
              <a:gd name="T29" fmla="*/ 5188 h 10377"/>
              <a:gd name="T30" fmla="*/ 5189 w 10378"/>
              <a:gd name="T31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8" h="10377">
                <a:moveTo>
                  <a:pt x="4510" y="5695"/>
                </a:moveTo>
                <a:lnTo>
                  <a:pt x="3593" y="4778"/>
                </a:lnTo>
                <a:cubicBezTo>
                  <a:pt x="3339" y="4526"/>
                  <a:pt x="2929" y="4526"/>
                  <a:pt x="2676" y="4778"/>
                </a:cubicBezTo>
                <a:cubicBezTo>
                  <a:pt x="2423" y="5032"/>
                  <a:pt x="2423" y="5442"/>
                  <a:pt x="2676" y="5695"/>
                </a:cubicBezTo>
                <a:lnTo>
                  <a:pt x="3594" y="6613"/>
                </a:lnTo>
                <a:lnTo>
                  <a:pt x="4053" y="7072"/>
                </a:lnTo>
                <a:cubicBezTo>
                  <a:pt x="4307" y="7326"/>
                  <a:pt x="4717" y="7326"/>
                  <a:pt x="4970" y="7072"/>
                </a:cubicBezTo>
                <a:lnTo>
                  <a:pt x="7722" y="4320"/>
                </a:lnTo>
                <a:cubicBezTo>
                  <a:pt x="7975" y="4067"/>
                  <a:pt x="7975" y="3657"/>
                  <a:pt x="7722" y="3403"/>
                </a:cubicBezTo>
                <a:cubicBezTo>
                  <a:pt x="7468" y="3149"/>
                  <a:pt x="7058" y="3149"/>
                  <a:pt x="6804" y="3403"/>
                </a:cubicBezTo>
                <a:lnTo>
                  <a:pt x="4510" y="5695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3"/>
                  <a:pt x="10378" y="5188"/>
                </a:cubicBezTo>
                <a:cubicBezTo>
                  <a:pt x="10378" y="8053"/>
                  <a:pt x="8054" y="10377"/>
                  <a:pt x="5189" y="10377"/>
                </a:cubicBezTo>
                <a:close/>
              </a:path>
            </a:pathLst>
          </a:custGeom>
          <a:solidFill>
            <a:srgbClr val="2E55A2"/>
          </a:solidFill>
          <a:ln>
            <a:noFill/>
          </a:ln>
          <a:effectLst>
            <a:outerShdw blurRad="635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50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4" name="图形 75" descr="3b32303134303334323b4e58"/>
          <p:cNvSpPr/>
          <p:nvPr/>
        </p:nvSpPr>
        <p:spPr>
          <a:xfrm>
            <a:off x="3096521" y="4645837"/>
            <a:ext cx="259003" cy="259133"/>
          </a:xfrm>
          <a:custGeom>
            <a:avLst/>
            <a:gdLst>
              <a:gd name="connsiteX0" fmla="*/ 128789 w 259003"/>
              <a:gd name="connsiteY0" fmla="*/ 3 h 259133"/>
              <a:gd name="connsiteX1" fmla="*/ 0 w 259003"/>
              <a:gd name="connsiteY1" fmla="*/ 130217 h 259133"/>
              <a:gd name="connsiteX2" fmla="*/ 128789 w 259003"/>
              <a:gd name="connsiteY2" fmla="*/ 259136 h 259133"/>
              <a:gd name="connsiteX3" fmla="*/ 259004 w 259003"/>
              <a:gd name="connsiteY3" fmla="*/ 130217 h 259133"/>
              <a:gd name="connsiteX4" fmla="*/ 128789 w 259003"/>
              <a:gd name="connsiteY4" fmla="*/ 3 h 259133"/>
              <a:gd name="connsiteX5" fmla="*/ 200051 w 259003"/>
              <a:gd name="connsiteY5" fmla="*/ 175565 h 259133"/>
              <a:gd name="connsiteX6" fmla="*/ 174008 w 259003"/>
              <a:gd name="connsiteY6" fmla="*/ 201608 h 259133"/>
              <a:gd name="connsiteX7" fmla="*/ 131510 w 259003"/>
              <a:gd name="connsiteY7" fmla="*/ 159110 h 259133"/>
              <a:gd name="connsiteX8" fmla="*/ 89012 w 259003"/>
              <a:gd name="connsiteY8" fmla="*/ 201608 h 259133"/>
              <a:gd name="connsiteX9" fmla="*/ 61544 w 259003"/>
              <a:gd name="connsiteY9" fmla="*/ 175565 h 259133"/>
              <a:gd name="connsiteX10" fmla="*/ 104042 w 259003"/>
              <a:gd name="connsiteY10" fmla="*/ 133068 h 259133"/>
              <a:gd name="connsiteX11" fmla="*/ 61544 w 259003"/>
              <a:gd name="connsiteY11" fmla="*/ 90570 h 259133"/>
              <a:gd name="connsiteX12" fmla="*/ 89012 w 259003"/>
              <a:gd name="connsiteY12" fmla="*/ 63102 h 259133"/>
              <a:gd name="connsiteX13" fmla="*/ 131510 w 259003"/>
              <a:gd name="connsiteY13" fmla="*/ 105599 h 259133"/>
              <a:gd name="connsiteX14" fmla="*/ 174008 w 259003"/>
              <a:gd name="connsiteY14" fmla="*/ 63102 h 259133"/>
              <a:gd name="connsiteX15" fmla="*/ 200051 w 259003"/>
              <a:gd name="connsiteY15" fmla="*/ 90570 h 259133"/>
              <a:gd name="connsiteX16" fmla="*/ 157553 w 259003"/>
              <a:gd name="connsiteY16" fmla="*/ 133068 h 259133"/>
              <a:gd name="connsiteX17" fmla="*/ 200051 w 259003"/>
              <a:gd name="connsiteY17" fmla="*/ 175565 h 25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9003" h="259133">
                <a:moveTo>
                  <a:pt x="128789" y="3"/>
                </a:moveTo>
                <a:cubicBezTo>
                  <a:pt x="57527" y="3"/>
                  <a:pt x="0" y="58955"/>
                  <a:pt x="0" y="130217"/>
                </a:cubicBezTo>
                <a:cubicBezTo>
                  <a:pt x="0" y="201479"/>
                  <a:pt x="57527" y="259136"/>
                  <a:pt x="128789" y="259136"/>
                </a:cubicBezTo>
                <a:cubicBezTo>
                  <a:pt x="201346" y="259136"/>
                  <a:pt x="259004" y="201608"/>
                  <a:pt x="259004" y="130217"/>
                </a:cubicBezTo>
                <a:cubicBezTo>
                  <a:pt x="258874" y="58955"/>
                  <a:pt x="201346" y="3"/>
                  <a:pt x="128789" y="3"/>
                </a:cubicBezTo>
                <a:moveTo>
                  <a:pt x="200051" y="175565"/>
                </a:moveTo>
                <a:cubicBezTo>
                  <a:pt x="174008" y="201608"/>
                  <a:pt x="174008" y="201608"/>
                  <a:pt x="174008" y="201608"/>
                </a:cubicBezTo>
                <a:cubicBezTo>
                  <a:pt x="131510" y="159110"/>
                  <a:pt x="131510" y="159110"/>
                  <a:pt x="131510" y="159110"/>
                </a:cubicBezTo>
                <a:cubicBezTo>
                  <a:pt x="89012" y="201608"/>
                  <a:pt x="89012" y="201608"/>
                  <a:pt x="89012" y="201608"/>
                </a:cubicBezTo>
                <a:cubicBezTo>
                  <a:pt x="61544" y="175565"/>
                  <a:pt x="61544" y="175565"/>
                  <a:pt x="61544" y="175565"/>
                </a:cubicBezTo>
                <a:cubicBezTo>
                  <a:pt x="104042" y="133068"/>
                  <a:pt x="104042" y="133068"/>
                  <a:pt x="104042" y="133068"/>
                </a:cubicBezTo>
                <a:cubicBezTo>
                  <a:pt x="61544" y="90570"/>
                  <a:pt x="61544" y="90570"/>
                  <a:pt x="61544" y="90570"/>
                </a:cubicBezTo>
                <a:cubicBezTo>
                  <a:pt x="89012" y="63102"/>
                  <a:pt x="89012" y="63102"/>
                  <a:pt x="89012" y="63102"/>
                </a:cubicBezTo>
                <a:cubicBezTo>
                  <a:pt x="131510" y="105599"/>
                  <a:pt x="131510" y="105599"/>
                  <a:pt x="131510" y="105599"/>
                </a:cubicBezTo>
                <a:cubicBezTo>
                  <a:pt x="174008" y="63102"/>
                  <a:pt x="174008" y="63102"/>
                  <a:pt x="174008" y="63102"/>
                </a:cubicBezTo>
                <a:cubicBezTo>
                  <a:pt x="200051" y="90570"/>
                  <a:pt x="200051" y="90570"/>
                  <a:pt x="200051" y="90570"/>
                </a:cubicBezTo>
                <a:cubicBezTo>
                  <a:pt x="157553" y="133068"/>
                  <a:pt x="157553" y="133068"/>
                  <a:pt x="157553" y="133068"/>
                </a:cubicBezTo>
                <a:lnTo>
                  <a:pt x="200051" y="175565"/>
                </a:lnTo>
              </a:path>
            </a:pathLst>
          </a:custGeom>
          <a:solidFill>
            <a:srgbClr val="FFFFFF">
              <a:lumMod val="50000"/>
            </a:srgbClr>
          </a:solidFill>
          <a:ln w="1286" cap="sq">
            <a:noFill/>
            <a:prstDash val="solid"/>
            <a:bevel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图形 76" descr="3b32303134303334323b4e58"/>
          <p:cNvSpPr/>
          <p:nvPr/>
        </p:nvSpPr>
        <p:spPr>
          <a:xfrm>
            <a:off x="3096521" y="5273008"/>
            <a:ext cx="259003" cy="259133"/>
          </a:xfrm>
          <a:custGeom>
            <a:avLst/>
            <a:gdLst>
              <a:gd name="connsiteX0" fmla="*/ 128789 w 259003"/>
              <a:gd name="connsiteY0" fmla="*/ 3 h 259133"/>
              <a:gd name="connsiteX1" fmla="*/ 0 w 259003"/>
              <a:gd name="connsiteY1" fmla="*/ 130217 h 259133"/>
              <a:gd name="connsiteX2" fmla="*/ 128789 w 259003"/>
              <a:gd name="connsiteY2" fmla="*/ 259136 h 259133"/>
              <a:gd name="connsiteX3" fmla="*/ 259004 w 259003"/>
              <a:gd name="connsiteY3" fmla="*/ 130217 h 259133"/>
              <a:gd name="connsiteX4" fmla="*/ 128789 w 259003"/>
              <a:gd name="connsiteY4" fmla="*/ 3 h 259133"/>
              <a:gd name="connsiteX5" fmla="*/ 200051 w 259003"/>
              <a:gd name="connsiteY5" fmla="*/ 175565 h 259133"/>
              <a:gd name="connsiteX6" fmla="*/ 174008 w 259003"/>
              <a:gd name="connsiteY6" fmla="*/ 201608 h 259133"/>
              <a:gd name="connsiteX7" fmla="*/ 131510 w 259003"/>
              <a:gd name="connsiteY7" fmla="*/ 159110 h 259133"/>
              <a:gd name="connsiteX8" fmla="*/ 89012 w 259003"/>
              <a:gd name="connsiteY8" fmla="*/ 201608 h 259133"/>
              <a:gd name="connsiteX9" fmla="*/ 61544 w 259003"/>
              <a:gd name="connsiteY9" fmla="*/ 175565 h 259133"/>
              <a:gd name="connsiteX10" fmla="*/ 104042 w 259003"/>
              <a:gd name="connsiteY10" fmla="*/ 133068 h 259133"/>
              <a:gd name="connsiteX11" fmla="*/ 61544 w 259003"/>
              <a:gd name="connsiteY11" fmla="*/ 90570 h 259133"/>
              <a:gd name="connsiteX12" fmla="*/ 89012 w 259003"/>
              <a:gd name="connsiteY12" fmla="*/ 63102 h 259133"/>
              <a:gd name="connsiteX13" fmla="*/ 131510 w 259003"/>
              <a:gd name="connsiteY13" fmla="*/ 105599 h 259133"/>
              <a:gd name="connsiteX14" fmla="*/ 174008 w 259003"/>
              <a:gd name="connsiteY14" fmla="*/ 63102 h 259133"/>
              <a:gd name="connsiteX15" fmla="*/ 200051 w 259003"/>
              <a:gd name="connsiteY15" fmla="*/ 90570 h 259133"/>
              <a:gd name="connsiteX16" fmla="*/ 157553 w 259003"/>
              <a:gd name="connsiteY16" fmla="*/ 133068 h 259133"/>
              <a:gd name="connsiteX17" fmla="*/ 200051 w 259003"/>
              <a:gd name="connsiteY17" fmla="*/ 175565 h 25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9003" h="259133">
                <a:moveTo>
                  <a:pt x="128789" y="3"/>
                </a:moveTo>
                <a:cubicBezTo>
                  <a:pt x="57527" y="3"/>
                  <a:pt x="0" y="58955"/>
                  <a:pt x="0" y="130217"/>
                </a:cubicBezTo>
                <a:cubicBezTo>
                  <a:pt x="0" y="201479"/>
                  <a:pt x="57527" y="259136"/>
                  <a:pt x="128789" y="259136"/>
                </a:cubicBezTo>
                <a:cubicBezTo>
                  <a:pt x="201346" y="259136"/>
                  <a:pt x="259004" y="201608"/>
                  <a:pt x="259004" y="130217"/>
                </a:cubicBezTo>
                <a:cubicBezTo>
                  <a:pt x="258874" y="58955"/>
                  <a:pt x="201346" y="3"/>
                  <a:pt x="128789" y="3"/>
                </a:cubicBezTo>
                <a:moveTo>
                  <a:pt x="200051" y="175565"/>
                </a:moveTo>
                <a:cubicBezTo>
                  <a:pt x="174008" y="201608"/>
                  <a:pt x="174008" y="201608"/>
                  <a:pt x="174008" y="201608"/>
                </a:cubicBezTo>
                <a:cubicBezTo>
                  <a:pt x="131510" y="159110"/>
                  <a:pt x="131510" y="159110"/>
                  <a:pt x="131510" y="159110"/>
                </a:cubicBezTo>
                <a:cubicBezTo>
                  <a:pt x="89012" y="201608"/>
                  <a:pt x="89012" y="201608"/>
                  <a:pt x="89012" y="201608"/>
                </a:cubicBezTo>
                <a:cubicBezTo>
                  <a:pt x="61544" y="175565"/>
                  <a:pt x="61544" y="175565"/>
                  <a:pt x="61544" y="175565"/>
                </a:cubicBezTo>
                <a:cubicBezTo>
                  <a:pt x="104042" y="133068"/>
                  <a:pt x="104042" y="133068"/>
                  <a:pt x="104042" y="133068"/>
                </a:cubicBezTo>
                <a:cubicBezTo>
                  <a:pt x="61544" y="90570"/>
                  <a:pt x="61544" y="90570"/>
                  <a:pt x="61544" y="90570"/>
                </a:cubicBezTo>
                <a:cubicBezTo>
                  <a:pt x="89012" y="63102"/>
                  <a:pt x="89012" y="63102"/>
                  <a:pt x="89012" y="63102"/>
                </a:cubicBezTo>
                <a:cubicBezTo>
                  <a:pt x="131510" y="105599"/>
                  <a:pt x="131510" y="105599"/>
                  <a:pt x="131510" y="105599"/>
                </a:cubicBezTo>
                <a:cubicBezTo>
                  <a:pt x="174008" y="63102"/>
                  <a:pt x="174008" y="63102"/>
                  <a:pt x="174008" y="63102"/>
                </a:cubicBezTo>
                <a:cubicBezTo>
                  <a:pt x="200051" y="90570"/>
                  <a:pt x="200051" y="90570"/>
                  <a:pt x="200051" y="90570"/>
                </a:cubicBezTo>
                <a:cubicBezTo>
                  <a:pt x="157553" y="133068"/>
                  <a:pt x="157553" y="133068"/>
                  <a:pt x="157553" y="133068"/>
                </a:cubicBezTo>
                <a:lnTo>
                  <a:pt x="200051" y="175565"/>
                </a:lnTo>
              </a:path>
            </a:pathLst>
          </a:custGeom>
          <a:solidFill>
            <a:srgbClr val="FFFFFF">
              <a:lumMod val="50000"/>
            </a:srgbClr>
          </a:solidFill>
          <a:ln w="1286" cap="sq">
            <a:noFill/>
            <a:prstDash val="solid"/>
            <a:bevel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图形 77" descr="3b32303134303334323b4e58"/>
          <p:cNvSpPr/>
          <p:nvPr/>
        </p:nvSpPr>
        <p:spPr>
          <a:xfrm>
            <a:off x="3096521" y="5871360"/>
            <a:ext cx="259003" cy="259133"/>
          </a:xfrm>
          <a:custGeom>
            <a:avLst/>
            <a:gdLst>
              <a:gd name="connsiteX0" fmla="*/ 128789 w 259003"/>
              <a:gd name="connsiteY0" fmla="*/ 3 h 259133"/>
              <a:gd name="connsiteX1" fmla="*/ 0 w 259003"/>
              <a:gd name="connsiteY1" fmla="*/ 130217 h 259133"/>
              <a:gd name="connsiteX2" fmla="*/ 128789 w 259003"/>
              <a:gd name="connsiteY2" fmla="*/ 259136 h 259133"/>
              <a:gd name="connsiteX3" fmla="*/ 259004 w 259003"/>
              <a:gd name="connsiteY3" fmla="*/ 130217 h 259133"/>
              <a:gd name="connsiteX4" fmla="*/ 128789 w 259003"/>
              <a:gd name="connsiteY4" fmla="*/ 3 h 259133"/>
              <a:gd name="connsiteX5" fmla="*/ 200051 w 259003"/>
              <a:gd name="connsiteY5" fmla="*/ 175565 h 259133"/>
              <a:gd name="connsiteX6" fmla="*/ 174008 w 259003"/>
              <a:gd name="connsiteY6" fmla="*/ 201608 h 259133"/>
              <a:gd name="connsiteX7" fmla="*/ 131510 w 259003"/>
              <a:gd name="connsiteY7" fmla="*/ 159110 h 259133"/>
              <a:gd name="connsiteX8" fmla="*/ 89012 w 259003"/>
              <a:gd name="connsiteY8" fmla="*/ 201608 h 259133"/>
              <a:gd name="connsiteX9" fmla="*/ 61544 w 259003"/>
              <a:gd name="connsiteY9" fmla="*/ 175565 h 259133"/>
              <a:gd name="connsiteX10" fmla="*/ 104042 w 259003"/>
              <a:gd name="connsiteY10" fmla="*/ 133068 h 259133"/>
              <a:gd name="connsiteX11" fmla="*/ 61544 w 259003"/>
              <a:gd name="connsiteY11" fmla="*/ 90570 h 259133"/>
              <a:gd name="connsiteX12" fmla="*/ 89012 w 259003"/>
              <a:gd name="connsiteY12" fmla="*/ 63102 h 259133"/>
              <a:gd name="connsiteX13" fmla="*/ 131510 w 259003"/>
              <a:gd name="connsiteY13" fmla="*/ 105599 h 259133"/>
              <a:gd name="connsiteX14" fmla="*/ 174008 w 259003"/>
              <a:gd name="connsiteY14" fmla="*/ 63102 h 259133"/>
              <a:gd name="connsiteX15" fmla="*/ 200051 w 259003"/>
              <a:gd name="connsiteY15" fmla="*/ 90570 h 259133"/>
              <a:gd name="connsiteX16" fmla="*/ 157553 w 259003"/>
              <a:gd name="connsiteY16" fmla="*/ 133068 h 259133"/>
              <a:gd name="connsiteX17" fmla="*/ 200051 w 259003"/>
              <a:gd name="connsiteY17" fmla="*/ 175565 h 25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9003" h="259133">
                <a:moveTo>
                  <a:pt x="128789" y="3"/>
                </a:moveTo>
                <a:cubicBezTo>
                  <a:pt x="57527" y="3"/>
                  <a:pt x="0" y="58955"/>
                  <a:pt x="0" y="130217"/>
                </a:cubicBezTo>
                <a:cubicBezTo>
                  <a:pt x="0" y="201479"/>
                  <a:pt x="57527" y="259136"/>
                  <a:pt x="128789" y="259136"/>
                </a:cubicBezTo>
                <a:cubicBezTo>
                  <a:pt x="201346" y="259136"/>
                  <a:pt x="259004" y="201608"/>
                  <a:pt x="259004" y="130217"/>
                </a:cubicBezTo>
                <a:cubicBezTo>
                  <a:pt x="258874" y="58955"/>
                  <a:pt x="201346" y="3"/>
                  <a:pt x="128789" y="3"/>
                </a:cubicBezTo>
                <a:moveTo>
                  <a:pt x="200051" y="175565"/>
                </a:moveTo>
                <a:cubicBezTo>
                  <a:pt x="174008" y="201608"/>
                  <a:pt x="174008" y="201608"/>
                  <a:pt x="174008" y="201608"/>
                </a:cubicBezTo>
                <a:cubicBezTo>
                  <a:pt x="131510" y="159110"/>
                  <a:pt x="131510" y="159110"/>
                  <a:pt x="131510" y="159110"/>
                </a:cubicBezTo>
                <a:cubicBezTo>
                  <a:pt x="89012" y="201608"/>
                  <a:pt x="89012" y="201608"/>
                  <a:pt x="89012" y="201608"/>
                </a:cubicBezTo>
                <a:cubicBezTo>
                  <a:pt x="61544" y="175565"/>
                  <a:pt x="61544" y="175565"/>
                  <a:pt x="61544" y="175565"/>
                </a:cubicBezTo>
                <a:cubicBezTo>
                  <a:pt x="104042" y="133068"/>
                  <a:pt x="104042" y="133068"/>
                  <a:pt x="104042" y="133068"/>
                </a:cubicBezTo>
                <a:cubicBezTo>
                  <a:pt x="61544" y="90570"/>
                  <a:pt x="61544" y="90570"/>
                  <a:pt x="61544" y="90570"/>
                </a:cubicBezTo>
                <a:cubicBezTo>
                  <a:pt x="89012" y="63102"/>
                  <a:pt x="89012" y="63102"/>
                  <a:pt x="89012" y="63102"/>
                </a:cubicBezTo>
                <a:cubicBezTo>
                  <a:pt x="131510" y="105599"/>
                  <a:pt x="131510" y="105599"/>
                  <a:pt x="131510" y="105599"/>
                </a:cubicBezTo>
                <a:cubicBezTo>
                  <a:pt x="174008" y="63102"/>
                  <a:pt x="174008" y="63102"/>
                  <a:pt x="174008" y="63102"/>
                </a:cubicBezTo>
                <a:cubicBezTo>
                  <a:pt x="200051" y="90570"/>
                  <a:pt x="200051" y="90570"/>
                  <a:pt x="200051" y="90570"/>
                </a:cubicBezTo>
                <a:cubicBezTo>
                  <a:pt x="157553" y="133068"/>
                  <a:pt x="157553" y="133068"/>
                  <a:pt x="157553" y="133068"/>
                </a:cubicBezTo>
                <a:lnTo>
                  <a:pt x="200051" y="175565"/>
                </a:lnTo>
              </a:path>
            </a:pathLst>
          </a:custGeom>
          <a:solidFill>
            <a:srgbClr val="FFFFFF">
              <a:lumMod val="50000"/>
            </a:srgbClr>
          </a:solidFill>
          <a:ln w="1286" cap="sq">
            <a:noFill/>
            <a:prstDash val="solid"/>
            <a:bevel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21535" y="981883"/>
            <a:ext cx="12506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人找知识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21535" y="1457498"/>
            <a:ext cx="12506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数据分散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21535" y="1952163"/>
            <a:ext cx="12506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人工分析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21535" y="5163820"/>
            <a:ext cx="144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人工写报告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21535" y="5639435"/>
            <a:ext cx="164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检修依赖经验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21535" y="6134100"/>
            <a:ext cx="1693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经验难沉淀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79285" y="5163820"/>
            <a:ext cx="176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rgbClr val="1973C5"/>
                </a:solidFill>
              </a:rPr>
              <a:t>报告智能解析</a:t>
            </a:r>
            <a:endParaRPr lang="zh-CN" altLang="en-US" b="1">
              <a:solidFill>
                <a:srgbClr val="1973C5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78650" y="5624195"/>
            <a:ext cx="1762760" cy="384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zh-CN" b="1">
                <a:solidFill>
                  <a:srgbClr val="1973C5"/>
                </a:solidFill>
              </a:rPr>
              <a:t>智能检修策划</a:t>
            </a:r>
            <a:endParaRPr lang="zh-CN" b="1">
              <a:solidFill>
                <a:srgbClr val="1973C5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79285" y="6102350"/>
            <a:ext cx="176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rgbClr val="1973C5"/>
                </a:solidFill>
              </a:rPr>
              <a:t>知识沉淀企业</a:t>
            </a:r>
            <a:endParaRPr lang="zh-CN" altLang="en-US" b="1">
              <a:solidFill>
                <a:srgbClr val="1973C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产品定位</a:t>
            </a:r>
            <a:endParaRPr lang="zh-CN" altLang="en-US"/>
          </a:p>
        </p:txBody>
      </p:sp>
      <p:sp>
        <p:nvSpPr>
          <p:cNvPr id="3" name="矩形: 圆角 12"/>
          <p:cNvSpPr/>
          <p:nvPr/>
        </p:nvSpPr>
        <p:spPr>
          <a:xfrm>
            <a:off x="4434998" y="1561466"/>
            <a:ext cx="2676525" cy="626752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大模型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: 形状 48"/>
          <p:cNvSpPr/>
          <p:nvPr>
            <p:custDataLst>
              <p:tags r:id="rId1"/>
            </p:custDataLst>
          </p:nvPr>
        </p:nvSpPr>
        <p:spPr>
          <a:xfrm rot="10800000">
            <a:off x="2037975" y="2967880"/>
            <a:ext cx="1270708" cy="1492091"/>
          </a:xfrm>
          <a:custGeom>
            <a:avLst/>
            <a:gdLst>
              <a:gd name="connsiteX0" fmla="*/ 1045251 w 2070585"/>
              <a:gd name="connsiteY0" fmla="*/ 2431323 h 2431323"/>
              <a:gd name="connsiteX1" fmla="*/ 0 w 2070585"/>
              <a:gd name="connsiteY1" fmla="*/ 1823493 h 2431323"/>
              <a:gd name="connsiteX2" fmla="*/ 0 w 2070585"/>
              <a:gd name="connsiteY2" fmla="*/ 607830 h 2431323"/>
              <a:gd name="connsiteX3" fmla="*/ 2 w 2070585"/>
              <a:gd name="connsiteY3" fmla="*/ 607830 h 2431323"/>
              <a:gd name="connsiteX4" fmla="*/ 1025334 w 2070585"/>
              <a:gd name="connsiteY4" fmla="*/ 0 h 2431323"/>
              <a:gd name="connsiteX5" fmla="*/ 2070585 w 2070585"/>
              <a:gd name="connsiteY5" fmla="*/ 607830 h 2431323"/>
              <a:gd name="connsiteX6" fmla="*/ 2070585 w 2070585"/>
              <a:gd name="connsiteY6" fmla="*/ 1823493 h 2431323"/>
              <a:gd name="connsiteX7" fmla="*/ 2070583 w 2070585"/>
              <a:gd name="connsiteY7" fmla="*/ 1823493 h 243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0585" h="2431323">
                <a:moveTo>
                  <a:pt x="1045251" y="2431323"/>
                </a:moveTo>
                <a:lnTo>
                  <a:pt x="0" y="1823493"/>
                </a:lnTo>
                <a:lnTo>
                  <a:pt x="0" y="607830"/>
                </a:lnTo>
                <a:lnTo>
                  <a:pt x="2" y="607830"/>
                </a:lnTo>
                <a:lnTo>
                  <a:pt x="1025334" y="0"/>
                </a:lnTo>
                <a:lnTo>
                  <a:pt x="2070585" y="607830"/>
                </a:lnTo>
                <a:lnTo>
                  <a:pt x="2070585" y="1823493"/>
                </a:lnTo>
                <a:lnTo>
                  <a:pt x="2070583" y="1823493"/>
                </a:lnTo>
                <a:close/>
              </a:path>
            </a:pathLst>
          </a:custGeom>
          <a:noFill/>
          <a:ln w="12700">
            <a:solidFill>
              <a:srgbClr val="3855CB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: 形状 49"/>
          <p:cNvSpPr/>
          <p:nvPr>
            <p:custDataLst>
              <p:tags r:id="rId2"/>
            </p:custDataLst>
          </p:nvPr>
        </p:nvSpPr>
        <p:spPr>
          <a:xfrm rot="12663918">
            <a:off x="2057582" y="2990903"/>
            <a:ext cx="1231491" cy="1446043"/>
          </a:xfrm>
          <a:custGeom>
            <a:avLst/>
            <a:gdLst>
              <a:gd name="connsiteX0" fmla="*/ 1045251 w 2070585"/>
              <a:gd name="connsiteY0" fmla="*/ 2431323 h 2431323"/>
              <a:gd name="connsiteX1" fmla="*/ 0 w 2070585"/>
              <a:gd name="connsiteY1" fmla="*/ 1823493 h 2431323"/>
              <a:gd name="connsiteX2" fmla="*/ 0 w 2070585"/>
              <a:gd name="connsiteY2" fmla="*/ 607830 h 2431323"/>
              <a:gd name="connsiteX3" fmla="*/ 2 w 2070585"/>
              <a:gd name="connsiteY3" fmla="*/ 607830 h 2431323"/>
              <a:gd name="connsiteX4" fmla="*/ 1025334 w 2070585"/>
              <a:gd name="connsiteY4" fmla="*/ 0 h 2431323"/>
              <a:gd name="connsiteX5" fmla="*/ 2070585 w 2070585"/>
              <a:gd name="connsiteY5" fmla="*/ 607830 h 2431323"/>
              <a:gd name="connsiteX6" fmla="*/ 2070585 w 2070585"/>
              <a:gd name="connsiteY6" fmla="*/ 1823493 h 2431323"/>
              <a:gd name="connsiteX7" fmla="*/ 2070583 w 2070585"/>
              <a:gd name="connsiteY7" fmla="*/ 1823493 h 243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0585" h="2431323">
                <a:moveTo>
                  <a:pt x="1045251" y="2431323"/>
                </a:moveTo>
                <a:lnTo>
                  <a:pt x="0" y="1823493"/>
                </a:lnTo>
                <a:lnTo>
                  <a:pt x="0" y="607830"/>
                </a:lnTo>
                <a:lnTo>
                  <a:pt x="2" y="607830"/>
                </a:lnTo>
                <a:lnTo>
                  <a:pt x="1025334" y="0"/>
                </a:lnTo>
                <a:lnTo>
                  <a:pt x="2070585" y="607830"/>
                </a:lnTo>
                <a:lnTo>
                  <a:pt x="2070585" y="1823493"/>
                </a:lnTo>
                <a:lnTo>
                  <a:pt x="2070583" y="1823493"/>
                </a:lnTo>
                <a:close/>
              </a:path>
            </a:pathLst>
          </a:custGeom>
          <a:solidFill>
            <a:srgbClr val="3855CB"/>
          </a:solidFill>
          <a:ln w="12700">
            <a:noFill/>
            <a:prstDash val="dash"/>
          </a:ln>
          <a:effectLst>
            <a:outerShdw blurRad="254000" dist="38100" dir="2700000" algn="tl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079010" y="3314122"/>
            <a:ext cx="117292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FFFFFF"/>
                </a:solidFill>
              </a:rPr>
              <a:t>知识库</a:t>
            </a:r>
            <a:endParaRPr lang="zh-CN" altLang="en-US" sz="1400">
              <a:solidFill>
                <a:srgbClr val="FFFFFF"/>
              </a:solidFill>
            </a:endParaRPr>
          </a:p>
          <a:p>
            <a:pPr algn="ctr"/>
            <a:endParaRPr lang="zh-CN" altLang="en-US" sz="1400">
              <a:solidFill>
                <a:srgbClr val="FFFFFF"/>
              </a:solidFill>
            </a:endParaRPr>
          </a:p>
          <a:p>
            <a:pPr algn="ctr"/>
            <a:r>
              <a:rPr lang="zh-CN" altLang="en-US" sz="1000">
                <a:solidFill>
                  <a:srgbClr val="FFFFFF"/>
                </a:solidFill>
              </a:rPr>
              <a:t>规程、案例、检修数据等</a:t>
            </a:r>
            <a:endParaRPr lang="zh-CN" altLang="en-US" sz="1000">
              <a:solidFill>
                <a:srgbClr val="FFFFFF"/>
              </a:solidFill>
            </a:endParaRPr>
          </a:p>
        </p:txBody>
      </p:sp>
      <p:sp>
        <p:nvSpPr>
          <p:cNvPr id="14" name="任意多边形: 形状 48"/>
          <p:cNvSpPr/>
          <p:nvPr>
            <p:custDataLst>
              <p:tags r:id="rId4"/>
            </p:custDataLst>
          </p:nvPr>
        </p:nvSpPr>
        <p:spPr>
          <a:xfrm rot="10800000">
            <a:off x="5145665" y="2967245"/>
            <a:ext cx="1270708" cy="1492091"/>
          </a:xfrm>
          <a:custGeom>
            <a:avLst/>
            <a:gdLst>
              <a:gd name="connsiteX0" fmla="*/ 1045251 w 2070585"/>
              <a:gd name="connsiteY0" fmla="*/ 2431323 h 2431323"/>
              <a:gd name="connsiteX1" fmla="*/ 0 w 2070585"/>
              <a:gd name="connsiteY1" fmla="*/ 1823493 h 2431323"/>
              <a:gd name="connsiteX2" fmla="*/ 0 w 2070585"/>
              <a:gd name="connsiteY2" fmla="*/ 607830 h 2431323"/>
              <a:gd name="connsiteX3" fmla="*/ 2 w 2070585"/>
              <a:gd name="connsiteY3" fmla="*/ 607830 h 2431323"/>
              <a:gd name="connsiteX4" fmla="*/ 1025334 w 2070585"/>
              <a:gd name="connsiteY4" fmla="*/ 0 h 2431323"/>
              <a:gd name="connsiteX5" fmla="*/ 2070585 w 2070585"/>
              <a:gd name="connsiteY5" fmla="*/ 607830 h 2431323"/>
              <a:gd name="connsiteX6" fmla="*/ 2070585 w 2070585"/>
              <a:gd name="connsiteY6" fmla="*/ 1823493 h 2431323"/>
              <a:gd name="connsiteX7" fmla="*/ 2070583 w 2070585"/>
              <a:gd name="connsiteY7" fmla="*/ 1823493 h 243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0585" h="2431323">
                <a:moveTo>
                  <a:pt x="1045251" y="2431323"/>
                </a:moveTo>
                <a:lnTo>
                  <a:pt x="0" y="1823493"/>
                </a:lnTo>
                <a:lnTo>
                  <a:pt x="0" y="607830"/>
                </a:lnTo>
                <a:lnTo>
                  <a:pt x="2" y="607830"/>
                </a:lnTo>
                <a:lnTo>
                  <a:pt x="1025334" y="0"/>
                </a:lnTo>
                <a:lnTo>
                  <a:pt x="2070585" y="607830"/>
                </a:lnTo>
                <a:lnTo>
                  <a:pt x="2070585" y="1823493"/>
                </a:lnTo>
                <a:lnTo>
                  <a:pt x="2070583" y="1823493"/>
                </a:lnTo>
                <a:close/>
              </a:path>
            </a:pathLst>
          </a:custGeom>
          <a:noFill/>
          <a:ln w="12700">
            <a:solidFill>
              <a:srgbClr val="3855CB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: 形状 49"/>
          <p:cNvSpPr/>
          <p:nvPr>
            <p:custDataLst>
              <p:tags r:id="rId5"/>
            </p:custDataLst>
          </p:nvPr>
        </p:nvSpPr>
        <p:spPr>
          <a:xfrm rot="12663918">
            <a:off x="5165272" y="2990268"/>
            <a:ext cx="1231491" cy="1446043"/>
          </a:xfrm>
          <a:custGeom>
            <a:avLst/>
            <a:gdLst>
              <a:gd name="connsiteX0" fmla="*/ 1045251 w 2070585"/>
              <a:gd name="connsiteY0" fmla="*/ 2431323 h 2431323"/>
              <a:gd name="connsiteX1" fmla="*/ 0 w 2070585"/>
              <a:gd name="connsiteY1" fmla="*/ 1823493 h 2431323"/>
              <a:gd name="connsiteX2" fmla="*/ 0 w 2070585"/>
              <a:gd name="connsiteY2" fmla="*/ 607830 h 2431323"/>
              <a:gd name="connsiteX3" fmla="*/ 2 w 2070585"/>
              <a:gd name="connsiteY3" fmla="*/ 607830 h 2431323"/>
              <a:gd name="connsiteX4" fmla="*/ 1025334 w 2070585"/>
              <a:gd name="connsiteY4" fmla="*/ 0 h 2431323"/>
              <a:gd name="connsiteX5" fmla="*/ 2070585 w 2070585"/>
              <a:gd name="connsiteY5" fmla="*/ 607830 h 2431323"/>
              <a:gd name="connsiteX6" fmla="*/ 2070585 w 2070585"/>
              <a:gd name="connsiteY6" fmla="*/ 1823493 h 2431323"/>
              <a:gd name="connsiteX7" fmla="*/ 2070583 w 2070585"/>
              <a:gd name="connsiteY7" fmla="*/ 1823493 h 243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0585" h="2431323">
                <a:moveTo>
                  <a:pt x="1045251" y="2431323"/>
                </a:moveTo>
                <a:lnTo>
                  <a:pt x="0" y="1823493"/>
                </a:lnTo>
                <a:lnTo>
                  <a:pt x="0" y="607830"/>
                </a:lnTo>
                <a:lnTo>
                  <a:pt x="2" y="607830"/>
                </a:lnTo>
                <a:lnTo>
                  <a:pt x="1025334" y="0"/>
                </a:lnTo>
                <a:lnTo>
                  <a:pt x="2070585" y="607830"/>
                </a:lnTo>
                <a:lnTo>
                  <a:pt x="2070585" y="1823493"/>
                </a:lnTo>
                <a:lnTo>
                  <a:pt x="2070583" y="1823493"/>
                </a:lnTo>
                <a:close/>
              </a:path>
            </a:pathLst>
          </a:custGeom>
          <a:solidFill>
            <a:srgbClr val="3855CB"/>
          </a:solidFill>
          <a:ln w="12700">
            <a:noFill/>
            <a:prstDash val="dash"/>
          </a:ln>
          <a:effectLst>
            <a:outerShdw blurRad="254000" dist="38100" dir="2700000" algn="tl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5189240" y="3314122"/>
            <a:ext cx="117292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FFFFFF"/>
                </a:solidFill>
              </a:rPr>
              <a:t>数据库</a:t>
            </a:r>
            <a:endParaRPr lang="zh-CN" altLang="en-US" sz="1400">
              <a:solidFill>
                <a:srgbClr val="FFFFFF"/>
              </a:solidFill>
            </a:endParaRPr>
          </a:p>
          <a:p>
            <a:pPr algn="ctr"/>
            <a:endParaRPr lang="zh-CN" altLang="en-US" sz="1400">
              <a:solidFill>
                <a:srgbClr val="FFFFFF"/>
              </a:solidFill>
            </a:endParaRPr>
          </a:p>
          <a:p>
            <a:pPr algn="ctr"/>
            <a:r>
              <a:rPr lang="zh-CN" altLang="en-US" sz="1000">
                <a:solidFill>
                  <a:srgbClr val="FFFFFF"/>
                </a:solidFill>
              </a:rPr>
              <a:t>运行数据、台账数据等</a:t>
            </a:r>
            <a:endParaRPr lang="zh-CN" altLang="en-US" sz="1000">
              <a:solidFill>
                <a:srgbClr val="FFFFFF"/>
              </a:solidFill>
            </a:endParaRPr>
          </a:p>
        </p:txBody>
      </p:sp>
      <p:sp>
        <p:nvSpPr>
          <p:cNvPr id="20" name="任意多边形: 形状 48"/>
          <p:cNvSpPr/>
          <p:nvPr>
            <p:custDataLst>
              <p:tags r:id="rId7"/>
            </p:custDataLst>
          </p:nvPr>
        </p:nvSpPr>
        <p:spPr>
          <a:xfrm rot="10800000">
            <a:off x="8258435" y="2967245"/>
            <a:ext cx="1270708" cy="1492091"/>
          </a:xfrm>
          <a:custGeom>
            <a:avLst/>
            <a:gdLst>
              <a:gd name="connsiteX0" fmla="*/ 1045251 w 2070585"/>
              <a:gd name="connsiteY0" fmla="*/ 2431323 h 2431323"/>
              <a:gd name="connsiteX1" fmla="*/ 0 w 2070585"/>
              <a:gd name="connsiteY1" fmla="*/ 1823493 h 2431323"/>
              <a:gd name="connsiteX2" fmla="*/ 0 w 2070585"/>
              <a:gd name="connsiteY2" fmla="*/ 607830 h 2431323"/>
              <a:gd name="connsiteX3" fmla="*/ 2 w 2070585"/>
              <a:gd name="connsiteY3" fmla="*/ 607830 h 2431323"/>
              <a:gd name="connsiteX4" fmla="*/ 1025334 w 2070585"/>
              <a:gd name="connsiteY4" fmla="*/ 0 h 2431323"/>
              <a:gd name="connsiteX5" fmla="*/ 2070585 w 2070585"/>
              <a:gd name="connsiteY5" fmla="*/ 607830 h 2431323"/>
              <a:gd name="connsiteX6" fmla="*/ 2070585 w 2070585"/>
              <a:gd name="connsiteY6" fmla="*/ 1823493 h 2431323"/>
              <a:gd name="connsiteX7" fmla="*/ 2070583 w 2070585"/>
              <a:gd name="connsiteY7" fmla="*/ 1823493 h 243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0585" h="2431323">
                <a:moveTo>
                  <a:pt x="1045251" y="2431323"/>
                </a:moveTo>
                <a:lnTo>
                  <a:pt x="0" y="1823493"/>
                </a:lnTo>
                <a:lnTo>
                  <a:pt x="0" y="607830"/>
                </a:lnTo>
                <a:lnTo>
                  <a:pt x="2" y="607830"/>
                </a:lnTo>
                <a:lnTo>
                  <a:pt x="1025334" y="0"/>
                </a:lnTo>
                <a:lnTo>
                  <a:pt x="2070585" y="607830"/>
                </a:lnTo>
                <a:lnTo>
                  <a:pt x="2070585" y="1823493"/>
                </a:lnTo>
                <a:lnTo>
                  <a:pt x="2070583" y="1823493"/>
                </a:lnTo>
                <a:close/>
              </a:path>
            </a:pathLst>
          </a:custGeom>
          <a:noFill/>
          <a:ln w="12700">
            <a:solidFill>
              <a:srgbClr val="3855CB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: 形状 49"/>
          <p:cNvSpPr/>
          <p:nvPr>
            <p:custDataLst>
              <p:tags r:id="rId8"/>
            </p:custDataLst>
          </p:nvPr>
        </p:nvSpPr>
        <p:spPr>
          <a:xfrm rot="12663918">
            <a:off x="8278042" y="2990268"/>
            <a:ext cx="1231491" cy="1446043"/>
          </a:xfrm>
          <a:custGeom>
            <a:avLst/>
            <a:gdLst>
              <a:gd name="connsiteX0" fmla="*/ 1045251 w 2070585"/>
              <a:gd name="connsiteY0" fmla="*/ 2431323 h 2431323"/>
              <a:gd name="connsiteX1" fmla="*/ 0 w 2070585"/>
              <a:gd name="connsiteY1" fmla="*/ 1823493 h 2431323"/>
              <a:gd name="connsiteX2" fmla="*/ 0 w 2070585"/>
              <a:gd name="connsiteY2" fmla="*/ 607830 h 2431323"/>
              <a:gd name="connsiteX3" fmla="*/ 2 w 2070585"/>
              <a:gd name="connsiteY3" fmla="*/ 607830 h 2431323"/>
              <a:gd name="connsiteX4" fmla="*/ 1025334 w 2070585"/>
              <a:gd name="connsiteY4" fmla="*/ 0 h 2431323"/>
              <a:gd name="connsiteX5" fmla="*/ 2070585 w 2070585"/>
              <a:gd name="connsiteY5" fmla="*/ 607830 h 2431323"/>
              <a:gd name="connsiteX6" fmla="*/ 2070585 w 2070585"/>
              <a:gd name="connsiteY6" fmla="*/ 1823493 h 2431323"/>
              <a:gd name="connsiteX7" fmla="*/ 2070583 w 2070585"/>
              <a:gd name="connsiteY7" fmla="*/ 1823493 h 243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0585" h="2431323">
                <a:moveTo>
                  <a:pt x="1045251" y="2431323"/>
                </a:moveTo>
                <a:lnTo>
                  <a:pt x="0" y="1823493"/>
                </a:lnTo>
                <a:lnTo>
                  <a:pt x="0" y="607830"/>
                </a:lnTo>
                <a:lnTo>
                  <a:pt x="2" y="607830"/>
                </a:lnTo>
                <a:lnTo>
                  <a:pt x="1025334" y="0"/>
                </a:lnTo>
                <a:lnTo>
                  <a:pt x="2070585" y="607830"/>
                </a:lnTo>
                <a:lnTo>
                  <a:pt x="2070585" y="1823493"/>
                </a:lnTo>
                <a:lnTo>
                  <a:pt x="2070583" y="1823493"/>
                </a:lnTo>
                <a:close/>
              </a:path>
            </a:pathLst>
          </a:custGeom>
          <a:solidFill>
            <a:srgbClr val="3855CB"/>
          </a:solidFill>
          <a:ln w="12700">
            <a:noFill/>
            <a:prstDash val="dash"/>
          </a:ln>
          <a:effectLst>
            <a:outerShdw blurRad="254000" dist="38100" dir="2700000" algn="tl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8299470" y="3314122"/>
            <a:ext cx="1172924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rgbClr val="FFFFFF"/>
                </a:solidFill>
              </a:rPr>
              <a:t>AI</a:t>
            </a:r>
            <a:r>
              <a:rPr lang="zh-CN" altLang="en-US" sz="1400">
                <a:solidFill>
                  <a:srgbClr val="FFFFFF"/>
                </a:solidFill>
              </a:rPr>
              <a:t>图像</a:t>
            </a:r>
            <a:endParaRPr lang="zh-CN" altLang="en-US" sz="1400">
              <a:solidFill>
                <a:srgbClr val="FFFFFF"/>
              </a:solidFill>
            </a:endParaRPr>
          </a:p>
          <a:p>
            <a:pPr algn="ctr"/>
            <a:endParaRPr lang="zh-CN" altLang="en-US" sz="1400">
              <a:solidFill>
                <a:srgbClr val="FFFFFF"/>
              </a:solidFill>
            </a:endParaRPr>
          </a:p>
          <a:p>
            <a:pPr algn="ctr"/>
            <a:r>
              <a:rPr lang="zh-CN" altLang="en-US" sz="1000">
                <a:solidFill>
                  <a:srgbClr val="FFFFFF"/>
                </a:solidFill>
              </a:rPr>
              <a:t>图像识别检测等</a:t>
            </a:r>
            <a:endParaRPr lang="zh-CN" altLang="en-US" sz="1000">
              <a:solidFill>
                <a:srgbClr val="FFFFFF"/>
              </a:solidFill>
            </a:endParaRPr>
          </a:p>
        </p:txBody>
      </p:sp>
      <p:sp>
        <p:nvSpPr>
          <p:cNvPr id="23" name="矩形: 圆角 12"/>
          <p:cNvSpPr/>
          <p:nvPr/>
        </p:nvSpPr>
        <p:spPr>
          <a:xfrm>
            <a:off x="1772285" y="4698365"/>
            <a:ext cx="8110855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智能分析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V="1">
            <a:off x="5773397" y="2275603"/>
            <a:ext cx="0" cy="68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20" idx="0"/>
          </p:cNvCxnSpPr>
          <p:nvPr/>
        </p:nvCxnSpPr>
        <p:spPr>
          <a:xfrm rot="10800000">
            <a:off x="5782310" y="2459355"/>
            <a:ext cx="3105150" cy="507365"/>
          </a:xfrm>
          <a:prstGeom prst="bentConnector3">
            <a:avLst>
              <a:gd name="adj1" fmla="val -16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肘形连接符 27"/>
          <p:cNvCxnSpPr/>
          <p:nvPr/>
        </p:nvCxnSpPr>
        <p:spPr>
          <a:xfrm rot="10800000" flipH="1">
            <a:off x="2677160" y="2460625"/>
            <a:ext cx="3105150" cy="507365"/>
          </a:xfrm>
          <a:prstGeom prst="bentConnector3">
            <a:avLst>
              <a:gd name="adj1" fmla="val -16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2026285" y="5481955"/>
            <a:ext cx="1376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问答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000"/>
              <a:t>智能知识助手</a:t>
            </a:r>
            <a:endParaRPr lang="zh-CN" altLang="en-US" sz="1000"/>
          </a:p>
        </p:txBody>
      </p:sp>
      <p:sp>
        <p:nvSpPr>
          <p:cNvPr id="32" name="矩形: 圆角 8"/>
          <p:cNvSpPr/>
          <p:nvPr/>
        </p:nvSpPr>
        <p:spPr>
          <a:xfrm>
            <a:off x="1834515" y="5443220"/>
            <a:ext cx="1722120" cy="581660"/>
          </a:xfrm>
          <a:prstGeom prst="roundRect">
            <a:avLst>
              <a:gd name="adj" fmla="val 50000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078605" y="5481955"/>
            <a:ext cx="1376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分析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000"/>
              <a:t>智能分析引擎</a:t>
            </a:r>
            <a:endParaRPr lang="zh-CN" altLang="en-US" sz="1000"/>
          </a:p>
        </p:txBody>
      </p:sp>
      <p:sp>
        <p:nvSpPr>
          <p:cNvPr id="34" name="矩形: 圆角 8"/>
          <p:cNvSpPr/>
          <p:nvPr/>
        </p:nvSpPr>
        <p:spPr>
          <a:xfrm>
            <a:off x="3886835" y="5443220"/>
            <a:ext cx="1722120" cy="581660"/>
          </a:xfrm>
          <a:prstGeom prst="roundRect">
            <a:avLst>
              <a:gd name="adj" fmla="val 50000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130925" y="5481955"/>
            <a:ext cx="1376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看图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altLang="zh-CN" sz="1000"/>
              <a:t>AI</a:t>
            </a:r>
            <a:r>
              <a:rPr lang="zh-CN" altLang="en-US" sz="1000"/>
              <a:t>看图诊断</a:t>
            </a:r>
            <a:endParaRPr lang="zh-CN" altLang="en-US" sz="1000"/>
          </a:p>
        </p:txBody>
      </p:sp>
      <p:sp>
        <p:nvSpPr>
          <p:cNvPr id="36" name="矩形: 圆角 8"/>
          <p:cNvSpPr/>
          <p:nvPr/>
        </p:nvSpPr>
        <p:spPr>
          <a:xfrm>
            <a:off x="5939155" y="5443220"/>
            <a:ext cx="1722120" cy="581660"/>
          </a:xfrm>
          <a:prstGeom prst="roundRect">
            <a:avLst>
              <a:gd name="adj" fmla="val 50000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183245" y="5461000"/>
            <a:ext cx="1376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报告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000"/>
              <a:t>智能报告生成</a:t>
            </a:r>
            <a:endParaRPr lang="zh-CN" altLang="en-US" sz="1000"/>
          </a:p>
        </p:txBody>
      </p:sp>
      <p:sp>
        <p:nvSpPr>
          <p:cNvPr id="38" name="矩形: 圆角 8"/>
          <p:cNvSpPr/>
          <p:nvPr/>
        </p:nvSpPr>
        <p:spPr>
          <a:xfrm>
            <a:off x="7991475" y="5422265"/>
            <a:ext cx="1722120" cy="581660"/>
          </a:xfrm>
          <a:prstGeom prst="roundRect">
            <a:avLst>
              <a:gd name="adj" fmla="val 50000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676525" y="1073785"/>
            <a:ext cx="6210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锅炉四管智能运维大模型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90575" y="6347460"/>
            <a:ext cx="9907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以大模型为核心，融合企业知识、业务数据与</a:t>
            </a:r>
            <a:r>
              <a:rPr lang="en-US" altLang="zh-CN" sz="1400" b="1">
                <a:solidFill>
                  <a:schemeClr val="accent1">
                    <a:lumMod val="75000"/>
                  </a:schemeClr>
                </a:solidFill>
              </a:rPr>
              <a:t>AI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视觉能力，为锅炉四管运维提供智能分析与辅助决策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产品架构</a:t>
            </a:r>
            <a:endParaRPr lang="zh-CN" altLang="en-US"/>
          </a:p>
        </p:txBody>
      </p:sp>
      <p:sp>
        <p:nvSpPr>
          <p:cNvPr id="5" name="矩形: 圆角 10"/>
          <p:cNvSpPr/>
          <p:nvPr/>
        </p:nvSpPr>
        <p:spPr>
          <a:xfrm>
            <a:off x="2876550" y="2313940"/>
            <a:ext cx="1482725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智能问答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: 圆角 15"/>
          <p:cNvSpPr/>
          <p:nvPr/>
        </p:nvSpPr>
        <p:spPr>
          <a:xfrm>
            <a:off x="2876550" y="4652010"/>
            <a:ext cx="1870075" cy="690245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大模型推理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76910" y="1837690"/>
            <a:ext cx="10800080" cy="4775200"/>
          </a:xfrm>
          <a:prstGeom prst="rect">
            <a:avLst/>
          </a:prstGeom>
          <a:noFill/>
          <a:ln>
            <a:solidFill>
              <a:srgbClr val="FFFFFF">
                <a:lumMod val="50000"/>
              </a:srgbClr>
            </a:solidFill>
            <a:prstDash val="dash"/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矩形: 圆顶角 63"/>
          <p:cNvSpPr/>
          <p:nvPr/>
        </p:nvSpPr>
        <p:spPr>
          <a:xfrm>
            <a:off x="676950" y="1306171"/>
            <a:ext cx="10800000" cy="53164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55A2"/>
          </a:solidFill>
          <a:ln>
            <a:noFill/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502785" y="1384935"/>
            <a:ext cx="3032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sym typeface="+mn-ea"/>
              </a:rPr>
              <a:t>锅炉四管智能运维大模型</a:t>
            </a:r>
            <a:endParaRPr lang="zh-CN" altLang="en-US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94" name="流程图: 磁盘 93"/>
          <p:cNvSpPr/>
          <p:nvPr/>
        </p:nvSpPr>
        <p:spPr>
          <a:xfrm>
            <a:off x="2876550" y="5732145"/>
            <a:ext cx="1869440" cy="626745"/>
          </a:xfrm>
          <a:prstGeom prst="flowChartMagneticDisk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/>
              <a:t>知识库</a:t>
            </a:r>
            <a:endParaRPr lang="zh-CN" altLang="en-US" sz="1400"/>
          </a:p>
          <a:p>
            <a:pPr algn="ctr"/>
            <a:r>
              <a:rPr lang="zh-CN" altLang="en-US" sz="1000"/>
              <a:t>（规程、案例、检修资料</a:t>
            </a:r>
            <a:r>
              <a:rPr lang="en-US" altLang="zh-CN" sz="1000"/>
              <a:t>...</a:t>
            </a:r>
            <a:r>
              <a:rPr lang="zh-CN" altLang="en-US" sz="1000"/>
              <a:t>）</a:t>
            </a:r>
            <a:endParaRPr lang="zh-CN" altLang="en-US" sz="1000"/>
          </a:p>
        </p:txBody>
      </p:sp>
      <p:sp>
        <p:nvSpPr>
          <p:cNvPr id="95" name="流程图: 磁盘 94"/>
          <p:cNvSpPr/>
          <p:nvPr/>
        </p:nvSpPr>
        <p:spPr>
          <a:xfrm>
            <a:off x="5142230" y="5732780"/>
            <a:ext cx="1685290" cy="626745"/>
          </a:xfrm>
          <a:prstGeom prst="flowChartMagneticDisk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/>
              <a:t>业务数据库</a:t>
            </a:r>
            <a:endParaRPr lang="zh-CN" altLang="en-US" sz="1400"/>
          </a:p>
          <a:p>
            <a:pPr algn="ctr"/>
            <a:r>
              <a:rPr lang="zh-CN" altLang="en-US" sz="1000"/>
              <a:t>（运行数据、台账数据</a:t>
            </a:r>
            <a:r>
              <a:rPr lang="en-US" altLang="zh-CN" sz="1000"/>
              <a:t>...</a:t>
            </a:r>
            <a:r>
              <a:rPr lang="zh-CN" altLang="en-US" sz="1000"/>
              <a:t>）</a:t>
            </a:r>
            <a:endParaRPr lang="zh-CN" altLang="en-US" sz="1000"/>
          </a:p>
        </p:txBody>
      </p:sp>
      <p:sp>
        <p:nvSpPr>
          <p:cNvPr id="96" name="流程图: 磁盘 95"/>
          <p:cNvSpPr/>
          <p:nvPr/>
        </p:nvSpPr>
        <p:spPr>
          <a:xfrm>
            <a:off x="7236460" y="5732780"/>
            <a:ext cx="1685290" cy="626745"/>
          </a:xfrm>
          <a:prstGeom prst="flowChartMagneticDisk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/>
              <a:t>图片</a:t>
            </a:r>
            <a:endParaRPr lang="zh-CN" altLang="en-US" sz="1400"/>
          </a:p>
          <a:p>
            <a:pPr algn="ctr"/>
            <a:r>
              <a:rPr lang="zh-CN" altLang="en-US" sz="1000"/>
              <a:t>（巡检图片、缺陷图片</a:t>
            </a:r>
            <a:r>
              <a:rPr lang="en-US" altLang="zh-CN" sz="1000"/>
              <a:t>...</a:t>
            </a:r>
            <a:r>
              <a:rPr lang="zh-CN" altLang="en-US" sz="1000"/>
              <a:t>）</a:t>
            </a:r>
            <a:endParaRPr lang="zh-CN" altLang="en-US" sz="1000"/>
          </a:p>
        </p:txBody>
      </p:sp>
      <p:sp>
        <p:nvSpPr>
          <p:cNvPr id="97" name="流程图: 磁盘 96"/>
          <p:cNvSpPr/>
          <p:nvPr/>
        </p:nvSpPr>
        <p:spPr>
          <a:xfrm>
            <a:off x="9416415" y="5732145"/>
            <a:ext cx="1685290" cy="626745"/>
          </a:xfrm>
          <a:prstGeom prst="flowChartMagneticDisk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/>
              <a:t>报告</a:t>
            </a:r>
            <a:endParaRPr lang="zh-CN" altLang="en-US" sz="1400"/>
          </a:p>
          <a:p>
            <a:pPr algn="ctr"/>
            <a:r>
              <a:rPr lang="zh-CN" altLang="en-US" sz="1000"/>
              <a:t>（检修报告、文档</a:t>
            </a:r>
            <a:r>
              <a:rPr lang="en-US" altLang="zh-CN" sz="1000"/>
              <a:t>...</a:t>
            </a:r>
            <a:r>
              <a:rPr lang="zh-CN" altLang="en-US" sz="1000"/>
              <a:t>）</a:t>
            </a:r>
            <a:endParaRPr lang="zh-CN" altLang="en-US" sz="1000"/>
          </a:p>
        </p:txBody>
      </p:sp>
      <p:sp>
        <p:nvSpPr>
          <p:cNvPr id="99" name="矩形: 圆角 8"/>
          <p:cNvSpPr/>
          <p:nvPr/>
        </p:nvSpPr>
        <p:spPr>
          <a:xfrm>
            <a:off x="1769745" y="5641975"/>
            <a:ext cx="9611995" cy="799465"/>
          </a:xfrm>
          <a:prstGeom prst="roundRect">
            <a:avLst>
              <a:gd name="adj" fmla="val 14773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同侧圆角矩形 99"/>
          <p:cNvSpPr/>
          <p:nvPr/>
        </p:nvSpPr>
        <p:spPr>
          <a:xfrm rot="16200000">
            <a:off x="1192530" y="5336540"/>
            <a:ext cx="828040" cy="1400175"/>
          </a:xfrm>
          <a:prstGeom prst="round2Same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vertOverflow="overflow" horzOverflow="overflow" vert="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数据层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矩形: 圆角 8"/>
          <p:cNvSpPr/>
          <p:nvPr/>
        </p:nvSpPr>
        <p:spPr>
          <a:xfrm>
            <a:off x="1769745" y="4497070"/>
            <a:ext cx="9611995" cy="974090"/>
          </a:xfrm>
          <a:prstGeom prst="roundRect">
            <a:avLst>
              <a:gd name="adj" fmla="val 14773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同侧圆角矩形 101"/>
          <p:cNvSpPr/>
          <p:nvPr/>
        </p:nvSpPr>
        <p:spPr>
          <a:xfrm rot="16200000">
            <a:off x="1102995" y="4276725"/>
            <a:ext cx="1008380" cy="1400175"/>
          </a:xfrm>
          <a:prstGeom prst="round2Same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vertOverflow="overflow" horzOverflow="overflow" vert="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能力层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矩形: 圆角 15"/>
          <p:cNvSpPr/>
          <p:nvPr/>
        </p:nvSpPr>
        <p:spPr>
          <a:xfrm>
            <a:off x="4994910" y="4652010"/>
            <a:ext cx="1870075" cy="690245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知识检索增强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矩形: 圆角 15"/>
          <p:cNvSpPr/>
          <p:nvPr/>
        </p:nvSpPr>
        <p:spPr>
          <a:xfrm>
            <a:off x="7113270" y="4652010"/>
            <a:ext cx="1870075" cy="690245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自然语言问数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矩形: 圆角 15"/>
          <p:cNvSpPr/>
          <p:nvPr/>
        </p:nvSpPr>
        <p:spPr>
          <a:xfrm>
            <a:off x="9231630" y="4652010"/>
            <a:ext cx="1870075" cy="690245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图像理解识别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矩形: 圆角 8"/>
          <p:cNvSpPr/>
          <p:nvPr/>
        </p:nvSpPr>
        <p:spPr>
          <a:xfrm>
            <a:off x="1769745" y="3261995"/>
            <a:ext cx="9611995" cy="974090"/>
          </a:xfrm>
          <a:prstGeom prst="roundRect">
            <a:avLst>
              <a:gd name="adj" fmla="val 14773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同侧圆角矩形 110"/>
          <p:cNvSpPr/>
          <p:nvPr/>
        </p:nvSpPr>
        <p:spPr>
          <a:xfrm rot="16200000">
            <a:off x="1102995" y="3041650"/>
            <a:ext cx="1008380" cy="1400175"/>
          </a:xfrm>
          <a:prstGeom prst="round2Same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vertOverflow="overflow" horzOverflow="overflow" vert="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智能体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编排层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4" name="矩形: 圆角 15"/>
          <p:cNvSpPr/>
          <p:nvPr/>
        </p:nvSpPr>
        <p:spPr>
          <a:xfrm>
            <a:off x="2876550" y="3416935"/>
            <a:ext cx="8225155" cy="690245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智能体编排与调度</a:t>
            </a:r>
            <a:endParaRPr lang="zh-CN" altLang="en-US" sz="16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任务规划</a:t>
            </a:r>
            <a:r>
              <a:rPr lang="en-US" altLang="zh-CN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r>
              <a:rPr lang="en-US" altLang="zh-CN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流程编排</a:t>
            </a:r>
            <a:r>
              <a:rPr lang="en-US" altLang="zh-CN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状态管理</a:t>
            </a:r>
            <a:r>
              <a:rPr lang="en-US" altLang="zh-CN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结果合成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矩形: 圆角 8"/>
          <p:cNvSpPr/>
          <p:nvPr/>
        </p:nvSpPr>
        <p:spPr>
          <a:xfrm>
            <a:off x="1769110" y="2115820"/>
            <a:ext cx="9611995" cy="974090"/>
          </a:xfrm>
          <a:prstGeom prst="roundRect">
            <a:avLst>
              <a:gd name="adj" fmla="val 14773"/>
            </a:avLst>
          </a:prstGeom>
          <a:noFill/>
          <a:ln>
            <a:solidFill>
              <a:srgbClr val="3855CB"/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同侧圆角矩形 115"/>
          <p:cNvSpPr/>
          <p:nvPr/>
        </p:nvSpPr>
        <p:spPr>
          <a:xfrm rot="16200000">
            <a:off x="1102360" y="1895475"/>
            <a:ext cx="1008380" cy="1400175"/>
          </a:xfrm>
          <a:prstGeom prst="round2Same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vertOverflow="overflow" horzOverflow="overflow" vert="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应用层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8" name="矩形: 圆角 10"/>
          <p:cNvSpPr/>
          <p:nvPr/>
        </p:nvSpPr>
        <p:spPr>
          <a:xfrm>
            <a:off x="4486275" y="2313940"/>
            <a:ext cx="1482725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超温分析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: 圆角 10"/>
          <p:cNvSpPr/>
          <p:nvPr/>
        </p:nvSpPr>
        <p:spPr>
          <a:xfrm>
            <a:off x="6168390" y="2313940"/>
            <a:ext cx="1482725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泄爆分析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: 圆角 10"/>
          <p:cNvSpPr/>
          <p:nvPr/>
        </p:nvSpPr>
        <p:spPr>
          <a:xfrm>
            <a:off x="7850505" y="2313940"/>
            <a:ext cx="1482725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缺陷识别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矩形: 圆角 10"/>
          <p:cNvSpPr/>
          <p:nvPr/>
        </p:nvSpPr>
        <p:spPr>
          <a:xfrm>
            <a:off x="9618980" y="2313940"/>
            <a:ext cx="1482725" cy="626745"/>
          </a:xfrm>
          <a:prstGeom prst="roundRect">
            <a:avLst/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报告解析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" name="矩形: 圆角 8"/>
          <p:cNvSpPr/>
          <p:nvPr/>
        </p:nvSpPr>
        <p:spPr>
          <a:xfrm>
            <a:off x="859790" y="1158875"/>
            <a:ext cx="11102975" cy="73279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: 圆角 19"/>
          <p:cNvSpPr/>
          <p:nvPr/>
        </p:nvSpPr>
        <p:spPr>
          <a:xfrm>
            <a:off x="297815" y="6146800"/>
            <a:ext cx="3679190" cy="57600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: 圆角 19"/>
          <p:cNvSpPr/>
          <p:nvPr/>
        </p:nvSpPr>
        <p:spPr>
          <a:xfrm>
            <a:off x="297815" y="5511800"/>
            <a:ext cx="3679190" cy="57600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核心能力一：智能知识助手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" y="2001520"/>
            <a:ext cx="3827145" cy="34594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21180" y="1205230"/>
            <a:ext cx="99688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面向终端用户的企业级智能客服，统一承接知识问答与结构化查库两类类需求。用户可用自然语言提问规程条文、操作指南、历史案例，也可直接查询台账统计、设备状态等数据库信息，系统自动识别意图并选择最优应答路径。</a:t>
            </a:r>
            <a:endParaRPr lang="zh-CN" altLang="en-US" sz="1400"/>
          </a:p>
        </p:txBody>
      </p:sp>
      <p:sp>
        <p:nvSpPr>
          <p:cNvPr id="7" name="矩形: 圆角 8"/>
          <p:cNvSpPr/>
          <p:nvPr/>
        </p:nvSpPr>
        <p:spPr>
          <a:xfrm>
            <a:off x="4201160" y="2014220"/>
            <a:ext cx="4777740" cy="467423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19"/>
          <p:cNvSpPr/>
          <p:nvPr/>
        </p:nvSpPr>
        <p:spPr>
          <a:xfrm>
            <a:off x="5529466" y="181391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19"/>
          <p:cNvSpPr/>
          <p:nvPr/>
        </p:nvSpPr>
        <p:spPr>
          <a:xfrm>
            <a:off x="4434205" y="2451735"/>
            <a:ext cx="1292225" cy="203263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19"/>
          <p:cNvSpPr/>
          <p:nvPr/>
        </p:nvSpPr>
        <p:spPr>
          <a:xfrm>
            <a:off x="5947410" y="2451735"/>
            <a:ext cx="1292225" cy="203327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19"/>
          <p:cNvSpPr/>
          <p:nvPr/>
        </p:nvSpPr>
        <p:spPr>
          <a:xfrm>
            <a:off x="7460615" y="2451100"/>
            <a:ext cx="1292225" cy="201104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: 圆角 19"/>
          <p:cNvSpPr/>
          <p:nvPr/>
        </p:nvSpPr>
        <p:spPr>
          <a:xfrm>
            <a:off x="4441825" y="4771390"/>
            <a:ext cx="1898015" cy="167894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19"/>
          <p:cNvSpPr/>
          <p:nvPr/>
        </p:nvSpPr>
        <p:spPr>
          <a:xfrm>
            <a:off x="6741160" y="4771390"/>
            <a:ext cx="1960880" cy="167894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" y="5548630"/>
            <a:ext cx="468000" cy="4680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035050" y="5467350"/>
            <a:ext cx="2932430" cy="582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流式响应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000"/>
              <a:t>主答流式输出，体验流程，支持中断与继续</a:t>
            </a:r>
            <a:endParaRPr lang="zh-CN" altLang="en-US" sz="1000"/>
          </a:p>
        </p:txBody>
      </p:sp>
      <p:sp>
        <p:nvSpPr>
          <p:cNvPr id="23" name="文本框 22"/>
          <p:cNvSpPr txBox="1"/>
          <p:nvPr/>
        </p:nvSpPr>
        <p:spPr>
          <a:xfrm>
            <a:off x="1035050" y="6102985"/>
            <a:ext cx="2931795" cy="634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多模态支持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000"/>
              <a:t>支持图片上传与识别，图文结合，理解更全面</a:t>
            </a:r>
            <a:endParaRPr lang="zh-CN" altLang="en-US" sz="10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" y="6213475"/>
            <a:ext cx="468000" cy="476069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440" y="2621915"/>
            <a:ext cx="504000" cy="464211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825" y="2604135"/>
            <a:ext cx="468000" cy="47459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015" y="2594610"/>
            <a:ext cx="504000" cy="48356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985" y="4996815"/>
            <a:ext cx="504000" cy="504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4825" y="4951730"/>
            <a:ext cx="576000" cy="549537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429125" y="3093720"/>
            <a:ext cx="1290955" cy="1237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知识问答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/>
              <a:t>基于企业知识库，快速解答设备、运行、检修等各类专业问题。</a:t>
            </a:r>
            <a:endParaRPr lang="zh-CN" altLang="en-US" sz="1000"/>
          </a:p>
        </p:txBody>
      </p:sp>
      <p:sp>
        <p:nvSpPr>
          <p:cNvPr id="31" name="矩形: 圆角 8"/>
          <p:cNvSpPr/>
          <p:nvPr/>
        </p:nvSpPr>
        <p:spPr>
          <a:xfrm>
            <a:off x="9203055" y="2013585"/>
            <a:ext cx="2759710" cy="4674870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: 圆角 19"/>
          <p:cNvSpPr/>
          <p:nvPr/>
        </p:nvSpPr>
        <p:spPr>
          <a:xfrm>
            <a:off x="9580766" y="181391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948045" y="3122930"/>
            <a:ext cx="1290955" cy="1237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规程查询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支持规程条文、操作指南等精准查询，权威可靠，引用可追溯。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466965" y="3135630"/>
            <a:ext cx="1290955" cy="1237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检修经验查询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沉滤检修经验与技术要点，助力问题处理与方案参考。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119370" y="4861560"/>
            <a:ext cx="1121410" cy="781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历史案例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查询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587875" y="5629910"/>
            <a:ext cx="165227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000">
                <a:sym typeface="+mn-ea"/>
              </a:rPr>
              <a:t>海量历管案例检索，支持相似场景匹配，辅助决策与风险预判。</a:t>
            </a:r>
            <a:endParaRPr lang="zh-CN" altLang="en-US" sz="1000"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40295" y="4925060"/>
            <a:ext cx="1121410" cy="781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</a:rPr>
              <a:t>多轮对话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896100" y="5617210"/>
            <a:ext cx="165227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000">
                <a:sym typeface="+mn-ea"/>
              </a:rPr>
              <a:t>支持上下文理解与指代消解，多轮沟通更智能、更高效。</a:t>
            </a:r>
            <a:endParaRPr lang="zh-CN" altLang="en-US" sz="1000">
              <a:sym typeface="+mn-ea"/>
            </a:endParaRPr>
          </a:p>
        </p:txBody>
      </p:sp>
      <p:cxnSp>
        <p:nvCxnSpPr>
          <p:cNvPr id="63" name="直接连接符 62"/>
          <p:cNvCxnSpPr/>
          <p:nvPr/>
        </p:nvCxnSpPr>
        <p:spPr>
          <a:xfrm>
            <a:off x="9533733" y="2656524"/>
            <a:ext cx="0" cy="3960000"/>
          </a:xfrm>
          <a:prstGeom prst="line">
            <a:avLst/>
          </a:prstGeom>
          <a:ln w="25400"/>
          <a:effectLst>
            <a:outerShdw blurRad="254000" dist="127000" algn="l" rotWithShape="0">
              <a:srgbClr val="2E55A2">
                <a:alpha val="40000"/>
              </a:srgbClr>
            </a:outerShdw>
          </a:effectLst>
        </p:spPr>
        <p:style>
          <a:lnRef idx="1">
            <a:srgbClr val="2E55A2"/>
          </a:lnRef>
          <a:fillRef idx="0">
            <a:srgbClr val="2E55A2"/>
          </a:fillRef>
          <a:effectRef idx="0">
            <a:srgbClr val="2E55A2"/>
          </a:effectRef>
          <a:fontRef idx="minor">
            <a:srgbClr val="000000"/>
          </a:fontRef>
        </p:style>
      </p:cxnSp>
      <p:grpSp>
        <p:nvGrpSpPr>
          <p:cNvPr id="64" name="组合 63"/>
          <p:cNvGrpSpPr/>
          <p:nvPr/>
        </p:nvGrpSpPr>
        <p:grpSpPr>
          <a:xfrm>
            <a:off x="9372600" y="2335530"/>
            <a:ext cx="1466850" cy="432000"/>
            <a:chOff x="330254" y="1557232"/>
            <a:chExt cx="1466798" cy="544288"/>
          </a:xfrm>
        </p:grpSpPr>
        <p:sp>
          <p:nvSpPr>
            <p:cNvPr id="65" name="矩形: 圆角 33"/>
            <p:cNvSpPr/>
            <p:nvPr/>
          </p:nvSpPr>
          <p:spPr>
            <a:xfrm>
              <a:off x="330254" y="1557232"/>
              <a:ext cx="1466798" cy="416959"/>
            </a:xfrm>
            <a:prstGeom prst="roundRect">
              <a:avLst>
                <a:gd name="adj" fmla="val 8746"/>
              </a:avLst>
            </a:prstGeom>
            <a:solidFill>
              <a:srgbClr val="2E55A2"/>
            </a:solidFill>
            <a:ln>
              <a:noFill/>
            </a:ln>
            <a:effectLst>
              <a:outerShdw blurRad="254000" sx="102000" sy="102000" algn="ctr" rotWithShape="0">
                <a:srgbClr val="2E55A2">
                  <a:alpha val="40000"/>
                </a:srgbClr>
              </a:outerShdw>
            </a:effectLst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结构化查库</a:t>
              </a:r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直角三角形 65"/>
            <p:cNvSpPr/>
            <p:nvPr/>
          </p:nvSpPr>
          <p:spPr>
            <a:xfrm rot="10800000">
              <a:off x="336923" y="1957520"/>
              <a:ext cx="144000" cy="144000"/>
            </a:xfrm>
            <a:prstGeom prst="rtTriangle">
              <a:avLst/>
            </a:prstGeom>
            <a:solidFill>
              <a:srgbClr val="2E55A2"/>
            </a:solidFill>
            <a:ln>
              <a:noFill/>
            </a:ln>
            <a:effectLst/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372600" y="3829050"/>
            <a:ext cx="1466850" cy="432000"/>
            <a:chOff x="520" y="4224"/>
            <a:chExt cx="2310" cy="866"/>
          </a:xfrm>
        </p:grpSpPr>
        <p:sp>
          <p:nvSpPr>
            <p:cNvPr id="68" name="矩形: 圆角 36"/>
            <p:cNvSpPr/>
            <p:nvPr/>
          </p:nvSpPr>
          <p:spPr>
            <a:xfrm>
              <a:off x="520" y="4224"/>
              <a:ext cx="2310" cy="657"/>
            </a:xfrm>
            <a:prstGeom prst="roundRect">
              <a:avLst>
                <a:gd name="adj" fmla="val 8746"/>
              </a:avLst>
            </a:prstGeom>
            <a:solidFill>
              <a:srgbClr val="2E55A2"/>
            </a:solidFill>
            <a:ln>
              <a:noFill/>
            </a:ln>
            <a:effectLst>
              <a:outerShdw blurRad="254000" sx="102000" sy="102000" algn="ctr" rotWithShape="0">
                <a:srgbClr val="2E55A2">
                  <a:alpha val="40000"/>
                </a:srgbClr>
              </a:outerShdw>
            </a:effectLst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知识库问答</a:t>
              </a:r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直角三角形 68"/>
            <p:cNvSpPr/>
            <p:nvPr/>
          </p:nvSpPr>
          <p:spPr>
            <a:xfrm rot="10800000">
              <a:off x="542" y="4864"/>
              <a:ext cx="227" cy="227"/>
            </a:xfrm>
            <a:prstGeom prst="rtTriangle">
              <a:avLst/>
            </a:prstGeom>
            <a:solidFill>
              <a:srgbClr val="2E55A2"/>
            </a:solidFill>
            <a:ln>
              <a:noFill/>
            </a:ln>
            <a:effectLst/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9372654" y="5301664"/>
            <a:ext cx="1466798" cy="432000"/>
            <a:chOff x="330254" y="4104054"/>
            <a:chExt cx="1466798" cy="548257"/>
          </a:xfrm>
        </p:grpSpPr>
        <p:sp>
          <p:nvSpPr>
            <p:cNvPr id="71" name="矩形: 圆角 61"/>
            <p:cNvSpPr/>
            <p:nvPr/>
          </p:nvSpPr>
          <p:spPr>
            <a:xfrm>
              <a:off x="330254" y="4104054"/>
              <a:ext cx="1466798" cy="416959"/>
            </a:xfrm>
            <a:prstGeom prst="roundRect">
              <a:avLst>
                <a:gd name="adj" fmla="val 8746"/>
              </a:avLst>
            </a:prstGeom>
            <a:solidFill>
              <a:srgbClr val="2E55A2"/>
            </a:solidFill>
            <a:ln>
              <a:noFill/>
            </a:ln>
            <a:effectLst>
              <a:outerShdw blurRad="254000" sx="102000" sy="102000" algn="ctr" rotWithShape="0">
                <a:srgbClr val="2E55A2">
                  <a:alpha val="40000"/>
                </a:srgbClr>
              </a:outerShdw>
            </a:effectLst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多轮对话</a:t>
              </a:r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直角三角形 71"/>
            <p:cNvSpPr/>
            <p:nvPr/>
          </p:nvSpPr>
          <p:spPr>
            <a:xfrm rot="10800000">
              <a:off x="339300" y="4508311"/>
              <a:ext cx="144000" cy="144000"/>
            </a:xfrm>
            <a:prstGeom prst="rtTriangle">
              <a:avLst/>
            </a:prstGeom>
            <a:solidFill>
              <a:srgbClr val="2E55A2"/>
            </a:solidFill>
            <a:ln>
              <a:noFill/>
            </a:ln>
            <a:effectLst/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6" name="矩形: 圆角 15"/>
          <p:cNvSpPr/>
          <p:nvPr/>
        </p:nvSpPr>
        <p:spPr>
          <a:xfrm>
            <a:off x="9638030" y="2768600"/>
            <a:ext cx="2138045" cy="508000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“#3机组过热器最近一次超温发生在什么时候?”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626600" y="3330575"/>
            <a:ext cx="2148840" cy="250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系统自动识别，查询运行数据库，返回准确结果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矩形: 圆角 15"/>
          <p:cNvSpPr/>
          <p:nvPr/>
        </p:nvSpPr>
        <p:spPr>
          <a:xfrm>
            <a:off x="9625330" y="4245610"/>
            <a:ext cx="2150745" cy="508000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“锅炉四管泄漏的应急处置流程是什么?”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9626600" y="4798060"/>
            <a:ext cx="2148840" cy="250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匹配知识库内容，给出权威规程与操作指引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矩形: 圆角 15"/>
          <p:cNvSpPr/>
          <p:nvPr/>
        </p:nvSpPr>
        <p:spPr>
          <a:xfrm>
            <a:off x="9625330" y="5682615"/>
            <a:ext cx="2150745" cy="508000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“它的检修周期是多久?”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626600" y="6209665"/>
            <a:ext cx="2148205" cy="250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基于上下文理解“它”指代，继续精准作答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矩形: 圆角 19"/>
          <p:cNvSpPr/>
          <p:nvPr/>
        </p:nvSpPr>
        <p:spPr>
          <a:xfrm>
            <a:off x="297815" y="1112520"/>
            <a:ext cx="1523365" cy="792480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应用介绍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核心能力二：超温分析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45795" y="1546225"/>
            <a:ext cx="752792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400"/>
              <a:t>针对锅炉受热面超温事件，自动从运行数据库中取数，结合业务知识库，生成结构化的超温原因分析、影响评估与处置建议报告。帮助运行人员快速定位超温根因，缩短事故响应时间。</a:t>
            </a:r>
            <a:endParaRPr lang="zh-CN" altLang="en-US" sz="1400"/>
          </a:p>
        </p:txBody>
      </p:sp>
      <p:sp>
        <p:nvSpPr>
          <p:cNvPr id="7" name="矩形: 圆角 8"/>
          <p:cNvSpPr/>
          <p:nvPr/>
        </p:nvSpPr>
        <p:spPr>
          <a:xfrm>
            <a:off x="327660" y="1299210"/>
            <a:ext cx="8111490" cy="102044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19"/>
          <p:cNvSpPr/>
          <p:nvPr/>
        </p:nvSpPr>
        <p:spPr>
          <a:xfrm>
            <a:off x="513601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应用介绍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8"/>
          <p:cNvSpPr/>
          <p:nvPr/>
        </p:nvSpPr>
        <p:spPr>
          <a:xfrm>
            <a:off x="328295" y="2718435"/>
            <a:ext cx="8110220" cy="406971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: 圆角 19"/>
          <p:cNvSpPr/>
          <p:nvPr/>
        </p:nvSpPr>
        <p:spPr>
          <a:xfrm>
            <a:off x="514236" y="2496537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矩形: 圆角 15"/>
          <p:cNvSpPr/>
          <p:nvPr/>
        </p:nvSpPr>
        <p:spPr>
          <a:xfrm>
            <a:off x="513715" y="3744595"/>
            <a:ext cx="2186940" cy="2780030"/>
          </a:xfrm>
          <a:prstGeom prst="roundRect">
            <a:avLst>
              <a:gd name="adj" fmla="val 6098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: 圆角 15"/>
          <p:cNvSpPr/>
          <p:nvPr/>
        </p:nvSpPr>
        <p:spPr>
          <a:xfrm>
            <a:off x="2976880" y="3753485"/>
            <a:ext cx="2456180" cy="2771140"/>
          </a:xfrm>
          <a:prstGeom prst="roundRect">
            <a:avLst>
              <a:gd name="adj" fmla="val 6098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: 圆角 19"/>
          <p:cNvSpPr/>
          <p:nvPr/>
        </p:nvSpPr>
        <p:spPr>
          <a:xfrm>
            <a:off x="3232785" y="3948430"/>
            <a:ext cx="19500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测点超温峰值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70560" y="3930650"/>
            <a:ext cx="1786890" cy="57594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机组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#3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机组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35965" y="4247515"/>
            <a:ext cx="1153795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: 圆角 19"/>
          <p:cNvSpPr/>
          <p:nvPr/>
        </p:nvSpPr>
        <p:spPr>
          <a:xfrm>
            <a:off x="671195" y="4725670"/>
            <a:ext cx="1784985" cy="61404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受热面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过热器出口段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36600" y="5042535"/>
            <a:ext cx="1153795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: 圆角 19"/>
          <p:cNvSpPr/>
          <p:nvPr/>
        </p:nvSpPr>
        <p:spPr>
          <a:xfrm>
            <a:off x="671195" y="5520690"/>
            <a:ext cx="1785620" cy="81470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时间范围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2025-05-12 00:00-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2025-05-12 24:00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736600" y="5837555"/>
            <a:ext cx="1153795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2810" y="4011295"/>
            <a:ext cx="304800" cy="285750"/>
          </a:xfrm>
          <a:prstGeom prst="rect">
            <a:avLst/>
          </a:prstGeom>
        </p:spPr>
      </p:pic>
      <p:sp>
        <p:nvSpPr>
          <p:cNvPr id="29" name="矩形: 圆角 19"/>
          <p:cNvSpPr/>
          <p:nvPr/>
        </p:nvSpPr>
        <p:spPr>
          <a:xfrm>
            <a:off x="3232785" y="4540885"/>
            <a:ext cx="19500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历史超温记录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: 圆角 19"/>
          <p:cNvSpPr/>
          <p:nvPr/>
        </p:nvSpPr>
        <p:spPr>
          <a:xfrm>
            <a:off x="3232785" y="5107305"/>
            <a:ext cx="19500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运行工况数据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: 圆角 19"/>
          <p:cNvSpPr/>
          <p:nvPr/>
        </p:nvSpPr>
        <p:spPr>
          <a:xfrm>
            <a:off x="3232785" y="5693410"/>
            <a:ext cx="19500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关联操作记录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810" y="4597400"/>
            <a:ext cx="266700" cy="27622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810" y="5183505"/>
            <a:ext cx="266700" cy="2476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5754370"/>
            <a:ext cx="247650" cy="276225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511810" y="3185795"/>
            <a:ext cx="2188210" cy="406400"/>
            <a:chOff x="9752999" y="904902"/>
            <a:chExt cx="1311675" cy="406114"/>
          </a:xfrm>
          <a:effectLst/>
        </p:grpSpPr>
        <p:sp>
          <p:nvSpPr>
            <p:cNvPr id="37" name="矩形: 圆角 72"/>
            <p:cNvSpPr/>
            <p:nvPr/>
          </p:nvSpPr>
          <p:spPr>
            <a:xfrm>
              <a:off x="9794475" y="904902"/>
              <a:ext cx="1228725" cy="406114"/>
            </a:xfrm>
            <a:prstGeom prst="roundRect">
              <a:avLst/>
            </a:prstGeom>
            <a:solidFill>
              <a:srgbClr val="3855CB"/>
            </a:solidFill>
            <a:ln>
              <a:noFill/>
              <a:prstDash val="dash"/>
            </a:ln>
            <a:effectLst/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752999" y="946944"/>
              <a:ext cx="1311675" cy="3064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rgbClr val="FFFFFF"/>
                  </a:solidFill>
                  <a:latin typeface="微软雅黑" panose="020B0503020204020204" charset="-122"/>
                </a:rPr>
                <a:t>输入条件</a:t>
              </a:r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976880" y="3185795"/>
            <a:ext cx="2424430" cy="406400"/>
            <a:chOff x="9752999" y="904902"/>
            <a:chExt cx="1311675" cy="406114"/>
          </a:xfrm>
          <a:effectLst/>
        </p:grpSpPr>
        <p:sp>
          <p:nvSpPr>
            <p:cNvPr id="40" name="矩形: 圆角 72"/>
            <p:cNvSpPr/>
            <p:nvPr/>
          </p:nvSpPr>
          <p:spPr>
            <a:xfrm>
              <a:off x="9794475" y="904902"/>
              <a:ext cx="1228725" cy="406114"/>
            </a:xfrm>
            <a:prstGeom prst="roundRect">
              <a:avLst/>
            </a:prstGeom>
            <a:solidFill>
              <a:srgbClr val="3855CB"/>
            </a:solidFill>
            <a:ln>
              <a:noFill/>
              <a:prstDash val="dash"/>
            </a:ln>
            <a:effectLst/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9752999" y="946944"/>
              <a:ext cx="1311675" cy="3064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rgbClr val="FFFFFF"/>
                  </a:solidFill>
                  <a:latin typeface="微软雅黑" panose="020B0503020204020204" charset="-122"/>
                </a:rPr>
                <a:t>自动获取的数据</a:t>
              </a:r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2887980" y="6108065"/>
            <a:ext cx="265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1"/>
                </a:solidFill>
              </a:rPr>
              <a:t>......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3" name="矩形: 圆角 15"/>
          <p:cNvSpPr/>
          <p:nvPr/>
        </p:nvSpPr>
        <p:spPr>
          <a:xfrm>
            <a:off x="5833745" y="3753485"/>
            <a:ext cx="2444115" cy="2771140"/>
          </a:xfrm>
          <a:prstGeom prst="roundRect">
            <a:avLst>
              <a:gd name="adj" fmla="val 6098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2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833110" y="3185795"/>
            <a:ext cx="2444115" cy="406400"/>
            <a:chOff x="9752999" y="904902"/>
            <a:chExt cx="1311675" cy="406114"/>
          </a:xfrm>
          <a:effectLst/>
        </p:grpSpPr>
        <p:sp>
          <p:nvSpPr>
            <p:cNvPr id="46" name="矩形: 圆角 72"/>
            <p:cNvSpPr/>
            <p:nvPr/>
          </p:nvSpPr>
          <p:spPr>
            <a:xfrm>
              <a:off x="9794475" y="904902"/>
              <a:ext cx="1228725" cy="406114"/>
            </a:xfrm>
            <a:prstGeom prst="roundRect">
              <a:avLst/>
            </a:prstGeom>
            <a:solidFill>
              <a:srgbClr val="3855CB"/>
            </a:solidFill>
            <a:ln>
              <a:noFill/>
              <a:prstDash val="dash"/>
            </a:ln>
            <a:effectLst/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9752999" y="946944"/>
              <a:ext cx="1311675" cy="3064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rgbClr val="FFFFFF"/>
                  </a:solidFill>
                  <a:latin typeface="微软雅黑" panose="020B0503020204020204" charset="-122"/>
                </a:rPr>
                <a:t>输出分析方案</a:t>
              </a:r>
              <a:endParaRPr lang="zh-CN" altLang="en-US" sz="1400">
                <a:solidFill>
                  <a:srgbClr val="FFFFFF"/>
                </a:solidFill>
                <a:latin typeface="微软雅黑" panose="020B0503020204020204" charset="-122"/>
              </a:endParaRPr>
            </a:p>
          </p:txBody>
        </p:sp>
      </p:grpSp>
      <p:sp>
        <p:nvSpPr>
          <p:cNvPr id="49" name="矩形: 圆角 19"/>
          <p:cNvSpPr/>
          <p:nvPr/>
        </p:nvSpPr>
        <p:spPr>
          <a:xfrm>
            <a:off x="6074410" y="4403090"/>
            <a:ext cx="1950085" cy="193294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074410" y="4493260"/>
            <a:ext cx="195008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accent1"/>
                </a:solidFill>
              </a:rPr>
              <a:t>超温概况</a:t>
            </a:r>
            <a:endParaRPr lang="zh-CN" altLang="en-US" sz="120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accent1"/>
                </a:solidFill>
              </a:rPr>
              <a:t>趋势分析</a:t>
            </a:r>
            <a:endParaRPr lang="zh-CN" altLang="en-US" sz="120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accent1"/>
                </a:solidFill>
              </a:rPr>
              <a:t>可能原因</a:t>
            </a:r>
            <a:endParaRPr lang="zh-CN" altLang="en-US" sz="120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accent1"/>
                </a:solidFill>
              </a:rPr>
              <a:t>处置建议</a:t>
            </a:r>
            <a:endParaRPr lang="zh-CN" altLang="en-US" sz="120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accent1"/>
                </a:solidFill>
              </a:rPr>
              <a:t>运行监护要点</a:t>
            </a:r>
            <a:endParaRPr lang="zh-CN" altLang="en-US" sz="120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accent1"/>
                </a:solidFill>
              </a:rPr>
              <a:t>参考资料</a:t>
            </a:r>
            <a:endParaRPr lang="zh-CN" altLang="en-US" sz="1200">
              <a:solidFill>
                <a:schemeClr val="accent1"/>
              </a:solidFill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6151880" y="4857750"/>
            <a:ext cx="1800000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151880" y="5114290"/>
            <a:ext cx="1800000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151880" y="5393690"/>
            <a:ext cx="1800000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6151880" y="5662930"/>
            <a:ext cx="1800000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6267450" y="3949700"/>
            <a:ext cx="1496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accent1"/>
                </a:solidFill>
              </a:rPr>
              <a:t>分析结论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45" name="箭头: 右 44"/>
          <p:cNvSpPr/>
          <p:nvPr/>
        </p:nvSpPr>
        <p:spPr>
          <a:xfrm>
            <a:off x="5400675" y="4744720"/>
            <a:ext cx="674370" cy="594995"/>
          </a:xfrm>
          <a:prstGeom prst="rightArrow">
            <a:avLst/>
          </a:prstGeom>
          <a:gradFill>
            <a:gsLst>
              <a:gs pos="0">
                <a:schemeClr val="accent1"/>
              </a:gs>
              <a:gs pos="4000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>
            <a:outerShdw blurRad="254000" dist="2540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矩形: 圆角 8"/>
          <p:cNvSpPr/>
          <p:nvPr/>
        </p:nvSpPr>
        <p:spPr>
          <a:xfrm>
            <a:off x="8566150" y="1299210"/>
            <a:ext cx="3196590" cy="548830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矩形: 圆角 19"/>
          <p:cNvSpPr/>
          <p:nvPr/>
        </p:nvSpPr>
        <p:spPr>
          <a:xfrm>
            <a:off x="8755901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8843010" y="1726565"/>
            <a:ext cx="3023870" cy="477520"/>
            <a:chOff x="14026" y="2919"/>
            <a:chExt cx="4762" cy="752"/>
          </a:xfrm>
        </p:grpSpPr>
        <p:sp>
          <p:nvSpPr>
            <p:cNvPr id="59" name="矩形: 圆角 37"/>
            <p:cNvSpPr/>
            <p:nvPr/>
          </p:nvSpPr>
          <p:spPr>
            <a:xfrm>
              <a:off x="14496" y="313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599" y="318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一键分析，自动取数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1" name="任意多边形: 形状 1"/>
            <p:cNvSpPr/>
            <p:nvPr/>
          </p:nvSpPr>
          <p:spPr>
            <a:xfrm>
              <a:off x="14026" y="291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8843124" y="2718435"/>
            <a:ext cx="3024811" cy="478155"/>
            <a:chOff x="14026" y="4314"/>
            <a:chExt cx="4763" cy="753"/>
          </a:xfrm>
        </p:grpSpPr>
        <p:sp>
          <p:nvSpPr>
            <p:cNvPr id="62" name="矩形: 圆角 37"/>
            <p:cNvSpPr/>
            <p:nvPr/>
          </p:nvSpPr>
          <p:spPr>
            <a:xfrm>
              <a:off x="14496" y="452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4599" y="4578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智能分析，精准定位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4" name="任意多边形: 形状 1"/>
            <p:cNvSpPr/>
            <p:nvPr/>
          </p:nvSpPr>
          <p:spPr>
            <a:xfrm>
              <a:off x="14026" y="431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8843124" y="3710940"/>
            <a:ext cx="3024811" cy="478155"/>
            <a:chOff x="14026" y="5784"/>
            <a:chExt cx="4763" cy="753"/>
          </a:xfrm>
        </p:grpSpPr>
        <p:sp>
          <p:nvSpPr>
            <p:cNvPr id="66" name="矩形: 圆角 37"/>
            <p:cNvSpPr/>
            <p:nvPr/>
          </p:nvSpPr>
          <p:spPr>
            <a:xfrm>
              <a:off x="14496" y="599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4599" y="6048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结构化报告，清晰全面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8" name="任意多边形: 形状 1"/>
            <p:cNvSpPr/>
            <p:nvPr/>
          </p:nvSpPr>
          <p:spPr>
            <a:xfrm>
              <a:off x="14026" y="578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8843124" y="4703445"/>
            <a:ext cx="3024811" cy="478155"/>
            <a:chOff x="14026" y="8051"/>
            <a:chExt cx="4763" cy="753"/>
          </a:xfrm>
        </p:grpSpPr>
        <p:sp>
          <p:nvSpPr>
            <p:cNvPr id="75" name="矩形: 圆角 37"/>
            <p:cNvSpPr/>
            <p:nvPr/>
          </p:nvSpPr>
          <p:spPr>
            <a:xfrm>
              <a:off x="14496" y="8263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4599" y="8315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处置建议，指导操作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77" name="任意多边形: 形状 1"/>
            <p:cNvSpPr/>
            <p:nvPr/>
          </p:nvSpPr>
          <p:spPr>
            <a:xfrm>
              <a:off x="14026" y="8051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8843124" y="5695950"/>
            <a:ext cx="3024811" cy="478155"/>
            <a:chOff x="14026" y="9149"/>
            <a:chExt cx="4763" cy="753"/>
          </a:xfrm>
        </p:grpSpPr>
        <p:sp>
          <p:nvSpPr>
            <p:cNvPr id="78" name="矩形: 圆角 37"/>
            <p:cNvSpPr/>
            <p:nvPr/>
          </p:nvSpPr>
          <p:spPr>
            <a:xfrm>
              <a:off x="14496" y="936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4599" y="941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提升效率，降低风险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80" name="任意多边形: 形状 1"/>
            <p:cNvSpPr/>
            <p:nvPr/>
          </p:nvSpPr>
          <p:spPr>
            <a:xfrm>
              <a:off x="14026" y="914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9141460" y="2319020"/>
            <a:ext cx="2620645" cy="312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>
                <a:solidFill>
                  <a:schemeClr val="accent1"/>
                </a:solidFill>
              </a:rPr>
              <a:t>自动从运行数据库获取多维度数据，省去人工查询和整理时间。</a:t>
            </a:r>
            <a:endParaRPr lang="zh-CN" altLang="en-US" sz="1000">
              <a:solidFill>
                <a:schemeClr val="accent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142095" y="3289935"/>
            <a:ext cx="2620645" cy="454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chemeClr val="accent1"/>
                </a:solidFill>
                <a:sym typeface="+mn-ea"/>
              </a:rPr>
              <a:t>结合知识库与历史案例，智能分析超温原因，定位问题根源。</a:t>
            </a:r>
            <a:endParaRPr lang="zh-CN" altLang="en-US" sz="100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142095" y="4261485"/>
            <a:ext cx="262064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chemeClr val="accent1"/>
                </a:solidFill>
                <a:sym typeface="+mn-ea"/>
              </a:rPr>
              <a:t>输出多维度结构化报告，内容完整、逻辑清晰、便于决策。</a:t>
            </a:r>
            <a:endParaRPr lang="zh-CN" altLang="en-US" sz="100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142095" y="5282565"/>
            <a:ext cx="2620645" cy="413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chemeClr val="accent1"/>
                </a:solidFill>
                <a:sym typeface="+mn-ea"/>
              </a:rPr>
              <a:t>提供针对性处置建议和运行监护护要点，指导现场快速应对。</a:t>
            </a:r>
            <a:endParaRPr lang="zh-CN" altLang="en-US" sz="100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141460" y="6296025"/>
            <a:ext cx="262064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chemeClr val="accent1"/>
                </a:solidFill>
                <a:sym typeface="+mn-ea"/>
              </a:rPr>
              <a:t>缩短分析时间，提高响应效率，降低设备损伤和停机风险。</a:t>
            </a:r>
            <a:endParaRPr lang="zh-CN" altLang="en-US" sz="1000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51880" y="5945505"/>
            <a:ext cx="1800000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核心能力三：</a:t>
            </a:r>
            <a:r>
              <a:rPr lang="zh-CN"/>
              <a:t>缺陷识别</a:t>
            </a:r>
            <a:endParaRPr lang="zh-CN"/>
          </a:p>
        </p:txBody>
      </p:sp>
      <p:sp>
        <p:nvSpPr>
          <p:cNvPr id="7" name="矩形: 圆角 8"/>
          <p:cNvSpPr/>
          <p:nvPr/>
        </p:nvSpPr>
        <p:spPr>
          <a:xfrm>
            <a:off x="327660" y="1299210"/>
            <a:ext cx="3606165" cy="187261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19"/>
          <p:cNvSpPr/>
          <p:nvPr/>
        </p:nvSpPr>
        <p:spPr>
          <a:xfrm>
            <a:off x="513601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应用介绍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715" y="1720850"/>
            <a:ext cx="32467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200"/>
              <a:t>检修/运行人员在停机或巡检场景上传现场照片，配合自然语言描述，系统自动完成视觉缺陷判定、历史数据关联与知识库检索，输出缺陷风险等级与分风险处置方案。</a:t>
            </a:r>
            <a:endParaRPr lang="zh-CN" altLang="en-US" sz="1200"/>
          </a:p>
        </p:txBody>
      </p:sp>
      <p:sp>
        <p:nvSpPr>
          <p:cNvPr id="8" name="矩形: 圆角 8"/>
          <p:cNvSpPr/>
          <p:nvPr/>
        </p:nvSpPr>
        <p:spPr>
          <a:xfrm>
            <a:off x="327660" y="3471545"/>
            <a:ext cx="3606165" cy="331660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19"/>
          <p:cNvSpPr/>
          <p:nvPr/>
        </p:nvSpPr>
        <p:spPr>
          <a:xfrm>
            <a:off x="513601" y="326044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: 圆角 19"/>
          <p:cNvSpPr/>
          <p:nvPr/>
        </p:nvSpPr>
        <p:spPr>
          <a:xfrm>
            <a:off x="523240" y="3870960"/>
            <a:ext cx="20135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上传现场照片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15" y="3896360"/>
            <a:ext cx="352425" cy="323850"/>
          </a:xfrm>
          <a:prstGeom prst="rect">
            <a:avLst/>
          </a:prstGeom>
        </p:spPr>
      </p:pic>
      <p:sp>
        <p:nvSpPr>
          <p:cNvPr id="13" name="矩形: 圆角 19"/>
          <p:cNvSpPr/>
          <p:nvPr/>
        </p:nvSpPr>
        <p:spPr>
          <a:xfrm>
            <a:off x="523240" y="4826000"/>
            <a:ext cx="20135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文字描述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19"/>
          <p:cNvSpPr/>
          <p:nvPr/>
        </p:nvSpPr>
        <p:spPr>
          <a:xfrm>
            <a:off x="513715" y="5795645"/>
            <a:ext cx="2023110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输出诊断结果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15" y="4876800"/>
            <a:ext cx="361950" cy="314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5" y="5815965"/>
            <a:ext cx="352425" cy="333375"/>
          </a:xfrm>
          <a:prstGeom prst="rect">
            <a:avLst/>
          </a:prstGeom>
        </p:spPr>
      </p:pic>
      <p:pic>
        <p:nvPicPr>
          <p:cNvPr id="16" name="图片 15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640" y="4686935"/>
            <a:ext cx="970280" cy="7905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23240" y="4301490"/>
            <a:ext cx="2012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受热面管壁裂纹、腐蚀、破损等</a:t>
            </a:r>
            <a:endParaRPr lang="zh-CN" altLang="en-US" sz="1000"/>
          </a:p>
        </p:txBody>
      </p:sp>
      <p:sp>
        <p:nvSpPr>
          <p:cNvPr id="4" name="文本框 3"/>
          <p:cNvSpPr txBox="1"/>
          <p:nvPr/>
        </p:nvSpPr>
        <p:spPr>
          <a:xfrm>
            <a:off x="524510" y="5239385"/>
            <a:ext cx="20129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“#2机组高温过热器第3管排，上周巡检发现”</a:t>
            </a:r>
            <a:endParaRPr lang="zh-CN" altLang="en-US" sz="1000"/>
          </a:p>
        </p:txBody>
      </p:sp>
      <p:sp>
        <p:nvSpPr>
          <p:cNvPr id="15" name="文本框 14"/>
          <p:cNvSpPr txBox="1"/>
          <p:nvPr/>
        </p:nvSpPr>
        <p:spPr>
          <a:xfrm>
            <a:off x="524510" y="6206490"/>
            <a:ext cx="20129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缺陷类型判定、风险等级处置建议、历史相似案例</a:t>
            </a:r>
            <a:endParaRPr lang="zh-CN" altLang="en-US" sz="1000"/>
          </a:p>
        </p:txBody>
      </p:sp>
      <p:sp>
        <p:nvSpPr>
          <p:cNvPr id="17" name="任意多边形: 形状 96"/>
          <p:cNvSpPr/>
          <p:nvPr/>
        </p:nvSpPr>
        <p:spPr>
          <a:xfrm rot="5400000">
            <a:off x="3906902" y="4291038"/>
            <a:ext cx="433601" cy="503516"/>
          </a:xfrm>
          <a:custGeom>
            <a:avLst/>
            <a:gdLst>
              <a:gd name="connsiteX0" fmla="*/ 715286 w 1442375"/>
              <a:gd name="connsiteY0" fmla="*/ 0 h 4895573"/>
              <a:gd name="connsiteX1" fmla="*/ 724632 w 1442375"/>
              <a:gd name="connsiteY1" fmla="*/ 17942 h 4895573"/>
              <a:gd name="connsiteX2" fmla="*/ 1100184 w 1442375"/>
              <a:gd name="connsiteY2" fmla="*/ 505758 h 4895573"/>
              <a:gd name="connsiteX3" fmla="*/ 1341665 w 1442375"/>
              <a:gd name="connsiteY3" fmla="*/ 741886 h 4895573"/>
              <a:gd name="connsiteX4" fmla="*/ 1365576 w 1442375"/>
              <a:gd name="connsiteY4" fmla="*/ 761898 h 4895573"/>
              <a:gd name="connsiteX5" fmla="*/ 1036015 w 1442375"/>
              <a:gd name="connsiteY5" fmla="*/ 761898 h 4895573"/>
              <a:gd name="connsiteX6" fmla="*/ 1047097 w 1442375"/>
              <a:gd name="connsiteY6" fmla="*/ 1400028 h 4895573"/>
              <a:gd name="connsiteX7" fmla="*/ 1392323 w 1442375"/>
              <a:gd name="connsiteY7" fmla="*/ 4656743 h 4895573"/>
              <a:gd name="connsiteX8" fmla="*/ 1442375 w 1442375"/>
              <a:gd name="connsiteY8" fmla="*/ 4895573 h 4895573"/>
              <a:gd name="connsiteX9" fmla="*/ 1440503 w 1442375"/>
              <a:gd name="connsiteY9" fmla="*/ 4895068 h 4895573"/>
              <a:gd name="connsiteX10" fmla="*/ 719912 w 1442375"/>
              <a:gd name="connsiteY10" fmla="*/ 4822712 h 4895573"/>
              <a:gd name="connsiteX11" fmla="*/ 346820 w 1442375"/>
              <a:gd name="connsiteY11" fmla="*/ 4841418 h 4895573"/>
              <a:gd name="connsiteX12" fmla="*/ 0 w 1442375"/>
              <a:gd name="connsiteY12" fmla="*/ 4894963 h 4895573"/>
              <a:gd name="connsiteX13" fmla="*/ 56035 w 1442375"/>
              <a:gd name="connsiteY13" fmla="*/ 4627575 h 4895573"/>
              <a:gd name="connsiteX14" fmla="*/ 401261 w 1442375"/>
              <a:gd name="connsiteY14" fmla="*/ 1370860 h 4895573"/>
              <a:gd name="connsiteX15" fmla="*/ 411838 w 1442375"/>
              <a:gd name="connsiteY15" fmla="*/ 761898 h 4895573"/>
              <a:gd name="connsiteX16" fmla="*/ 76800 w 1442375"/>
              <a:gd name="connsiteY16" fmla="*/ 761898 h 4895573"/>
              <a:gd name="connsiteX17" fmla="*/ 95239 w 1442375"/>
              <a:gd name="connsiteY17" fmla="*/ 746211 h 4895573"/>
              <a:gd name="connsiteX18" fmla="*/ 334814 w 1442375"/>
              <a:gd name="connsiteY18" fmla="*/ 508150 h 4895573"/>
              <a:gd name="connsiteX19" fmla="*/ 706434 w 1442375"/>
              <a:gd name="connsiteY19" fmla="*/ 17331 h 4895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2375" h="4895573">
                <a:moveTo>
                  <a:pt x="715286" y="0"/>
                </a:moveTo>
                <a:lnTo>
                  <a:pt x="724632" y="17942"/>
                </a:lnTo>
                <a:cubicBezTo>
                  <a:pt x="805384" y="157108"/>
                  <a:pt x="936948" y="330709"/>
                  <a:pt x="1100184" y="505758"/>
                </a:cubicBezTo>
                <a:cubicBezTo>
                  <a:pt x="1181802" y="593283"/>
                  <a:pt x="1263611" y="672883"/>
                  <a:pt x="1341665" y="741886"/>
                </a:cubicBezTo>
                <a:lnTo>
                  <a:pt x="1365576" y="761898"/>
                </a:lnTo>
                <a:lnTo>
                  <a:pt x="1036015" y="761898"/>
                </a:lnTo>
                <a:lnTo>
                  <a:pt x="1047097" y="1400028"/>
                </a:lnTo>
                <a:cubicBezTo>
                  <a:pt x="1089329" y="2609381"/>
                  <a:pt x="1213800" y="3729888"/>
                  <a:pt x="1392323" y="4656743"/>
                </a:cubicBezTo>
                <a:lnTo>
                  <a:pt x="1442375" y="4895573"/>
                </a:lnTo>
                <a:lnTo>
                  <a:pt x="1440503" y="4895068"/>
                </a:lnTo>
                <a:cubicBezTo>
                  <a:pt x="1219022" y="4848477"/>
                  <a:pt x="975517" y="4822712"/>
                  <a:pt x="719912" y="4822712"/>
                </a:cubicBezTo>
                <a:cubicBezTo>
                  <a:pt x="592109" y="4822712"/>
                  <a:pt x="467333" y="4829153"/>
                  <a:pt x="346820" y="4841418"/>
                </a:cubicBezTo>
                <a:lnTo>
                  <a:pt x="0" y="4894963"/>
                </a:lnTo>
                <a:lnTo>
                  <a:pt x="56035" y="4627575"/>
                </a:lnTo>
                <a:cubicBezTo>
                  <a:pt x="234559" y="3700720"/>
                  <a:pt x="359030" y="2580213"/>
                  <a:pt x="401261" y="1370860"/>
                </a:cubicBezTo>
                <a:lnTo>
                  <a:pt x="411838" y="761898"/>
                </a:lnTo>
                <a:lnTo>
                  <a:pt x="76800" y="761898"/>
                </a:lnTo>
                <a:lnTo>
                  <a:pt x="95239" y="746211"/>
                </a:lnTo>
                <a:cubicBezTo>
                  <a:pt x="172736" y="676584"/>
                  <a:pt x="253902" y="596328"/>
                  <a:pt x="334814" y="508150"/>
                </a:cubicBezTo>
                <a:cubicBezTo>
                  <a:pt x="496638" y="331795"/>
                  <a:pt x="626803" y="157142"/>
                  <a:pt x="706434" y="17331"/>
                </a:cubicBezTo>
                <a:close/>
              </a:path>
            </a:pathLst>
          </a:custGeom>
          <a:gradFill flip="none" rotWithShape="1">
            <a:gsLst>
              <a:gs pos="0">
                <a:srgbClr val="3855CB">
                  <a:alpha val="0"/>
                </a:srgbClr>
              </a:gs>
              <a:gs pos="55000">
                <a:srgbClr val="3855CB">
                  <a:alpha val="50000"/>
                </a:srgbClr>
              </a:gs>
              <a:gs pos="100000">
                <a:srgbClr val="3855CB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: 圆角 8"/>
          <p:cNvSpPr/>
          <p:nvPr/>
        </p:nvSpPr>
        <p:spPr>
          <a:xfrm>
            <a:off x="4131310" y="1299210"/>
            <a:ext cx="4437380" cy="5488940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5337696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智能分析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: 圆角 8"/>
          <p:cNvSpPr/>
          <p:nvPr/>
        </p:nvSpPr>
        <p:spPr>
          <a:xfrm>
            <a:off x="8766175" y="1299210"/>
            <a:ext cx="3196590" cy="548830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矩形: 圆角 19"/>
          <p:cNvSpPr/>
          <p:nvPr/>
        </p:nvSpPr>
        <p:spPr>
          <a:xfrm>
            <a:off x="8955926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9043035" y="1833245"/>
            <a:ext cx="3024505" cy="478155"/>
            <a:chOff x="14026" y="2919"/>
            <a:chExt cx="4763" cy="753"/>
          </a:xfrm>
        </p:grpSpPr>
        <p:sp>
          <p:nvSpPr>
            <p:cNvPr id="59" name="矩形: 圆角 37"/>
            <p:cNvSpPr/>
            <p:nvPr/>
          </p:nvSpPr>
          <p:spPr>
            <a:xfrm>
              <a:off x="14496" y="313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599" y="318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多模态</a:t>
              </a:r>
              <a:r>
                <a:rPr lang="en-US" altLang="zh-CN" sz="1200" b="1">
                  <a:solidFill>
                    <a:schemeClr val="bg1"/>
                  </a:solidFill>
                </a:rPr>
                <a:t>AI</a:t>
              </a:r>
              <a:r>
                <a:rPr lang="zh-CN" altLang="en-US" sz="1200" b="1">
                  <a:solidFill>
                    <a:schemeClr val="bg1"/>
                  </a:solidFill>
                </a:rPr>
                <a:t>图像识别缺陷特征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1" name="任意多边形: 形状 1"/>
            <p:cNvSpPr/>
            <p:nvPr/>
          </p:nvSpPr>
          <p:spPr>
            <a:xfrm>
              <a:off x="14026" y="291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043149" y="2652395"/>
            <a:ext cx="3024811" cy="478155"/>
            <a:chOff x="14026" y="4314"/>
            <a:chExt cx="4763" cy="753"/>
          </a:xfrm>
        </p:grpSpPr>
        <p:sp>
          <p:nvSpPr>
            <p:cNvPr id="62" name="矩形: 圆角 37"/>
            <p:cNvSpPr/>
            <p:nvPr/>
          </p:nvSpPr>
          <p:spPr>
            <a:xfrm>
              <a:off x="14496" y="452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4599" y="4578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自动关联历史缺陷、测点数据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4" name="任意多边形: 形状 1"/>
            <p:cNvSpPr/>
            <p:nvPr/>
          </p:nvSpPr>
          <p:spPr>
            <a:xfrm>
              <a:off x="14026" y="431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9043149" y="3471545"/>
            <a:ext cx="3024811" cy="478155"/>
            <a:chOff x="14026" y="5784"/>
            <a:chExt cx="4763" cy="753"/>
          </a:xfrm>
        </p:grpSpPr>
        <p:sp>
          <p:nvSpPr>
            <p:cNvPr id="66" name="矩形: 圆角 37"/>
            <p:cNvSpPr/>
            <p:nvPr/>
          </p:nvSpPr>
          <p:spPr>
            <a:xfrm>
              <a:off x="14496" y="599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4599" y="6048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业务知识库检索，匹配方案经验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8" name="任意多边形: 形状 1"/>
            <p:cNvSpPr/>
            <p:nvPr/>
          </p:nvSpPr>
          <p:spPr>
            <a:xfrm>
              <a:off x="14026" y="578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9043149" y="4290695"/>
            <a:ext cx="3024811" cy="478155"/>
            <a:chOff x="14026" y="8051"/>
            <a:chExt cx="4763" cy="753"/>
          </a:xfrm>
        </p:grpSpPr>
        <p:sp>
          <p:nvSpPr>
            <p:cNvPr id="75" name="矩形: 圆角 37"/>
            <p:cNvSpPr/>
            <p:nvPr/>
          </p:nvSpPr>
          <p:spPr>
            <a:xfrm>
              <a:off x="14496" y="8263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4599" y="8315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综合评定缺陷风险等级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77" name="任意多边形: 形状 1"/>
            <p:cNvSpPr/>
            <p:nvPr/>
          </p:nvSpPr>
          <p:spPr>
            <a:xfrm>
              <a:off x="14026" y="8051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043149" y="5109845"/>
            <a:ext cx="3024811" cy="478155"/>
            <a:chOff x="14026" y="9149"/>
            <a:chExt cx="4763" cy="753"/>
          </a:xfrm>
        </p:grpSpPr>
        <p:sp>
          <p:nvSpPr>
            <p:cNvPr id="78" name="矩形: 圆角 37"/>
            <p:cNvSpPr/>
            <p:nvPr/>
          </p:nvSpPr>
          <p:spPr>
            <a:xfrm>
              <a:off x="14496" y="936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4599" y="941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提供风险分级处置建议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80" name="任意多边形: 形状 1"/>
            <p:cNvSpPr/>
            <p:nvPr/>
          </p:nvSpPr>
          <p:spPr>
            <a:xfrm>
              <a:off x="14026" y="914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矩形: 圆角 19"/>
          <p:cNvSpPr/>
          <p:nvPr/>
        </p:nvSpPr>
        <p:spPr>
          <a:xfrm>
            <a:off x="4375785" y="1684020"/>
            <a:ext cx="1953260" cy="70358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indent="0" algn="l" fontAlgn="auto">
              <a:lnSpc>
                <a:spcPts val="2500"/>
              </a:lnSpc>
            </a:pP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缺陷类型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ts val="2500"/>
              </a:lnSpc>
            </a:pP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管壁腐蚀减薄</a:t>
            </a:r>
            <a:endParaRPr lang="zh-CN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: 圆角 19"/>
          <p:cNvSpPr/>
          <p:nvPr/>
        </p:nvSpPr>
        <p:spPr>
          <a:xfrm>
            <a:off x="6503035" y="1684020"/>
            <a:ext cx="1875155" cy="70358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ts val="2500"/>
              </a:lnSpc>
              <a:buClrTx/>
              <a:buSzTx/>
              <a:buFontTx/>
            </a:pP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风险等级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ts val="2500"/>
              </a:lnSpc>
              <a:buClrTx/>
              <a:buSzTx/>
              <a:buFontTx/>
            </a:pP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: 圆角 19"/>
          <p:cNvSpPr/>
          <p:nvPr/>
        </p:nvSpPr>
        <p:spPr>
          <a:xfrm>
            <a:off x="4376420" y="3387725"/>
            <a:ext cx="4001770" cy="95059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图像显示管壁存在明显腐蚀减薄现象，局部星点蚀抗。结合历史数据，该位置腐蚀速率偏高，存在进一步减薄导致泄漏风险。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: 圆角 19"/>
          <p:cNvSpPr/>
          <p:nvPr/>
        </p:nvSpPr>
        <p:spPr>
          <a:xfrm>
            <a:off x="4375785" y="4629785"/>
            <a:ext cx="2201545" cy="194500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: 圆角 19"/>
          <p:cNvSpPr/>
          <p:nvPr/>
        </p:nvSpPr>
        <p:spPr>
          <a:xfrm>
            <a:off x="6752590" y="4629785"/>
            <a:ext cx="1624330" cy="194500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: 圆角 19"/>
          <p:cNvSpPr/>
          <p:nvPr/>
        </p:nvSpPr>
        <p:spPr>
          <a:xfrm>
            <a:off x="4376420" y="2486660"/>
            <a:ext cx="1953260" cy="69786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ts val="2500"/>
              </a:lnSpc>
              <a:buClrTx/>
              <a:buSzTx/>
              <a:buFontTx/>
            </a:pP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缺陷位置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ts val="2500"/>
              </a:lnSpc>
              <a:buClrTx/>
              <a:buSzTx/>
              <a:buFontTx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#2机组 高溫过热器 第3管排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矩形: 圆角 19"/>
          <p:cNvSpPr/>
          <p:nvPr/>
        </p:nvSpPr>
        <p:spPr>
          <a:xfrm>
            <a:off x="6503035" y="2486660"/>
            <a:ext cx="1875155" cy="69786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ts val="2500"/>
              </a:lnSpc>
              <a:buClrTx/>
              <a:buSzTx/>
              <a:buFontTx/>
            </a:pP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发现时间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ts val="2500"/>
              </a:lnSpc>
              <a:buClrTx/>
              <a:buSzTx/>
              <a:buFontTx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2025-05-12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矩形: 圆角 19"/>
          <p:cNvSpPr/>
          <p:nvPr/>
        </p:nvSpPr>
        <p:spPr>
          <a:xfrm>
            <a:off x="6711950" y="2105660"/>
            <a:ext cx="856615" cy="2209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中风险</a:t>
            </a:r>
            <a:endParaRPr lang="zh-CN" altLang="en-US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95470" y="4732020"/>
            <a:ext cx="1623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处置建议（分风险）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469130" y="5101590"/>
            <a:ext cx="2034540" cy="398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miter lim="800000"/>
          </a:ln>
        </p:spPr>
        <p:txBody>
          <a:bodyPr rtlCol="0" anchor="ctr"/>
          <a:p>
            <a:pPr algn="ctr" defTabSz="914400">
              <a:lnSpc>
                <a:spcPct val="150000"/>
              </a:lnSpc>
            </a:pPr>
            <a:endParaRPr lang="zh-CN" altLang="en-US" sz="1600" dirty="0">
              <a:solidFill>
                <a:srgbClr val="08519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468495" y="5575935"/>
            <a:ext cx="2035175" cy="399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miter lim="800000"/>
          </a:ln>
        </p:spPr>
        <p:txBody>
          <a:bodyPr rtlCol="0" anchor="ctr"/>
          <a:p>
            <a:pPr algn="ctr" defTabSz="914400">
              <a:lnSpc>
                <a:spcPct val="150000"/>
              </a:lnSpc>
            </a:pPr>
            <a:endParaRPr lang="zh-CN" altLang="en-US" sz="1600" dirty="0">
              <a:solidFill>
                <a:srgbClr val="08519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469765" y="6062345"/>
            <a:ext cx="2033270" cy="39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miter lim="800000"/>
          </a:ln>
        </p:spPr>
        <p:txBody>
          <a:bodyPr rtlCol="0" anchor="ctr"/>
          <a:p>
            <a:pPr algn="ctr" defTabSz="914400">
              <a:lnSpc>
                <a:spcPct val="150000"/>
              </a:lnSpc>
            </a:pPr>
            <a:endParaRPr lang="zh-CN" altLang="en-US" sz="1600" dirty="0">
              <a:solidFill>
                <a:srgbClr val="08519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402455" y="3459480"/>
            <a:ext cx="1623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缺陷分析结论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744335" y="4732020"/>
            <a:ext cx="1623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历史相似案例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 descr="高风险 (6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945" y="5657850"/>
            <a:ext cx="241200" cy="237665"/>
          </a:xfrm>
          <a:prstGeom prst="rect">
            <a:avLst/>
          </a:prstGeom>
        </p:spPr>
      </p:pic>
      <p:pic>
        <p:nvPicPr>
          <p:cNvPr id="42" name="图片 41" descr="高风险 (7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945" y="6142355"/>
            <a:ext cx="241200" cy="237878"/>
          </a:xfrm>
          <a:prstGeom prst="rect">
            <a:avLst/>
          </a:prstGeom>
        </p:spPr>
      </p:pic>
      <p:pic>
        <p:nvPicPr>
          <p:cNvPr id="43" name="图片 42" descr="高风险 (5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945" y="5181600"/>
            <a:ext cx="241300" cy="23812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754880" y="5200650"/>
            <a:ext cx="17487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>
                <a:solidFill>
                  <a:srgbClr val="C00000"/>
                </a:solidFill>
              </a:rPr>
              <a:t>高风险：</a:t>
            </a:r>
            <a:r>
              <a:rPr lang="zh-CN" altLang="en-US" sz="800"/>
              <a:t>建议停机处理，立即更换</a:t>
            </a:r>
            <a:endParaRPr lang="zh-CN" altLang="en-US" sz="800"/>
          </a:p>
        </p:txBody>
      </p:sp>
      <p:sp>
        <p:nvSpPr>
          <p:cNvPr id="45" name="文本框 44"/>
          <p:cNvSpPr txBox="1"/>
          <p:nvPr/>
        </p:nvSpPr>
        <p:spPr>
          <a:xfrm>
            <a:off x="4754880" y="5681345"/>
            <a:ext cx="17487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>
                <a:solidFill>
                  <a:schemeClr val="accent2">
                    <a:lumMod val="75000"/>
                  </a:schemeClr>
                </a:solidFill>
              </a:rPr>
              <a:t>中风险：</a:t>
            </a:r>
            <a:r>
              <a:rPr lang="zh-CN" altLang="en-US" sz="800"/>
              <a:t>打磨补焊，缩短检修周期</a:t>
            </a:r>
            <a:endParaRPr lang="zh-CN" altLang="en-US" sz="800"/>
          </a:p>
        </p:txBody>
      </p:sp>
      <p:sp>
        <p:nvSpPr>
          <p:cNvPr id="46" name="文本框 45"/>
          <p:cNvSpPr txBox="1"/>
          <p:nvPr/>
        </p:nvSpPr>
        <p:spPr>
          <a:xfrm>
            <a:off x="4754880" y="6149340"/>
            <a:ext cx="17487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>
                <a:solidFill>
                  <a:schemeClr val="accent6">
                    <a:lumMod val="75000"/>
                  </a:schemeClr>
                </a:solidFill>
              </a:rPr>
              <a:t>低风险：</a:t>
            </a:r>
            <a:r>
              <a:rPr lang="zh-CN" altLang="en-US" sz="800"/>
              <a:t>加强监护，定期复查</a:t>
            </a:r>
            <a:endParaRPr lang="zh-CN" altLang="en-US" sz="800"/>
          </a:p>
        </p:txBody>
      </p:sp>
      <p:sp>
        <p:nvSpPr>
          <p:cNvPr id="106" name="矩形: 圆角 15"/>
          <p:cNvSpPr/>
          <p:nvPr/>
        </p:nvSpPr>
        <p:spPr>
          <a:xfrm>
            <a:off x="6817995" y="5102225"/>
            <a:ext cx="1490345" cy="555625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en-US" altLang="zh-CN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</a:t>
            </a:r>
            <a:r>
              <a:rPr lang="en-US" altLang="zh-CN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-11-03 </a:t>
            </a:r>
            <a:r>
              <a:rPr lang="en-US" altLang="zh-CN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#2机组</a:t>
            </a:r>
            <a:r>
              <a:rPr lang="en-US" altLang="zh-CN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9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过热器泄漏原因:管壁腐蚀减薄</a:t>
            </a:r>
            <a:endParaRPr lang="zh-CN" altLang="en-US" sz="9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: 圆角 15"/>
          <p:cNvSpPr/>
          <p:nvPr/>
        </p:nvSpPr>
        <p:spPr>
          <a:xfrm>
            <a:off x="6817995" y="5795645"/>
            <a:ext cx="1490345" cy="567690"/>
          </a:xfrm>
          <a:prstGeom prst="roundRect">
            <a:avLst>
              <a:gd name="adj" fmla="val 10052"/>
            </a:avLst>
          </a:prstGeom>
          <a:solidFill>
            <a:srgbClr val="2E55A2">
              <a:lumMod val="20000"/>
              <a:lumOff val="80000"/>
            </a:srgbClr>
          </a:solidFill>
          <a:ln>
            <a:noFill/>
          </a:ln>
          <a:effectLst>
            <a:outerShdw blurRad="254000" sx="102000" sy="102000" algn="ctr" rotWithShape="0">
              <a:srgbClr val="2E55A2">
                <a:lumMod val="20000"/>
                <a:lumOff val="80000"/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en-US" altLang="zh-CN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</a:t>
            </a:r>
            <a:r>
              <a:rPr lang="en-US" altLang="zh-CN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-08-17 </a:t>
            </a:r>
            <a:r>
              <a:rPr lang="en-US" altLang="zh-CN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#1机组</a:t>
            </a:r>
            <a:endParaRPr lang="zh-CN" altLang="en-US" sz="9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9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水冷壁泄漏原因:长期结焦腐蚀</a:t>
            </a:r>
            <a:endParaRPr lang="zh-CN" altLang="en-US" sz="9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9043784" y="5928995"/>
            <a:ext cx="3024811" cy="478155"/>
            <a:chOff x="14026" y="9149"/>
            <a:chExt cx="4763" cy="753"/>
          </a:xfrm>
        </p:grpSpPr>
        <p:sp>
          <p:nvSpPr>
            <p:cNvPr id="54" name="矩形: 圆角 37"/>
            <p:cNvSpPr/>
            <p:nvPr/>
          </p:nvSpPr>
          <p:spPr>
            <a:xfrm>
              <a:off x="14496" y="936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4599" y="941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推荐历史相似案例，决策参考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57" name="任意多边形: 形状 1"/>
            <p:cNvSpPr/>
            <p:nvPr/>
          </p:nvSpPr>
          <p:spPr>
            <a:xfrm>
              <a:off x="14026" y="914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" name="矩形: 圆角 19"/>
          <p:cNvSpPr/>
          <p:nvPr/>
        </p:nvSpPr>
        <p:spPr>
          <a:xfrm>
            <a:off x="7077710" y="3124835"/>
            <a:ext cx="1543685" cy="194881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核心能力四：</a:t>
            </a:r>
            <a:r>
              <a:rPr lang="zh-CN"/>
              <a:t>泄爆分析</a:t>
            </a:r>
            <a:endParaRPr lang="zh-CN"/>
          </a:p>
        </p:txBody>
      </p:sp>
      <p:sp>
        <p:nvSpPr>
          <p:cNvPr id="7" name="矩形: 圆角 8"/>
          <p:cNvSpPr/>
          <p:nvPr/>
        </p:nvSpPr>
        <p:spPr>
          <a:xfrm>
            <a:off x="327660" y="1299210"/>
            <a:ext cx="3432175" cy="198437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19"/>
          <p:cNvSpPr/>
          <p:nvPr/>
        </p:nvSpPr>
        <p:spPr>
          <a:xfrm>
            <a:off x="386601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应用介绍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6715" y="1699895"/>
            <a:ext cx="33737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200"/>
              <a:t>针对锅炉受热面泄漏、爆管等事故场景，结合可选现场照片、自然语言事故描述与运行数据库，进行泄爆溯源分析，输出结构化溯源报告与防控建议。</a:t>
            </a:r>
            <a:endParaRPr lang="zh-CN" altLang="en-US" sz="1200"/>
          </a:p>
        </p:txBody>
      </p:sp>
      <p:sp>
        <p:nvSpPr>
          <p:cNvPr id="8" name="矩形: 圆角 8"/>
          <p:cNvSpPr/>
          <p:nvPr/>
        </p:nvSpPr>
        <p:spPr>
          <a:xfrm>
            <a:off x="327660" y="3625850"/>
            <a:ext cx="3433445" cy="3162300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19"/>
          <p:cNvSpPr/>
          <p:nvPr/>
        </p:nvSpPr>
        <p:spPr>
          <a:xfrm>
            <a:off x="386601" y="340141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: 圆角 19"/>
          <p:cNvSpPr/>
          <p:nvPr/>
        </p:nvSpPr>
        <p:spPr>
          <a:xfrm>
            <a:off x="513715" y="4998720"/>
            <a:ext cx="20135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可选上传现场照片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90" y="5024120"/>
            <a:ext cx="352425" cy="323850"/>
          </a:xfrm>
          <a:prstGeom prst="rect">
            <a:avLst/>
          </a:prstGeom>
        </p:spPr>
      </p:pic>
      <p:sp>
        <p:nvSpPr>
          <p:cNvPr id="13" name="矩形: 圆角 19"/>
          <p:cNvSpPr/>
          <p:nvPr/>
        </p:nvSpPr>
        <p:spPr>
          <a:xfrm>
            <a:off x="523240" y="4076700"/>
            <a:ext cx="2013585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事故描述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19"/>
          <p:cNvSpPr/>
          <p:nvPr/>
        </p:nvSpPr>
        <p:spPr>
          <a:xfrm>
            <a:off x="513715" y="5795645"/>
            <a:ext cx="2023110" cy="41592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输出溯源分析结果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15" y="4127500"/>
            <a:ext cx="361950" cy="314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5" y="5815965"/>
            <a:ext cx="352425" cy="3333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3715" y="5429250"/>
            <a:ext cx="2012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爆口、相邻管段等</a:t>
            </a:r>
            <a:endParaRPr lang="zh-CN" altLang="en-US" sz="1000"/>
          </a:p>
        </p:txBody>
      </p:sp>
      <p:sp>
        <p:nvSpPr>
          <p:cNvPr id="4" name="文本框 3"/>
          <p:cNvSpPr txBox="1"/>
          <p:nvPr/>
        </p:nvSpPr>
        <p:spPr>
          <a:xfrm>
            <a:off x="524510" y="4490085"/>
            <a:ext cx="20129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“#1机组</a:t>
            </a:r>
            <a:r>
              <a:rPr lang="en-US" altLang="zh-CN" sz="1000"/>
              <a:t> </a:t>
            </a:r>
            <a:r>
              <a:rPr lang="zh-CN" altLang="en-US" sz="1000"/>
              <a:t>水冷壁东侧第5管排于2025-03-15 14:30发生泄漏”</a:t>
            </a:r>
            <a:endParaRPr lang="zh-CN" altLang="en-US" sz="1000"/>
          </a:p>
        </p:txBody>
      </p:sp>
      <p:sp>
        <p:nvSpPr>
          <p:cNvPr id="15" name="文本框 14"/>
          <p:cNvSpPr txBox="1"/>
          <p:nvPr/>
        </p:nvSpPr>
        <p:spPr>
          <a:xfrm>
            <a:off x="524510" y="6206490"/>
            <a:ext cx="20129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五类分析、事故案例对照、规程条文引用、防控建议</a:t>
            </a:r>
            <a:endParaRPr lang="zh-CN" altLang="en-US" sz="1000"/>
          </a:p>
        </p:txBody>
      </p:sp>
      <p:sp>
        <p:nvSpPr>
          <p:cNvPr id="17" name="任意多边形: 形状 96"/>
          <p:cNvSpPr/>
          <p:nvPr/>
        </p:nvSpPr>
        <p:spPr>
          <a:xfrm rot="5400000">
            <a:off x="3571622" y="3672548"/>
            <a:ext cx="433601" cy="503516"/>
          </a:xfrm>
          <a:custGeom>
            <a:avLst/>
            <a:gdLst>
              <a:gd name="connsiteX0" fmla="*/ 715286 w 1442375"/>
              <a:gd name="connsiteY0" fmla="*/ 0 h 4895573"/>
              <a:gd name="connsiteX1" fmla="*/ 724632 w 1442375"/>
              <a:gd name="connsiteY1" fmla="*/ 17942 h 4895573"/>
              <a:gd name="connsiteX2" fmla="*/ 1100184 w 1442375"/>
              <a:gd name="connsiteY2" fmla="*/ 505758 h 4895573"/>
              <a:gd name="connsiteX3" fmla="*/ 1341665 w 1442375"/>
              <a:gd name="connsiteY3" fmla="*/ 741886 h 4895573"/>
              <a:gd name="connsiteX4" fmla="*/ 1365576 w 1442375"/>
              <a:gd name="connsiteY4" fmla="*/ 761898 h 4895573"/>
              <a:gd name="connsiteX5" fmla="*/ 1036015 w 1442375"/>
              <a:gd name="connsiteY5" fmla="*/ 761898 h 4895573"/>
              <a:gd name="connsiteX6" fmla="*/ 1047097 w 1442375"/>
              <a:gd name="connsiteY6" fmla="*/ 1400028 h 4895573"/>
              <a:gd name="connsiteX7" fmla="*/ 1392323 w 1442375"/>
              <a:gd name="connsiteY7" fmla="*/ 4656743 h 4895573"/>
              <a:gd name="connsiteX8" fmla="*/ 1442375 w 1442375"/>
              <a:gd name="connsiteY8" fmla="*/ 4895573 h 4895573"/>
              <a:gd name="connsiteX9" fmla="*/ 1440503 w 1442375"/>
              <a:gd name="connsiteY9" fmla="*/ 4895068 h 4895573"/>
              <a:gd name="connsiteX10" fmla="*/ 719912 w 1442375"/>
              <a:gd name="connsiteY10" fmla="*/ 4822712 h 4895573"/>
              <a:gd name="connsiteX11" fmla="*/ 346820 w 1442375"/>
              <a:gd name="connsiteY11" fmla="*/ 4841418 h 4895573"/>
              <a:gd name="connsiteX12" fmla="*/ 0 w 1442375"/>
              <a:gd name="connsiteY12" fmla="*/ 4894963 h 4895573"/>
              <a:gd name="connsiteX13" fmla="*/ 56035 w 1442375"/>
              <a:gd name="connsiteY13" fmla="*/ 4627575 h 4895573"/>
              <a:gd name="connsiteX14" fmla="*/ 401261 w 1442375"/>
              <a:gd name="connsiteY14" fmla="*/ 1370860 h 4895573"/>
              <a:gd name="connsiteX15" fmla="*/ 411838 w 1442375"/>
              <a:gd name="connsiteY15" fmla="*/ 761898 h 4895573"/>
              <a:gd name="connsiteX16" fmla="*/ 76800 w 1442375"/>
              <a:gd name="connsiteY16" fmla="*/ 761898 h 4895573"/>
              <a:gd name="connsiteX17" fmla="*/ 95239 w 1442375"/>
              <a:gd name="connsiteY17" fmla="*/ 746211 h 4895573"/>
              <a:gd name="connsiteX18" fmla="*/ 334814 w 1442375"/>
              <a:gd name="connsiteY18" fmla="*/ 508150 h 4895573"/>
              <a:gd name="connsiteX19" fmla="*/ 706434 w 1442375"/>
              <a:gd name="connsiteY19" fmla="*/ 17331 h 4895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2375" h="4895573">
                <a:moveTo>
                  <a:pt x="715286" y="0"/>
                </a:moveTo>
                <a:lnTo>
                  <a:pt x="724632" y="17942"/>
                </a:lnTo>
                <a:cubicBezTo>
                  <a:pt x="805384" y="157108"/>
                  <a:pt x="936948" y="330709"/>
                  <a:pt x="1100184" y="505758"/>
                </a:cubicBezTo>
                <a:cubicBezTo>
                  <a:pt x="1181802" y="593283"/>
                  <a:pt x="1263611" y="672883"/>
                  <a:pt x="1341665" y="741886"/>
                </a:cubicBezTo>
                <a:lnTo>
                  <a:pt x="1365576" y="761898"/>
                </a:lnTo>
                <a:lnTo>
                  <a:pt x="1036015" y="761898"/>
                </a:lnTo>
                <a:lnTo>
                  <a:pt x="1047097" y="1400028"/>
                </a:lnTo>
                <a:cubicBezTo>
                  <a:pt x="1089329" y="2609381"/>
                  <a:pt x="1213800" y="3729888"/>
                  <a:pt x="1392323" y="4656743"/>
                </a:cubicBezTo>
                <a:lnTo>
                  <a:pt x="1442375" y="4895573"/>
                </a:lnTo>
                <a:lnTo>
                  <a:pt x="1440503" y="4895068"/>
                </a:lnTo>
                <a:cubicBezTo>
                  <a:pt x="1219022" y="4848477"/>
                  <a:pt x="975517" y="4822712"/>
                  <a:pt x="719912" y="4822712"/>
                </a:cubicBezTo>
                <a:cubicBezTo>
                  <a:pt x="592109" y="4822712"/>
                  <a:pt x="467333" y="4829153"/>
                  <a:pt x="346820" y="4841418"/>
                </a:cubicBezTo>
                <a:lnTo>
                  <a:pt x="0" y="4894963"/>
                </a:lnTo>
                <a:lnTo>
                  <a:pt x="56035" y="4627575"/>
                </a:lnTo>
                <a:cubicBezTo>
                  <a:pt x="234559" y="3700720"/>
                  <a:pt x="359030" y="2580213"/>
                  <a:pt x="401261" y="1370860"/>
                </a:cubicBezTo>
                <a:lnTo>
                  <a:pt x="411838" y="761898"/>
                </a:lnTo>
                <a:lnTo>
                  <a:pt x="76800" y="761898"/>
                </a:lnTo>
                <a:lnTo>
                  <a:pt x="95239" y="746211"/>
                </a:lnTo>
                <a:cubicBezTo>
                  <a:pt x="172736" y="676584"/>
                  <a:pt x="253902" y="596328"/>
                  <a:pt x="334814" y="508150"/>
                </a:cubicBezTo>
                <a:cubicBezTo>
                  <a:pt x="496638" y="331795"/>
                  <a:pt x="626803" y="157142"/>
                  <a:pt x="706434" y="17331"/>
                </a:cubicBezTo>
                <a:close/>
              </a:path>
            </a:pathLst>
          </a:custGeom>
          <a:gradFill flip="none" rotWithShape="1">
            <a:gsLst>
              <a:gs pos="0">
                <a:srgbClr val="3855CB">
                  <a:alpha val="0"/>
                </a:srgbClr>
              </a:gs>
              <a:gs pos="55000">
                <a:srgbClr val="3855CB">
                  <a:alpha val="50000"/>
                </a:srgbClr>
              </a:gs>
              <a:gs pos="100000">
                <a:srgbClr val="3855CB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: 圆角 8"/>
          <p:cNvSpPr/>
          <p:nvPr/>
        </p:nvSpPr>
        <p:spPr>
          <a:xfrm>
            <a:off x="3916045" y="1299210"/>
            <a:ext cx="4881245" cy="5488940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5337696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智能分析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: 圆角 8"/>
          <p:cNvSpPr/>
          <p:nvPr/>
        </p:nvSpPr>
        <p:spPr>
          <a:xfrm>
            <a:off x="8956040" y="1299210"/>
            <a:ext cx="3006725" cy="5488305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矩形: 圆角 19"/>
          <p:cNvSpPr/>
          <p:nvPr/>
        </p:nvSpPr>
        <p:spPr>
          <a:xfrm>
            <a:off x="8955926" y="109890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9043035" y="1833245"/>
            <a:ext cx="3024505" cy="478155"/>
            <a:chOff x="14026" y="2919"/>
            <a:chExt cx="4763" cy="753"/>
          </a:xfrm>
        </p:grpSpPr>
        <p:sp>
          <p:nvSpPr>
            <p:cNvPr id="59" name="矩形: 圆角 37"/>
            <p:cNvSpPr/>
            <p:nvPr/>
          </p:nvSpPr>
          <p:spPr>
            <a:xfrm>
              <a:off x="14496" y="313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599" y="318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sz="1200" b="1">
                  <a:solidFill>
                    <a:schemeClr val="bg1"/>
                  </a:solidFill>
                </a:rPr>
                <a:t>五大方向</a:t>
              </a:r>
              <a:r>
                <a:rPr lang="en-US" altLang="zh-CN" sz="1200" b="1">
                  <a:solidFill>
                    <a:schemeClr val="bg1"/>
                  </a:solidFill>
                </a:rPr>
                <a:t> X </a:t>
              </a:r>
              <a:r>
                <a:rPr lang="zh-CN" altLang="en-US" sz="1200" b="1">
                  <a:solidFill>
                    <a:schemeClr val="bg1"/>
                  </a:solidFill>
                </a:rPr>
                <a:t>三层溯源，全面分析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1" name="任意多边形: 形状 1"/>
            <p:cNvSpPr/>
            <p:nvPr/>
          </p:nvSpPr>
          <p:spPr>
            <a:xfrm>
              <a:off x="14026" y="291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043149" y="2652395"/>
            <a:ext cx="3026081" cy="478155"/>
            <a:chOff x="14026" y="4314"/>
            <a:chExt cx="4765" cy="753"/>
          </a:xfrm>
        </p:grpSpPr>
        <p:sp>
          <p:nvSpPr>
            <p:cNvPr id="62" name="矩形: 圆角 37"/>
            <p:cNvSpPr/>
            <p:nvPr/>
          </p:nvSpPr>
          <p:spPr>
            <a:xfrm>
              <a:off x="14496" y="452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4599" y="4578"/>
              <a:ext cx="4192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案例条文防控资料等专项知识库检索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4" name="任意多边形: 形状 1"/>
            <p:cNvSpPr/>
            <p:nvPr/>
          </p:nvSpPr>
          <p:spPr>
            <a:xfrm>
              <a:off x="14026" y="431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9043149" y="3471545"/>
            <a:ext cx="3024811" cy="478155"/>
            <a:chOff x="14026" y="5784"/>
            <a:chExt cx="4763" cy="753"/>
          </a:xfrm>
        </p:grpSpPr>
        <p:sp>
          <p:nvSpPr>
            <p:cNvPr id="66" name="矩形: 圆角 37"/>
            <p:cNvSpPr/>
            <p:nvPr/>
          </p:nvSpPr>
          <p:spPr>
            <a:xfrm>
              <a:off x="14496" y="599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4599" y="6048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运行数据、历史事故信息深度关联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68" name="任意多边形: 形状 1"/>
            <p:cNvSpPr/>
            <p:nvPr/>
          </p:nvSpPr>
          <p:spPr>
            <a:xfrm>
              <a:off x="14026" y="578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9043149" y="4290695"/>
            <a:ext cx="3024811" cy="478155"/>
            <a:chOff x="14026" y="8051"/>
            <a:chExt cx="4763" cy="753"/>
          </a:xfrm>
        </p:grpSpPr>
        <p:sp>
          <p:nvSpPr>
            <p:cNvPr id="75" name="矩形: 圆角 37"/>
            <p:cNvSpPr/>
            <p:nvPr/>
          </p:nvSpPr>
          <p:spPr>
            <a:xfrm>
              <a:off x="14496" y="8263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4599" y="8315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结构化报告输出，内容清晰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77" name="任意多边形: 形状 1"/>
            <p:cNvSpPr/>
            <p:nvPr/>
          </p:nvSpPr>
          <p:spPr>
            <a:xfrm>
              <a:off x="14026" y="8051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043149" y="5109845"/>
            <a:ext cx="3024811" cy="478155"/>
            <a:chOff x="14026" y="9149"/>
            <a:chExt cx="4763" cy="753"/>
          </a:xfrm>
        </p:grpSpPr>
        <p:sp>
          <p:nvSpPr>
            <p:cNvPr id="78" name="矩形: 圆角 37"/>
            <p:cNvSpPr/>
            <p:nvPr/>
          </p:nvSpPr>
          <p:spPr>
            <a:xfrm>
              <a:off x="14496" y="936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4599" y="941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针对性防控管理建议输出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80" name="任意多边形: 形状 1"/>
            <p:cNvSpPr/>
            <p:nvPr/>
          </p:nvSpPr>
          <p:spPr>
            <a:xfrm>
              <a:off x="14026" y="914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矩形: 圆角 19"/>
          <p:cNvSpPr/>
          <p:nvPr/>
        </p:nvSpPr>
        <p:spPr>
          <a:xfrm>
            <a:off x="4193540" y="5563870"/>
            <a:ext cx="4427855" cy="44704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相似事故案例：事故案例对照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9043784" y="5928995"/>
            <a:ext cx="3024811" cy="478155"/>
            <a:chOff x="14026" y="9149"/>
            <a:chExt cx="4763" cy="753"/>
          </a:xfrm>
        </p:grpSpPr>
        <p:sp>
          <p:nvSpPr>
            <p:cNvPr id="54" name="矩形: 圆角 37"/>
            <p:cNvSpPr/>
            <p:nvPr/>
          </p:nvSpPr>
          <p:spPr>
            <a:xfrm>
              <a:off x="14496" y="936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4599" y="941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图片数据可选，支持事故描述驱动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57" name="任意多边形: 形状 1"/>
            <p:cNvSpPr/>
            <p:nvPr/>
          </p:nvSpPr>
          <p:spPr>
            <a:xfrm>
              <a:off x="14026" y="914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图片 22"/>
          <p:cNvPicPr/>
          <p:nvPr/>
        </p:nvPicPr>
        <p:blipFill>
          <a:blip r:embed="rId4"/>
          <a:stretch>
            <a:fillRect/>
          </a:stretch>
        </p:blipFill>
        <p:spPr>
          <a:xfrm rot="5400000">
            <a:off x="2512695" y="4584700"/>
            <a:ext cx="1282065" cy="1029970"/>
          </a:xfrm>
          <a:prstGeom prst="rect">
            <a:avLst/>
          </a:prstGeom>
        </p:spPr>
      </p:pic>
      <p:sp>
        <p:nvSpPr>
          <p:cNvPr id="24" name="矩形: 圆角 19"/>
          <p:cNvSpPr/>
          <p:nvPr/>
        </p:nvSpPr>
        <p:spPr>
          <a:xfrm>
            <a:off x="4041140" y="1638300"/>
            <a:ext cx="4579620" cy="1047115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76395" y="1712595"/>
            <a:ext cx="1623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事故概况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181475" y="1952625"/>
            <a:ext cx="4438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机组：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#1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机组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位置：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水冷壁东侧第5管排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   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时间：</a:t>
            </a:r>
            <a:r>
              <a:rPr lang="zh-CN" altLang="en-US" sz="1200">
                <a:sym typeface="+mn-ea"/>
              </a:rPr>
              <a:t>2025-03-15 14:30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078605" y="2924810"/>
            <a:ext cx="1386000" cy="1384300"/>
          </a:xfrm>
          <a:prstGeom prst="ellipse">
            <a:avLst/>
          </a:prstGeom>
          <a:solidFill>
            <a:srgbClr val="D3EDED"/>
          </a:solidFill>
          <a:ln w="6350" cap="flat" cmpd="sng" algn="ctr">
            <a:solidFill>
              <a:srgbClr val="D3EDED"/>
            </a:solidFill>
            <a:prstDash val="solid"/>
            <a:miter lim="800000"/>
          </a:ln>
        </p:spPr>
        <p:txBody>
          <a:bodyPr rtlCol="0" anchor="ctr"/>
          <a:p>
            <a:pPr algn="ctr" defTabSz="914400">
              <a:lnSpc>
                <a:spcPct val="150000"/>
              </a:lnSpc>
            </a:pPr>
            <a:endParaRPr lang="zh-CN" altLang="en-US" sz="1600" dirty="0">
              <a:solidFill>
                <a:srgbClr val="08519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078605" y="3452495"/>
            <a:ext cx="1386000" cy="1384300"/>
          </a:xfrm>
          <a:prstGeom prst="ellipse">
            <a:avLst/>
          </a:prstGeom>
          <a:solidFill>
            <a:srgbClr val="F6EBCC"/>
          </a:solidFill>
          <a:ln w="6350" cap="flat" cmpd="sng" algn="ctr">
            <a:solidFill>
              <a:srgbClr val="F6EBCC"/>
            </a:solidFill>
            <a:prstDash val="solid"/>
            <a:miter lim="800000"/>
          </a:ln>
        </p:spPr>
        <p:txBody>
          <a:bodyPr rtlCol="0" anchor="ctr"/>
          <a:p>
            <a:pPr algn="ctr" defTabSz="914400">
              <a:lnSpc>
                <a:spcPct val="150000"/>
              </a:lnSpc>
            </a:pPr>
            <a:endParaRPr lang="zh-CN" altLang="en-US" sz="1600" dirty="0">
              <a:solidFill>
                <a:srgbClr val="08519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078605" y="4044315"/>
            <a:ext cx="1386000" cy="1384300"/>
          </a:xfrm>
          <a:prstGeom prst="ellipse">
            <a:avLst/>
          </a:prstGeom>
          <a:solidFill>
            <a:srgbClr val="F3C2C3"/>
          </a:solidFill>
          <a:ln w="6350" cap="flat" cmpd="sng" algn="ctr">
            <a:solidFill>
              <a:srgbClr val="F3C2C3"/>
            </a:solidFill>
            <a:prstDash val="solid"/>
            <a:miter lim="800000"/>
          </a:ln>
        </p:spPr>
        <p:txBody>
          <a:bodyPr rtlCol="0" anchor="ctr"/>
          <a:p>
            <a:pPr algn="ctr" defTabSz="914400">
              <a:lnSpc>
                <a:spcPct val="150000"/>
              </a:lnSpc>
            </a:pPr>
            <a:endParaRPr lang="zh-CN" altLang="en-US" sz="1600" dirty="0">
              <a:solidFill>
                <a:srgbClr val="08519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218940" y="2980690"/>
            <a:ext cx="1042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rgbClr val="2FC1C3"/>
                </a:solidFill>
              </a:rPr>
              <a:t>根因</a:t>
            </a:r>
            <a:endParaRPr lang="zh-CN" altLang="en-US" sz="1200">
              <a:solidFill>
                <a:srgbClr val="2FC1C3"/>
              </a:solidFill>
            </a:endParaRPr>
          </a:p>
          <a:p>
            <a:pPr algn="ctr"/>
            <a:r>
              <a:rPr lang="zh-CN" altLang="en-US" sz="1200">
                <a:solidFill>
                  <a:srgbClr val="2FC1C3"/>
                </a:solidFill>
              </a:rPr>
              <a:t>（深层原因）</a:t>
            </a:r>
            <a:endParaRPr lang="zh-CN" altLang="en-US" sz="1200">
              <a:solidFill>
                <a:srgbClr val="2FC1C3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231640" y="3580765"/>
            <a:ext cx="1042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accent2"/>
                </a:solidFill>
              </a:rPr>
              <a:t>中期原因</a:t>
            </a:r>
            <a:endParaRPr lang="zh-CN" altLang="en-US" sz="1200">
              <a:solidFill>
                <a:schemeClr val="accent2"/>
              </a:solidFill>
            </a:endParaRPr>
          </a:p>
          <a:p>
            <a:pPr algn="ctr"/>
            <a:r>
              <a:rPr lang="zh-CN" altLang="en-US" sz="1200">
                <a:solidFill>
                  <a:schemeClr val="accent2"/>
                </a:solidFill>
              </a:rPr>
              <a:t>（长期原因）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079240" y="4415790"/>
            <a:ext cx="13862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rgbClr val="E15962"/>
                </a:solidFill>
              </a:rPr>
              <a:t>直接原因</a:t>
            </a:r>
            <a:endParaRPr lang="zh-CN" altLang="en-US" sz="1200">
              <a:solidFill>
                <a:srgbClr val="E15962"/>
              </a:solidFill>
            </a:endParaRPr>
          </a:p>
          <a:p>
            <a:pPr algn="ctr"/>
            <a:r>
              <a:rPr lang="zh-CN" altLang="en-US" sz="1200">
                <a:solidFill>
                  <a:srgbClr val="E15962"/>
                </a:solidFill>
              </a:rPr>
              <a:t>（直接触发因素）</a:t>
            </a:r>
            <a:endParaRPr lang="zh-CN" altLang="en-US" sz="1200">
              <a:solidFill>
                <a:srgbClr val="E15962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708650" y="3429635"/>
            <a:ext cx="309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三层溯源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434455" y="3435350"/>
            <a:ext cx="309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五大方向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89" name="图片 88" descr="智能归类-推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085" y="4407535"/>
            <a:ext cx="636905" cy="636905"/>
          </a:xfrm>
          <a:prstGeom prst="rect">
            <a:avLst/>
          </a:prstGeom>
        </p:spPr>
      </p:pic>
      <p:sp>
        <p:nvSpPr>
          <p:cNvPr id="90" name="文本框 89"/>
          <p:cNvSpPr txBox="1"/>
          <p:nvPr/>
        </p:nvSpPr>
        <p:spPr>
          <a:xfrm>
            <a:off x="6116320" y="3836035"/>
            <a:ext cx="410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X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207885" y="3124835"/>
            <a:ext cx="1283335" cy="1720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90000"/>
              </a:lnSpc>
            </a:pPr>
            <a:r>
              <a:rPr lang="zh-CN" altLang="en-US" sz="1200">
                <a:solidFill>
                  <a:schemeClr val="accent1"/>
                </a:solidFill>
                <a:sym typeface="+mn-ea"/>
              </a:rPr>
              <a:t>设计制造</a:t>
            </a:r>
            <a:endParaRPr lang="zh-CN" altLang="en-US" sz="1200">
              <a:solidFill>
                <a:schemeClr val="accent1"/>
              </a:solidFill>
              <a:sym typeface="+mn-ea"/>
            </a:endParaRPr>
          </a:p>
          <a:p>
            <a:pPr algn="ctr">
              <a:lnSpc>
                <a:spcPct val="190000"/>
              </a:lnSpc>
            </a:pPr>
            <a:r>
              <a:rPr lang="zh-CN" altLang="en-US" sz="1200">
                <a:solidFill>
                  <a:schemeClr val="accent1"/>
                </a:solidFill>
                <a:sym typeface="+mn-ea"/>
              </a:rPr>
              <a:t>安装检修</a:t>
            </a:r>
            <a:endParaRPr lang="zh-CN" altLang="en-US" sz="1200">
              <a:solidFill>
                <a:schemeClr val="accent1"/>
              </a:solidFill>
              <a:sym typeface="+mn-ea"/>
            </a:endParaRPr>
          </a:p>
          <a:p>
            <a:pPr algn="ctr">
              <a:lnSpc>
                <a:spcPct val="190000"/>
              </a:lnSpc>
            </a:pPr>
            <a:r>
              <a:rPr lang="zh-CN" altLang="en-US" sz="1200">
                <a:solidFill>
                  <a:schemeClr val="accent1"/>
                </a:solidFill>
                <a:sym typeface="+mn-ea"/>
              </a:rPr>
              <a:t>运行操作</a:t>
            </a:r>
            <a:endParaRPr lang="zh-CN" altLang="en-US" sz="1200">
              <a:solidFill>
                <a:schemeClr val="accent1"/>
              </a:solidFill>
              <a:sym typeface="+mn-ea"/>
            </a:endParaRPr>
          </a:p>
          <a:p>
            <a:pPr algn="ctr">
              <a:lnSpc>
                <a:spcPct val="190000"/>
              </a:lnSpc>
            </a:pPr>
            <a:r>
              <a:rPr lang="zh-CN" altLang="en-US" sz="1200">
                <a:solidFill>
                  <a:schemeClr val="accent1"/>
                </a:solidFill>
                <a:sym typeface="+mn-ea"/>
              </a:rPr>
              <a:t>燃料品质</a:t>
            </a:r>
            <a:endParaRPr lang="zh-CN" altLang="en-US" sz="1200">
              <a:solidFill>
                <a:schemeClr val="accent1"/>
              </a:solidFill>
              <a:sym typeface="+mn-ea"/>
            </a:endParaRPr>
          </a:p>
          <a:p>
            <a:pPr algn="ctr">
              <a:lnSpc>
                <a:spcPct val="190000"/>
              </a:lnSpc>
            </a:pPr>
            <a:r>
              <a:rPr lang="zh-CN" altLang="en-US" sz="1200">
                <a:solidFill>
                  <a:schemeClr val="accent1"/>
                </a:solidFill>
                <a:sym typeface="+mn-ea"/>
              </a:rPr>
              <a:t>外部环境</a:t>
            </a:r>
            <a:endParaRPr lang="zh-CN" altLang="en-US" sz="1200">
              <a:solidFill>
                <a:schemeClr val="accent1"/>
              </a:solidFill>
              <a:sym typeface="+mn-ea"/>
            </a:endParaRPr>
          </a:p>
          <a:p>
            <a:endParaRPr lang="zh-CN" altLang="en-US" sz="1200"/>
          </a:p>
        </p:txBody>
      </p:sp>
      <p:sp>
        <p:nvSpPr>
          <p:cNvPr id="94" name="矩形: 圆角 19"/>
          <p:cNvSpPr/>
          <p:nvPr/>
        </p:nvSpPr>
        <p:spPr>
          <a:xfrm>
            <a:off x="4193540" y="6137910"/>
            <a:ext cx="4427855" cy="44704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防控建议：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规程条文引用、运行防控建议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矩形: 圆角 19"/>
          <p:cNvSpPr/>
          <p:nvPr/>
        </p:nvSpPr>
        <p:spPr>
          <a:xfrm>
            <a:off x="517525" y="2558415"/>
            <a:ext cx="3053715" cy="130556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516890" y="5393055"/>
            <a:ext cx="3053715" cy="130680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核心能力四：非结构化报告解析</a:t>
            </a:r>
            <a:endParaRPr lang="zh-CN" altLang="en-US"/>
          </a:p>
        </p:txBody>
      </p:sp>
      <p:sp>
        <p:nvSpPr>
          <p:cNvPr id="7" name="矩形: 圆角 8"/>
          <p:cNvSpPr/>
          <p:nvPr/>
        </p:nvSpPr>
        <p:spPr>
          <a:xfrm>
            <a:off x="1017905" y="1099185"/>
            <a:ext cx="7723505" cy="67056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12620" y="1124585"/>
            <a:ext cx="68294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200"/>
              <a:t>将非结构化的检修报告自动转化为标准化、可入库的缺陷记录</a:t>
            </a:r>
            <a:r>
              <a:rPr lang="en-US" altLang="zh-CN" sz="1200"/>
              <a:t>。</a:t>
            </a:r>
            <a:r>
              <a:rPr lang="zh-CN" altLang="en-US" sz="1200"/>
              <a:t>系统对测厚报告、缺陷处置报告、换管记录、金属检验报告等各类检修文档，智能自动解析并结构化落库。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855" y="2731770"/>
            <a:ext cx="314325" cy="304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55" y="5492115"/>
            <a:ext cx="276225" cy="304800"/>
          </a:xfrm>
          <a:prstGeom prst="rect">
            <a:avLst/>
          </a:prstGeom>
        </p:spPr>
      </p:pic>
      <p:sp>
        <p:nvSpPr>
          <p:cNvPr id="9" name="矩形: 圆角 8"/>
          <p:cNvSpPr/>
          <p:nvPr/>
        </p:nvSpPr>
        <p:spPr>
          <a:xfrm>
            <a:off x="327660" y="2053590"/>
            <a:ext cx="3433445" cy="4734560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19"/>
          <p:cNvSpPr/>
          <p:nvPr/>
        </p:nvSpPr>
        <p:spPr>
          <a:xfrm>
            <a:off x="377076" y="192059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: 圆角 19"/>
          <p:cNvSpPr/>
          <p:nvPr/>
        </p:nvSpPr>
        <p:spPr>
          <a:xfrm>
            <a:off x="517525" y="3989070"/>
            <a:ext cx="3053715" cy="1306800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8"/>
          <p:cNvSpPr/>
          <p:nvPr/>
        </p:nvSpPr>
        <p:spPr>
          <a:xfrm>
            <a:off x="3949700" y="2052955"/>
            <a:ext cx="4791075" cy="4734560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19"/>
          <p:cNvSpPr/>
          <p:nvPr/>
        </p:nvSpPr>
        <p:spPr>
          <a:xfrm>
            <a:off x="4008641" y="192059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解析流程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520" y="2617470"/>
            <a:ext cx="942975" cy="1143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570" y="4043680"/>
            <a:ext cx="1000125" cy="11049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8570" y="5465445"/>
            <a:ext cx="923925" cy="962025"/>
          </a:xfrm>
          <a:prstGeom prst="rect">
            <a:avLst/>
          </a:prstGeom>
        </p:spPr>
      </p:pic>
      <p:sp>
        <p:nvSpPr>
          <p:cNvPr id="18" name="矩形: 圆角 19"/>
          <p:cNvSpPr/>
          <p:nvPr/>
        </p:nvSpPr>
        <p:spPr>
          <a:xfrm>
            <a:off x="327660" y="1063625"/>
            <a:ext cx="1523365" cy="706120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应用介绍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30" y="4170045"/>
            <a:ext cx="285750" cy="29527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989330" y="2749550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Word</a:t>
            </a: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检修报告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89330" y="4201795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扫描</a:t>
            </a:r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PDF</a:t>
            </a: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检修报告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89330" y="5551805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带颜色标注表格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6140" y="3013710"/>
            <a:ext cx="1534795" cy="802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上传检修 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 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报告，自动抽取缺陷位置、类型、壁厚、检测方法等字段。</a:t>
            </a: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32180" y="4465320"/>
            <a:ext cx="1469390" cy="802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解析后，准确提取文本与表格内容。</a:t>
            </a: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32180" y="5819775"/>
            <a:ext cx="1468120" cy="802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带颜色标注的检测表格，按单元格颜色校正检测类型，提升抽取准确率。</a:t>
            </a: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8015" y="2585720"/>
            <a:ext cx="457200" cy="4381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0390" y="3456305"/>
            <a:ext cx="504825" cy="4667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8490" y="4355465"/>
            <a:ext cx="457200" cy="42862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8490" y="5216525"/>
            <a:ext cx="438150" cy="44767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1"/>
          <a:srcRect l="19104" r="20896"/>
          <a:stretch>
            <a:fillRect/>
          </a:stretch>
        </p:blipFill>
        <p:spPr>
          <a:xfrm>
            <a:off x="5725160" y="6096635"/>
            <a:ext cx="382905" cy="533400"/>
          </a:xfrm>
          <a:prstGeom prst="rect">
            <a:avLst/>
          </a:prstGeom>
        </p:spPr>
      </p:pic>
      <p:sp>
        <p:nvSpPr>
          <p:cNvPr id="45" name="箭头: 右 44"/>
          <p:cNvSpPr/>
          <p:nvPr/>
        </p:nvSpPr>
        <p:spPr>
          <a:xfrm rot="5400000">
            <a:off x="5845175" y="3213735"/>
            <a:ext cx="183515" cy="139065"/>
          </a:xfrm>
          <a:prstGeom prst="rightArrow">
            <a:avLst>
              <a:gd name="adj1" fmla="val 50000"/>
              <a:gd name="adj2" fmla="val 70319"/>
            </a:avLst>
          </a:prstGeom>
          <a:gradFill>
            <a:gsLst>
              <a:gs pos="0">
                <a:schemeClr val="accent1"/>
              </a:gs>
              <a:gs pos="4000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>
            <a:outerShdw blurRad="254000" dist="2540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箭头: 右 44"/>
          <p:cNvSpPr/>
          <p:nvPr/>
        </p:nvSpPr>
        <p:spPr>
          <a:xfrm rot="5400000">
            <a:off x="5845175" y="4086860"/>
            <a:ext cx="183515" cy="139065"/>
          </a:xfrm>
          <a:prstGeom prst="rightArrow">
            <a:avLst>
              <a:gd name="adj1" fmla="val 50000"/>
              <a:gd name="adj2" fmla="val 70319"/>
            </a:avLst>
          </a:prstGeom>
          <a:gradFill>
            <a:gsLst>
              <a:gs pos="0">
                <a:schemeClr val="accent1"/>
              </a:gs>
              <a:gs pos="4000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>
            <a:outerShdw blurRad="254000" dist="2540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箭头: 右 44"/>
          <p:cNvSpPr/>
          <p:nvPr/>
        </p:nvSpPr>
        <p:spPr>
          <a:xfrm rot="5400000">
            <a:off x="5845175" y="4959985"/>
            <a:ext cx="183515" cy="139065"/>
          </a:xfrm>
          <a:prstGeom prst="rightArrow">
            <a:avLst>
              <a:gd name="adj1" fmla="val 50000"/>
              <a:gd name="adj2" fmla="val 70319"/>
            </a:avLst>
          </a:prstGeom>
          <a:gradFill>
            <a:gsLst>
              <a:gs pos="0">
                <a:schemeClr val="accent1"/>
              </a:gs>
              <a:gs pos="4000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>
            <a:outerShdw blurRad="254000" dist="2540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箭头: 右 44"/>
          <p:cNvSpPr/>
          <p:nvPr/>
        </p:nvSpPr>
        <p:spPr>
          <a:xfrm rot="5400000">
            <a:off x="5845175" y="5833110"/>
            <a:ext cx="183515" cy="139065"/>
          </a:xfrm>
          <a:prstGeom prst="rightArrow">
            <a:avLst>
              <a:gd name="adj1" fmla="val 50000"/>
              <a:gd name="adj2" fmla="val 70319"/>
            </a:avLst>
          </a:prstGeom>
          <a:gradFill>
            <a:gsLst>
              <a:gs pos="0">
                <a:schemeClr val="accent1"/>
              </a:gs>
              <a:gs pos="4000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>
            <a:outerShdw blurRad="254000" dist="2540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018280" y="2724150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449060" y="2724150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Word/PDF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018280" y="3622040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文档解析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018280" y="4523740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信息抽取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18280" y="5368925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校验归一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018280" y="6243955"/>
            <a:ext cx="1623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结构化输出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449060" y="3622040"/>
            <a:ext cx="20447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智能解析版面，提取文字与表格</a:t>
            </a:r>
            <a:endParaRPr lang="zh-CN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449060" y="4523740"/>
            <a:ext cx="23056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识别并抽取关键信息，结构化处理</a:t>
            </a:r>
            <a:endParaRPr lang="zh-CN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449060" y="5356860"/>
            <a:ext cx="20453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规则校验与归一，确保数据质量</a:t>
            </a:r>
            <a:endParaRPr lang="zh-CN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49060" y="6243955"/>
            <a:ext cx="20427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JSON</a:t>
            </a: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输出，可直接入库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: 形状 50"/>
          <p:cNvSpPr/>
          <p:nvPr/>
        </p:nvSpPr>
        <p:spPr>
          <a:xfrm rot="10800000" flipV="1">
            <a:off x="4210590" y="3028950"/>
            <a:ext cx="4320000" cy="97155"/>
          </a:xfrm>
          <a:custGeom>
            <a:avLst/>
            <a:gdLst>
              <a:gd name="connsiteX0" fmla="*/ 0 w 8780016"/>
              <a:gd name="connsiteY0" fmla="*/ 35510 h 232949"/>
              <a:gd name="connsiteX1" fmla="*/ 1589103 w 8780016"/>
              <a:gd name="connsiteY1" fmla="*/ 159798 h 232949"/>
              <a:gd name="connsiteX2" fmla="*/ 3400148 w 8780016"/>
              <a:gd name="connsiteY2" fmla="*/ 213064 h 232949"/>
              <a:gd name="connsiteX3" fmla="*/ 5202315 w 8780016"/>
              <a:gd name="connsiteY3" fmla="*/ 230819 h 232949"/>
              <a:gd name="connsiteX4" fmla="*/ 6995604 w 8780016"/>
              <a:gd name="connsiteY4" fmla="*/ 168675 h 232949"/>
              <a:gd name="connsiteX5" fmla="*/ 8780016 w 8780016"/>
              <a:gd name="connsiteY5" fmla="*/ 0 h 232949"/>
              <a:gd name="connsiteX6" fmla="*/ 8780016 w 8780016"/>
              <a:gd name="connsiteY6" fmla="*/ 0 h 23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80016" h="232949">
                <a:moveTo>
                  <a:pt x="0" y="35510"/>
                </a:moveTo>
                <a:cubicBezTo>
                  <a:pt x="511206" y="82858"/>
                  <a:pt x="1022412" y="130206"/>
                  <a:pt x="1589103" y="159798"/>
                </a:cubicBezTo>
                <a:cubicBezTo>
                  <a:pt x="2155794" y="189390"/>
                  <a:pt x="3400148" y="213064"/>
                  <a:pt x="3400148" y="213064"/>
                </a:cubicBezTo>
                <a:cubicBezTo>
                  <a:pt x="4002350" y="224901"/>
                  <a:pt x="4603072" y="238217"/>
                  <a:pt x="5202315" y="230819"/>
                </a:cubicBezTo>
                <a:cubicBezTo>
                  <a:pt x="5801558" y="223421"/>
                  <a:pt x="6399321" y="207145"/>
                  <a:pt x="6995604" y="168675"/>
                </a:cubicBezTo>
                <a:cubicBezTo>
                  <a:pt x="7591887" y="130205"/>
                  <a:pt x="8780016" y="0"/>
                  <a:pt x="8780016" y="0"/>
                </a:cubicBezTo>
                <a:lnTo>
                  <a:pt x="8780016" y="0"/>
                </a:lnTo>
              </a:path>
            </a:pathLst>
          </a:custGeom>
          <a:noFill/>
          <a:ln w="9525">
            <a:solidFill>
              <a:srgbClr val="2E55A2"/>
            </a:solidFill>
            <a:prstDash val="dash"/>
          </a:ln>
          <a:effectLst>
            <a:outerShdw blurRad="38100" dist="127000" dir="16200000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: 形状 50"/>
          <p:cNvSpPr/>
          <p:nvPr/>
        </p:nvSpPr>
        <p:spPr>
          <a:xfrm rot="10800000" flipV="1">
            <a:off x="4210590" y="3914775"/>
            <a:ext cx="4320000" cy="97155"/>
          </a:xfrm>
          <a:custGeom>
            <a:avLst/>
            <a:gdLst>
              <a:gd name="connsiteX0" fmla="*/ 0 w 8780016"/>
              <a:gd name="connsiteY0" fmla="*/ 35510 h 232949"/>
              <a:gd name="connsiteX1" fmla="*/ 1589103 w 8780016"/>
              <a:gd name="connsiteY1" fmla="*/ 159798 h 232949"/>
              <a:gd name="connsiteX2" fmla="*/ 3400148 w 8780016"/>
              <a:gd name="connsiteY2" fmla="*/ 213064 h 232949"/>
              <a:gd name="connsiteX3" fmla="*/ 5202315 w 8780016"/>
              <a:gd name="connsiteY3" fmla="*/ 230819 h 232949"/>
              <a:gd name="connsiteX4" fmla="*/ 6995604 w 8780016"/>
              <a:gd name="connsiteY4" fmla="*/ 168675 h 232949"/>
              <a:gd name="connsiteX5" fmla="*/ 8780016 w 8780016"/>
              <a:gd name="connsiteY5" fmla="*/ 0 h 232949"/>
              <a:gd name="connsiteX6" fmla="*/ 8780016 w 8780016"/>
              <a:gd name="connsiteY6" fmla="*/ 0 h 23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80016" h="232949">
                <a:moveTo>
                  <a:pt x="0" y="35510"/>
                </a:moveTo>
                <a:cubicBezTo>
                  <a:pt x="511206" y="82858"/>
                  <a:pt x="1022412" y="130206"/>
                  <a:pt x="1589103" y="159798"/>
                </a:cubicBezTo>
                <a:cubicBezTo>
                  <a:pt x="2155794" y="189390"/>
                  <a:pt x="3400148" y="213064"/>
                  <a:pt x="3400148" y="213064"/>
                </a:cubicBezTo>
                <a:cubicBezTo>
                  <a:pt x="4002350" y="224901"/>
                  <a:pt x="4603072" y="238217"/>
                  <a:pt x="5202315" y="230819"/>
                </a:cubicBezTo>
                <a:cubicBezTo>
                  <a:pt x="5801558" y="223421"/>
                  <a:pt x="6399321" y="207145"/>
                  <a:pt x="6995604" y="168675"/>
                </a:cubicBezTo>
                <a:cubicBezTo>
                  <a:pt x="7591887" y="130205"/>
                  <a:pt x="8780016" y="0"/>
                  <a:pt x="8780016" y="0"/>
                </a:cubicBezTo>
                <a:lnTo>
                  <a:pt x="8780016" y="0"/>
                </a:lnTo>
              </a:path>
            </a:pathLst>
          </a:custGeom>
          <a:noFill/>
          <a:ln w="9525">
            <a:solidFill>
              <a:srgbClr val="2E55A2"/>
            </a:solidFill>
            <a:prstDash val="dash"/>
          </a:ln>
          <a:effectLst>
            <a:outerShdw blurRad="38100" dist="127000" dir="16200000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: 形状 50"/>
          <p:cNvSpPr/>
          <p:nvPr/>
        </p:nvSpPr>
        <p:spPr>
          <a:xfrm rot="10800000" flipV="1">
            <a:off x="4210590" y="4768850"/>
            <a:ext cx="4320000" cy="97155"/>
          </a:xfrm>
          <a:custGeom>
            <a:avLst/>
            <a:gdLst>
              <a:gd name="connsiteX0" fmla="*/ 0 w 8780016"/>
              <a:gd name="connsiteY0" fmla="*/ 35510 h 232949"/>
              <a:gd name="connsiteX1" fmla="*/ 1589103 w 8780016"/>
              <a:gd name="connsiteY1" fmla="*/ 159798 h 232949"/>
              <a:gd name="connsiteX2" fmla="*/ 3400148 w 8780016"/>
              <a:gd name="connsiteY2" fmla="*/ 213064 h 232949"/>
              <a:gd name="connsiteX3" fmla="*/ 5202315 w 8780016"/>
              <a:gd name="connsiteY3" fmla="*/ 230819 h 232949"/>
              <a:gd name="connsiteX4" fmla="*/ 6995604 w 8780016"/>
              <a:gd name="connsiteY4" fmla="*/ 168675 h 232949"/>
              <a:gd name="connsiteX5" fmla="*/ 8780016 w 8780016"/>
              <a:gd name="connsiteY5" fmla="*/ 0 h 232949"/>
              <a:gd name="connsiteX6" fmla="*/ 8780016 w 8780016"/>
              <a:gd name="connsiteY6" fmla="*/ 0 h 23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80016" h="232949">
                <a:moveTo>
                  <a:pt x="0" y="35510"/>
                </a:moveTo>
                <a:cubicBezTo>
                  <a:pt x="511206" y="82858"/>
                  <a:pt x="1022412" y="130206"/>
                  <a:pt x="1589103" y="159798"/>
                </a:cubicBezTo>
                <a:cubicBezTo>
                  <a:pt x="2155794" y="189390"/>
                  <a:pt x="3400148" y="213064"/>
                  <a:pt x="3400148" y="213064"/>
                </a:cubicBezTo>
                <a:cubicBezTo>
                  <a:pt x="4002350" y="224901"/>
                  <a:pt x="4603072" y="238217"/>
                  <a:pt x="5202315" y="230819"/>
                </a:cubicBezTo>
                <a:cubicBezTo>
                  <a:pt x="5801558" y="223421"/>
                  <a:pt x="6399321" y="207145"/>
                  <a:pt x="6995604" y="168675"/>
                </a:cubicBezTo>
                <a:cubicBezTo>
                  <a:pt x="7591887" y="130205"/>
                  <a:pt x="8780016" y="0"/>
                  <a:pt x="8780016" y="0"/>
                </a:cubicBezTo>
                <a:lnTo>
                  <a:pt x="8780016" y="0"/>
                </a:lnTo>
              </a:path>
            </a:pathLst>
          </a:custGeom>
          <a:noFill/>
          <a:ln w="9525">
            <a:solidFill>
              <a:srgbClr val="2E55A2"/>
            </a:solidFill>
            <a:prstDash val="dash"/>
          </a:ln>
          <a:effectLst>
            <a:outerShdw blurRad="38100" dist="127000" dir="16200000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: 形状 50"/>
          <p:cNvSpPr/>
          <p:nvPr/>
        </p:nvSpPr>
        <p:spPr>
          <a:xfrm rot="10800000" flipV="1">
            <a:off x="4210590" y="5658485"/>
            <a:ext cx="4320000" cy="97155"/>
          </a:xfrm>
          <a:custGeom>
            <a:avLst/>
            <a:gdLst>
              <a:gd name="connsiteX0" fmla="*/ 0 w 8780016"/>
              <a:gd name="connsiteY0" fmla="*/ 35510 h 232949"/>
              <a:gd name="connsiteX1" fmla="*/ 1589103 w 8780016"/>
              <a:gd name="connsiteY1" fmla="*/ 159798 h 232949"/>
              <a:gd name="connsiteX2" fmla="*/ 3400148 w 8780016"/>
              <a:gd name="connsiteY2" fmla="*/ 213064 h 232949"/>
              <a:gd name="connsiteX3" fmla="*/ 5202315 w 8780016"/>
              <a:gd name="connsiteY3" fmla="*/ 230819 h 232949"/>
              <a:gd name="connsiteX4" fmla="*/ 6995604 w 8780016"/>
              <a:gd name="connsiteY4" fmla="*/ 168675 h 232949"/>
              <a:gd name="connsiteX5" fmla="*/ 8780016 w 8780016"/>
              <a:gd name="connsiteY5" fmla="*/ 0 h 232949"/>
              <a:gd name="connsiteX6" fmla="*/ 8780016 w 8780016"/>
              <a:gd name="connsiteY6" fmla="*/ 0 h 23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80016" h="232949">
                <a:moveTo>
                  <a:pt x="0" y="35510"/>
                </a:moveTo>
                <a:cubicBezTo>
                  <a:pt x="511206" y="82858"/>
                  <a:pt x="1022412" y="130206"/>
                  <a:pt x="1589103" y="159798"/>
                </a:cubicBezTo>
                <a:cubicBezTo>
                  <a:pt x="2155794" y="189390"/>
                  <a:pt x="3400148" y="213064"/>
                  <a:pt x="3400148" y="213064"/>
                </a:cubicBezTo>
                <a:cubicBezTo>
                  <a:pt x="4002350" y="224901"/>
                  <a:pt x="4603072" y="238217"/>
                  <a:pt x="5202315" y="230819"/>
                </a:cubicBezTo>
                <a:cubicBezTo>
                  <a:pt x="5801558" y="223421"/>
                  <a:pt x="6399321" y="207145"/>
                  <a:pt x="6995604" y="168675"/>
                </a:cubicBezTo>
                <a:cubicBezTo>
                  <a:pt x="7591887" y="130205"/>
                  <a:pt x="8780016" y="0"/>
                  <a:pt x="8780016" y="0"/>
                </a:cubicBezTo>
                <a:lnTo>
                  <a:pt x="8780016" y="0"/>
                </a:lnTo>
              </a:path>
            </a:pathLst>
          </a:custGeom>
          <a:noFill/>
          <a:ln w="9525">
            <a:solidFill>
              <a:srgbClr val="2E55A2"/>
            </a:solidFill>
            <a:prstDash val="dash"/>
          </a:ln>
          <a:effectLst>
            <a:outerShdw blurRad="38100" dist="127000" dir="16200000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: 形状 50"/>
          <p:cNvSpPr/>
          <p:nvPr/>
        </p:nvSpPr>
        <p:spPr>
          <a:xfrm rot="10800000" flipV="1">
            <a:off x="4210590" y="6532880"/>
            <a:ext cx="4320000" cy="97155"/>
          </a:xfrm>
          <a:custGeom>
            <a:avLst/>
            <a:gdLst>
              <a:gd name="connsiteX0" fmla="*/ 0 w 8780016"/>
              <a:gd name="connsiteY0" fmla="*/ 35510 h 232949"/>
              <a:gd name="connsiteX1" fmla="*/ 1589103 w 8780016"/>
              <a:gd name="connsiteY1" fmla="*/ 159798 h 232949"/>
              <a:gd name="connsiteX2" fmla="*/ 3400148 w 8780016"/>
              <a:gd name="connsiteY2" fmla="*/ 213064 h 232949"/>
              <a:gd name="connsiteX3" fmla="*/ 5202315 w 8780016"/>
              <a:gd name="connsiteY3" fmla="*/ 230819 h 232949"/>
              <a:gd name="connsiteX4" fmla="*/ 6995604 w 8780016"/>
              <a:gd name="connsiteY4" fmla="*/ 168675 h 232949"/>
              <a:gd name="connsiteX5" fmla="*/ 8780016 w 8780016"/>
              <a:gd name="connsiteY5" fmla="*/ 0 h 232949"/>
              <a:gd name="connsiteX6" fmla="*/ 8780016 w 8780016"/>
              <a:gd name="connsiteY6" fmla="*/ 0 h 23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80016" h="232949">
                <a:moveTo>
                  <a:pt x="0" y="35510"/>
                </a:moveTo>
                <a:cubicBezTo>
                  <a:pt x="511206" y="82858"/>
                  <a:pt x="1022412" y="130206"/>
                  <a:pt x="1589103" y="159798"/>
                </a:cubicBezTo>
                <a:cubicBezTo>
                  <a:pt x="2155794" y="189390"/>
                  <a:pt x="3400148" y="213064"/>
                  <a:pt x="3400148" y="213064"/>
                </a:cubicBezTo>
                <a:cubicBezTo>
                  <a:pt x="4002350" y="224901"/>
                  <a:pt x="4603072" y="238217"/>
                  <a:pt x="5202315" y="230819"/>
                </a:cubicBezTo>
                <a:cubicBezTo>
                  <a:pt x="5801558" y="223421"/>
                  <a:pt x="6399321" y="207145"/>
                  <a:pt x="6995604" y="168675"/>
                </a:cubicBezTo>
                <a:cubicBezTo>
                  <a:pt x="7591887" y="130205"/>
                  <a:pt x="8780016" y="0"/>
                  <a:pt x="8780016" y="0"/>
                </a:cubicBezTo>
                <a:lnTo>
                  <a:pt x="8780016" y="0"/>
                </a:lnTo>
              </a:path>
            </a:pathLst>
          </a:custGeom>
          <a:noFill/>
          <a:ln w="9525">
            <a:solidFill>
              <a:srgbClr val="2E55A2"/>
            </a:solidFill>
            <a:prstDash val="dash"/>
          </a:ln>
          <a:effectLst>
            <a:outerShdw blurRad="38100" dist="127000" dir="16200000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: 圆角 8"/>
          <p:cNvSpPr/>
          <p:nvPr/>
        </p:nvSpPr>
        <p:spPr>
          <a:xfrm>
            <a:off x="8886190" y="1099185"/>
            <a:ext cx="3196590" cy="5688330"/>
          </a:xfrm>
          <a:prstGeom prst="roundRect">
            <a:avLst>
              <a:gd name="adj" fmla="val 18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矩形: 圆角 19"/>
          <p:cNvSpPr/>
          <p:nvPr/>
        </p:nvSpPr>
        <p:spPr>
          <a:xfrm>
            <a:off x="9075941" y="974442"/>
            <a:ext cx="2023963" cy="462068"/>
          </a:xfrm>
          <a:prstGeom prst="roundRect">
            <a:avLst>
              <a:gd name="adj" fmla="val 50000"/>
            </a:avLst>
          </a:prstGeom>
          <a:solidFill>
            <a:srgbClr val="3855CB"/>
          </a:solidFill>
          <a:ln>
            <a:noFill/>
          </a:ln>
          <a:effectLst>
            <a:outerShdw blurRad="254000" sx="102000" sy="102000" algn="ctr" rotWithShape="0">
              <a:srgbClr val="3855CB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9100820" y="1575435"/>
            <a:ext cx="3024505" cy="478155"/>
            <a:chOff x="14026" y="2919"/>
            <a:chExt cx="4763" cy="753"/>
          </a:xfrm>
        </p:grpSpPr>
        <p:sp>
          <p:nvSpPr>
            <p:cNvPr id="71" name="矩形: 圆角 37"/>
            <p:cNvSpPr/>
            <p:nvPr/>
          </p:nvSpPr>
          <p:spPr>
            <a:xfrm>
              <a:off x="14496" y="313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4599" y="318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多格式文档解析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73" name="任意多边形: 形状 1"/>
            <p:cNvSpPr/>
            <p:nvPr/>
          </p:nvSpPr>
          <p:spPr>
            <a:xfrm>
              <a:off x="14026" y="291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100934" y="2567305"/>
            <a:ext cx="3024811" cy="478155"/>
            <a:chOff x="14026" y="4314"/>
            <a:chExt cx="4763" cy="753"/>
          </a:xfrm>
        </p:grpSpPr>
        <p:sp>
          <p:nvSpPr>
            <p:cNvPr id="84" name="矩形: 圆角 37"/>
            <p:cNvSpPr/>
            <p:nvPr/>
          </p:nvSpPr>
          <p:spPr>
            <a:xfrm>
              <a:off x="14496" y="452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4599" y="4578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智能信息抽取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88" name="任意多边形: 形状 1"/>
            <p:cNvSpPr/>
            <p:nvPr/>
          </p:nvSpPr>
          <p:spPr>
            <a:xfrm>
              <a:off x="14026" y="431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9100934" y="3559810"/>
            <a:ext cx="3024811" cy="478155"/>
            <a:chOff x="14026" y="5784"/>
            <a:chExt cx="4763" cy="753"/>
          </a:xfrm>
        </p:grpSpPr>
        <p:sp>
          <p:nvSpPr>
            <p:cNvPr id="90" name="矩形: 圆角 37"/>
            <p:cNvSpPr/>
            <p:nvPr/>
          </p:nvSpPr>
          <p:spPr>
            <a:xfrm>
              <a:off x="14496" y="5996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4599" y="6048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颜色语义校正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92" name="任意多边形: 形状 1"/>
            <p:cNvSpPr/>
            <p:nvPr/>
          </p:nvSpPr>
          <p:spPr>
            <a:xfrm>
              <a:off x="14026" y="5784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9100934" y="4552315"/>
            <a:ext cx="3024811" cy="478155"/>
            <a:chOff x="14026" y="8051"/>
            <a:chExt cx="4763" cy="753"/>
          </a:xfrm>
        </p:grpSpPr>
        <p:sp>
          <p:nvSpPr>
            <p:cNvPr id="94" name="矩形: 圆角 37"/>
            <p:cNvSpPr/>
            <p:nvPr/>
          </p:nvSpPr>
          <p:spPr>
            <a:xfrm>
              <a:off x="14496" y="8263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4599" y="8315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规则后处理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96" name="任意多边形: 形状 1"/>
            <p:cNvSpPr/>
            <p:nvPr/>
          </p:nvSpPr>
          <p:spPr>
            <a:xfrm>
              <a:off x="14026" y="8051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9100934" y="5544820"/>
            <a:ext cx="3024811" cy="478155"/>
            <a:chOff x="14026" y="9149"/>
            <a:chExt cx="4763" cy="753"/>
          </a:xfrm>
        </p:grpSpPr>
        <p:sp>
          <p:nvSpPr>
            <p:cNvPr id="98" name="矩形: 圆角 37"/>
            <p:cNvSpPr/>
            <p:nvPr/>
          </p:nvSpPr>
          <p:spPr>
            <a:xfrm>
              <a:off x="14496" y="9361"/>
              <a:ext cx="4293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>
                <a:latin typeface="+mn-ea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4599" y="9413"/>
              <a:ext cx="4087" cy="434"/>
            </a:xfrm>
            <a:prstGeom prst="rect">
              <a:avLst/>
            </a:prstGeom>
            <a:noFill/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结构化输出入库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100" name="任意多边形: 形状 1"/>
            <p:cNvSpPr/>
            <p:nvPr/>
          </p:nvSpPr>
          <p:spPr>
            <a:xfrm>
              <a:off x="14026" y="9149"/>
              <a:ext cx="408" cy="408"/>
            </a:xfrm>
            <a:custGeom>
              <a:avLst/>
              <a:gdLst>
                <a:gd name="T0" fmla="*/ 4510 w 10378"/>
                <a:gd name="T1" fmla="*/ 5695 h 10377"/>
                <a:gd name="T2" fmla="*/ 3593 w 10378"/>
                <a:gd name="T3" fmla="*/ 4778 h 10377"/>
                <a:gd name="T4" fmla="*/ 2676 w 10378"/>
                <a:gd name="T5" fmla="*/ 4778 h 10377"/>
                <a:gd name="T6" fmla="*/ 2676 w 10378"/>
                <a:gd name="T7" fmla="*/ 5695 h 10377"/>
                <a:gd name="T8" fmla="*/ 3594 w 10378"/>
                <a:gd name="T9" fmla="*/ 6613 h 10377"/>
                <a:gd name="T10" fmla="*/ 4053 w 10378"/>
                <a:gd name="T11" fmla="*/ 7072 h 10377"/>
                <a:gd name="T12" fmla="*/ 4970 w 10378"/>
                <a:gd name="T13" fmla="*/ 7072 h 10377"/>
                <a:gd name="T14" fmla="*/ 7722 w 10378"/>
                <a:gd name="T15" fmla="*/ 4320 h 10377"/>
                <a:gd name="T16" fmla="*/ 7722 w 10378"/>
                <a:gd name="T17" fmla="*/ 3403 h 10377"/>
                <a:gd name="T18" fmla="*/ 6804 w 10378"/>
                <a:gd name="T19" fmla="*/ 3403 h 10377"/>
                <a:gd name="T20" fmla="*/ 4510 w 10378"/>
                <a:gd name="T21" fmla="*/ 5695 h 10377"/>
                <a:gd name="T22" fmla="*/ 5189 w 10378"/>
                <a:gd name="T23" fmla="*/ 10377 h 10377"/>
                <a:gd name="T24" fmla="*/ 0 w 10378"/>
                <a:gd name="T25" fmla="*/ 5188 h 10377"/>
                <a:gd name="T26" fmla="*/ 5189 w 10378"/>
                <a:gd name="T27" fmla="*/ 0 h 10377"/>
                <a:gd name="T28" fmla="*/ 10378 w 10378"/>
                <a:gd name="T29" fmla="*/ 5188 h 10377"/>
                <a:gd name="T30" fmla="*/ 5189 w 10378"/>
                <a:gd name="T31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78" h="10377">
                  <a:moveTo>
                    <a:pt x="4510" y="5695"/>
                  </a:moveTo>
                  <a:lnTo>
                    <a:pt x="3593" y="4778"/>
                  </a:lnTo>
                  <a:cubicBezTo>
                    <a:pt x="3339" y="4526"/>
                    <a:pt x="2929" y="4526"/>
                    <a:pt x="2676" y="4778"/>
                  </a:cubicBezTo>
                  <a:cubicBezTo>
                    <a:pt x="2423" y="5032"/>
                    <a:pt x="2423" y="5442"/>
                    <a:pt x="2676" y="5695"/>
                  </a:cubicBezTo>
                  <a:lnTo>
                    <a:pt x="3594" y="6613"/>
                  </a:lnTo>
                  <a:lnTo>
                    <a:pt x="4053" y="7072"/>
                  </a:lnTo>
                  <a:cubicBezTo>
                    <a:pt x="4307" y="7326"/>
                    <a:pt x="4717" y="7326"/>
                    <a:pt x="4970" y="7072"/>
                  </a:cubicBezTo>
                  <a:lnTo>
                    <a:pt x="7722" y="4320"/>
                  </a:lnTo>
                  <a:cubicBezTo>
                    <a:pt x="7975" y="4067"/>
                    <a:pt x="7975" y="3657"/>
                    <a:pt x="7722" y="3403"/>
                  </a:cubicBezTo>
                  <a:cubicBezTo>
                    <a:pt x="7468" y="3149"/>
                    <a:pt x="7058" y="3149"/>
                    <a:pt x="6804" y="3403"/>
                  </a:cubicBezTo>
                  <a:lnTo>
                    <a:pt x="4510" y="5695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3"/>
                    <a:pt x="10378" y="5188"/>
                  </a:cubicBezTo>
                  <a:cubicBezTo>
                    <a:pt x="10378" y="8053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文本框 100"/>
          <p:cNvSpPr txBox="1"/>
          <p:nvPr/>
        </p:nvSpPr>
        <p:spPr>
          <a:xfrm>
            <a:off x="9399270" y="2167890"/>
            <a:ext cx="2620645" cy="312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>
                <a:solidFill>
                  <a:schemeClr val="accent1"/>
                </a:solidFill>
              </a:rPr>
              <a:t>docx/pdf </a:t>
            </a:r>
            <a:r>
              <a:rPr lang="zh-CN" altLang="en-US" sz="1000">
                <a:solidFill>
                  <a:schemeClr val="accent1"/>
                </a:solidFill>
              </a:rPr>
              <a:t>自动路由：扫描</a:t>
            </a:r>
            <a:r>
              <a:rPr lang="en-US" altLang="zh-CN" sz="1000">
                <a:solidFill>
                  <a:schemeClr val="accent1"/>
                </a:solidFill>
              </a:rPr>
              <a:t>PDF </a:t>
            </a:r>
            <a:r>
              <a:rPr lang="zh-CN" altLang="en-US" sz="1000">
                <a:solidFill>
                  <a:schemeClr val="accent1"/>
                </a:solidFill>
              </a:rPr>
              <a:t>可 </a:t>
            </a:r>
            <a:r>
              <a:rPr lang="en-US" altLang="zh-CN" sz="1000">
                <a:solidFill>
                  <a:schemeClr val="accent1"/>
                </a:solidFill>
              </a:rPr>
              <a:t>MinerU</a:t>
            </a:r>
            <a:r>
              <a:rPr lang="zh-CN" altLang="en-US" sz="1000">
                <a:solidFill>
                  <a:schemeClr val="accent1"/>
                </a:solidFill>
              </a:rPr>
              <a:t>深度解析，支持复杂版式文档。</a:t>
            </a:r>
            <a:endParaRPr lang="zh-CN" altLang="en-US" sz="1000">
              <a:solidFill>
                <a:schemeClr val="accent1"/>
              </a:solidFill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9399905" y="3138805"/>
            <a:ext cx="2620645" cy="454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000">
                <a:solidFill>
                  <a:schemeClr val="accent1"/>
                </a:solidFill>
                <a:sym typeface="+mn-ea"/>
              </a:rPr>
              <a:t>LLM</a:t>
            </a:r>
            <a:r>
              <a:rPr lang="zh-CN" altLang="en-US" sz="1000">
                <a:solidFill>
                  <a:schemeClr val="accent1"/>
                </a:solidFill>
                <a:sym typeface="+mn-ea"/>
              </a:rPr>
              <a:t>三阶段抽取(解析一分类一校正)，分块处理长文档，兼颜准确率与完整性。</a:t>
            </a:r>
            <a:endParaRPr lang="zh-CN" altLang="en-US" sz="100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399905" y="4110355"/>
            <a:ext cx="262064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chemeClr val="accent1"/>
                </a:solidFill>
                <a:sym typeface="+mn-ea"/>
              </a:rPr>
              <a:t>识别表格单元格颜色标注，与检测类型联动校正，提升工业表格抽取准确率。</a:t>
            </a:r>
            <a:endParaRPr lang="zh-CN" altLang="en-US" sz="100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9399905" y="5131435"/>
            <a:ext cx="2620645" cy="413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chemeClr val="accent1"/>
                </a:solidFill>
                <a:sym typeface="+mn-ea"/>
              </a:rPr>
              <a:t>缺陷归一、阈值绑定(位置匹配</a:t>
            </a:r>
            <a:r>
              <a:rPr lang="en-US" altLang="zh-CN" sz="1000">
                <a:solidFill>
                  <a:schemeClr val="accent1"/>
                </a:solidFill>
                <a:sym typeface="+mn-ea"/>
              </a:rPr>
              <a:t> + </a:t>
            </a:r>
            <a:r>
              <a:rPr lang="zh-CN" altLang="en-US" sz="1000">
                <a:solidFill>
                  <a:schemeClr val="accent1"/>
                </a:solidFill>
                <a:sym typeface="+mn-ea"/>
              </a:rPr>
              <a:t>段落近邻 + 谨慎全局回退)，输出可追溯 </a:t>
            </a:r>
            <a:r>
              <a:rPr lang="en-US" altLang="zh-CN" sz="1000">
                <a:solidFill>
                  <a:schemeClr val="accent1"/>
                </a:solidFill>
                <a:sym typeface="+mn-ea"/>
              </a:rPr>
              <a:t>warings。</a:t>
            </a:r>
            <a:endParaRPr lang="en-US" altLang="zh-CN" sz="100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399270" y="6144895"/>
            <a:ext cx="262064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000">
                <a:solidFill>
                  <a:schemeClr val="accent1"/>
                </a:solidFill>
                <a:sym typeface="+mn-ea"/>
              </a:rPr>
              <a:t>Pydantic </a:t>
            </a:r>
            <a:r>
              <a:rPr lang="zh-CN" altLang="en-US" sz="1000">
                <a:solidFill>
                  <a:schemeClr val="accent1"/>
                </a:solidFill>
                <a:sym typeface="+mn-ea"/>
              </a:rPr>
              <a:t>强校验输出，标准 </a:t>
            </a:r>
            <a:r>
              <a:rPr lang="en-US" altLang="zh-CN" sz="1000">
                <a:solidFill>
                  <a:schemeClr val="accent1"/>
                </a:solidFill>
                <a:sym typeface="+mn-ea"/>
              </a:rPr>
              <a:t>JSON </a:t>
            </a:r>
            <a:r>
              <a:rPr lang="zh-CN" altLang="en-US" sz="1000">
                <a:solidFill>
                  <a:schemeClr val="accent1"/>
                </a:solidFill>
                <a:sym typeface="+mn-ea"/>
              </a:rPr>
              <a:t>结构，可直接对接下游入库系统。</a:t>
            </a:r>
            <a:endParaRPr lang="zh-CN" altLang="en-US" sz="1000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产品价值</a:t>
            </a:r>
            <a:endParaRPr lang="zh-CN" altLang="en-US"/>
          </a:p>
        </p:txBody>
      </p:sp>
      <p:sp>
        <p:nvSpPr>
          <p:cNvPr id="6" name="任意多边形: 形状 37"/>
          <p:cNvSpPr/>
          <p:nvPr>
            <p:custDataLst>
              <p:tags r:id="rId1"/>
            </p:custDataLst>
          </p:nvPr>
        </p:nvSpPr>
        <p:spPr>
          <a:xfrm>
            <a:off x="1694147" y="2146551"/>
            <a:ext cx="1621156" cy="2913874"/>
          </a:xfrm>
          <a:custGeom>
            <a:avLst/>
            <a:gdLst>
              <a:gd name="connsiteX0" fmla="*/ 0 w 1621156"/>
              <a:gd name="connsiteY0" fmla="*/ 0 h 2913874"/>
              <a:gd name="connsiteX1" fmla="*/ 177587 w 1621156"/>
              <a:gd name="connsiteY1" fmla="*/ 10491 h 2913874"/>
              <a:gd name="connsiteX2" fmla="*/ 1403941 w 1621156"/>
              <a:gd name="connsiteY2" fmla="*/ 63347 h 2913874"/>
              <a:gd name="connsiteX3" fmla="*/ 1621156 w 1621156"/>
              <a:gd name="connsiteY3" fmla="*/ 69504 h 2913874"/>
              <a:gd name="connsiteX4" fmla="*/ 1621156 w 1621156"/>
              <a:gd name="connsiteY4" fmla="*/ 2836922 h 2913874"/>
              <a:gd name="connsiteX5" fmla="*/ 1466350 w 1621156"/>
              <a:gd name="connsiteY5" fmla="*/ 2841655 h 2913874"/>
              <a:gd name="connsiteX6" fmla="*/ 188259 w 1621156"/>
              <a:gd name="connsiteY6" fmla="*/ 2901633 h 2913874"/>
              <a:gd name="connsiteX7" fmla="*/ 0 w 1621156"/>
              <a:gd name="connsiteY7" fmla="*/ 2913874 h 2913874"/>
              <a:gd name="connsiteX8" fmla="*/ 0 w 1621156"/>
              <a:gd name="connsiteY8" fmla="*/ 0 h 291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156" h="2913874">
                <a:moveTo>
                  <a:pt x="0" y="0"/>
                </a:moveTo>
                <a:lnTo>
                  <a:pt x="177587" y="10491"/>
                </a:lnTo>
                <a:cubicBezTo>
                  <a:pt x="549898" y="31445"/>
                  <a:pt x="961583" y="49261"/>
                  <a:pt x="1403941" y="63347"/>
                </a:cubicBezTo>
                <a:lnTo>
                  <a:pt x="1621156" y="69504"/>
                </a:lnTo>
                <a:lnTo>
                  <a:pt x="1621156" y="2836922"/>
                </a:lnTo>
                <a:lnTo>
                  <a:pt x="1466350" y="2841655"/>
                </a:lnTo>
                <a:cubicBezTo>
                  <a:pt x="1000352" y="2857689"/>
                  <a:pt x="570754" y="2877925"/>
                  <a:pt x="188259" y="2901633"/>
                </a:cubicBezTo>
                <a:lnTo>
                  <a:pt x="0" y="2913874"/>
                </a:lnTo>
                <a:lnTo>
                  <a:pt x="0" y="0"/>
                </a:lnTo>
                <a:close/>
              </a:path>
            </a:pathLst>
          </a:custGeom>
          <a:solidFill>
            <a:srgbClr val="2E55A2"/>
          </a:solidFill>
          <a:ln w="25400">
            <a:solidFill>
              <a:srgbClr val="FFFFFF"/>
            </a:solidFill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: 形状 40"/>
          <p:cNvSpPr/>
          <p:nvPr>
            <p:custDataLst>
              <p:tags r:id="rId2"/>
            </p:custDataLst>
          </p:nvPr>
        </p:nvSpPr>
        <p:spPr>
          <a:xfrm>
            <a:off x="3491686" y="2219779"/>
            <a:ext cx="1621156" cy="2767418"/>
          </a:xfrm>
          <a:custGeom>
            <a:avLst/>
            <a:gdLst>
              <a:gd name="connsiteX0" fmla="*/ 0 w 1621156"/>
              <a:gd name="connsiteY0" fmla="*/ 0 h 2767418"/>
              <a:gd name="connsiteX1" fmla="*/ 235044 w 1621156"/>
              <a:gd name="connsiteY1" fmla="*/ 6662 h 2767418"/>
              <a:gd name="connsiteX2" fmla="*/ 1193170 w 1621156"/>
              <a:gd name="connsiteY2" fmla="*/ 24312 h 2767418"/>
              <a:gd name="connsiteX3" fmla="*/ 1621156 w 1621156"/>
              <a:gd name="connsiteY3" fmla="*/ 28206 h 2767418"/>
              <a:gd name="connsiteX4" fmla="*/ 1621156 w 1621156"/>
              <a:gd name="connsiteY4" fmla="*/ 2734659 h 2767418"/>
              <a:gd name="connsiteX5" fmla="*/ 1341682 w 1621156"/>
              <a:gd name="connsiteY5" fmla="*/ 2737384 h 2767418"/>
              <a:gd name="connsiteX6" fmla="*/ 322929 w 1621156"/>
              <a:gd name="connsiteY6" fmla="*/ 2757544 h 2767418"/>
              <a:gd name="connsiteX7" fmla="*/ 0 w 1621156"/>
              <a:gd name="connsiteY7" fmla="*/ 2767418 h 2767418"/>
              <a:gd name="connsiteX8" fmla="*/ 0 w 1621156"/>
              <a:gd name="connsiteY8" fmla="*/ 0 h 276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156" h="2767418">
                <a:moveTo>
                  <a:pt x="0" y="0"/>
                </a:moveTo>
                <a:lnTo>
                  <a:pt x="235044" y="6662"/>
                </a:lnTo>
                <a:cubicBezTo>
                  <a:pt x="542937" y="14351"/>
                  <a:pt x="863172" y="20293"/>
                  <a:pt x="1193170" y="24312"/>
                </a:cubicBezTo>
                <a:lnTo>
                  <a:pt x="1621156" y="28206"/>
                </a:lnTo>
                <a:lnTo>
                  <a:pt x="1621156" y="2734659"/>
                </a:lnTo>
                <a:lnTo>
                  <a:pt x="1341682" y="2737384"/>
                </a:lnTo>
                <a:cubicBezTo>
                  <a:pt x="989621" y="2741984"/>
                  <a:pt x="648979" y="2748776"/>
                  <a:pt x="322929" y="2757544"/>
                </a:cubicBezTo>
                <a:lnTo>
                  <a:pt x="0" y="2767418"/>
                </a:lnTo>
                <a:lnTo>
                  <a:pt x="0" y="0"/>
                </a:lnTo>
                <a:close/>
              </a:path>
            </a:pathLst>
          </a:custGeom>
          <a:solidFill>
            <a:srgbClr val="2E55A2"/>
          </a:solidFill>
          <a:ln w="25400">
            <a:solidFill>
              <a:srgbClr val="FFFFFF"/>
            </a:solidFill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: 形状 43"/>
          <p:cNvSpPr/>
          <p:nvPr>
            <p:custDataLst>
              <p:tags r:id="rId3"/>
            </p:custDataLst>
          </p:nvPr>
        </p:nvSpPr>
        <p:spPr>
          <a:xfrm>
            <a:off x="5289225" y="2247943"/>
            <a:ext cx="1621154" cy="2711090"/>
          </a:xfrm>
          <a:custGeom>
            <a:avLst/>
            <a:gdLst>
              <a:gd name="connsiteX0" fmla="*/ 1621154 w 1621154"/>
              <a:gd name="connsiteY0" fmla="*/ 0 h 2711090"/>
              <a:gd name="connsiteX1" fmla="*/ 1621154 w 1621154"/>
              <a:gd name="connsiteY1" fmla="*/ 2711090 h 2711090"/>
              <a:gd name="connsiteX2" fmla="*/ 1358808 w 1621154"/>
              <a:gd name="connsiteY2" fmla="*/ 2708531 h 2711090"/>
              <a:gd name="connsiteX3" fmla="*/ 807797 w 1621154"/>
              <a:gd name="connsiteY3" fmla="*/ 2706752 h 2711090"/>
              <a:gd name="connsiteX4" fmla="*/ 256786 w 1621154"/>
              <a:gd name="connsiteY4" fmla="*/ 2708531 h 2711090"/>
              <a:gd name="connsiteX5" fmla="*/ 0 w 1621154"/>
              <a:gd name="connsiteY5" fmla="*/ 2711036 h 2711090"/>
              <a:gd name="connsiteX6" fmla="*/ 0 w 1621154"/>
              <a:gd name="connsiteY6" fmla="*/ 4583 h 2711090"/>
              <a:gd name="connsiteX7" fmla="*/ 74012 w 1621154"/>
              <a:gd name="connsiteY7" fmla="*/ 5256 h 2711090"/>
              <a:gd name="connsiteX8" fmla="*/ 588722 w 1621154"/>
              <a:gd name="connsiteY8" fmla="*/ 6807 h 2711090"/>
              <a:gd name="connsiteX9" fmla="*/ 1212139 w 1621154"/>
              <a:gd name="connsiteY9" fmla="*/ 4526 h 2711090"/>
              <a:gd name="connsiteX10" fmla="*/ 1621154 w 1621154"/>
              <a:gd name="connsiteY10" fmla="*/ 0 h 271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1154" h="2711090">
                <a:moveTo>
                  <a:pt x="1621154" y="0"/>
                </a:moveTo>
                <a:lnTo>
                  <a:pt x="1621154" y="2711090"/>
                </a:lnTo>
                <a:lnTo>
                  <a:pt x="1358808" y="2708531"/>
                </a:lnTo>
                <a:cubicBezTo>
                  <a:pt x="1177464" y="2707354"/>
                  <a:pt x="993662" y="2706752"/>
                  <a:pt x="807797" y="2706752"/>
                </a:cubicBezTo>
                <a:cubicBezTo>
                  <a:pt x="621933" y="2706752"/>
                  <a:pt x="438130" y="2707354"/>
                  <a:pt x="256786" y="2708531"/>
                </a:cubicBezTo>
                <a:lnTo>
                  <a:pt x="0" y="2711036"/>
                </a:lnTo>
                <a:lnTo>
                  <a:pt x="0" y="4583"/>
                </a:lnTo>
                <a:lnTo>
                  <a:pt x="74012" y="5256"/>
                </a:lnTo>
                <a:cubicBezTo>
                  <a:pt x="243571" y="6283"/>
                  <a:pt x="415249" y="6807"/>
                  <a:pt x="588722" y="6807"/>
                </a:cubicBezTo>
                <a:cubicBezTo>
                  <a:pt x="799369" y="6807"/>
                  <a:pt x="1007367" y="6034"/>
                  <a:pt x="1212139" y="4526"/>
                </a:cubicBezTo>
                <a:lnTo>
                  <a:pt x="1621154" y="0"/>
                </a:lnTo>
                <a:close/>
              </a:path>
            </a:pathLst>
          </a:custGeom>
          <a:solidFill>
            <a:srgbClr val="2E55A2"/>
          </a:solidFill>
          <a:ln w="25400">
            <a:solidFill>
              <a:srgbClr val="FFFFFF"/>
            </a:solidFill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: 形状 46"/>
          <p:cNvSpPr/>
          <p:nvPr>
            <p:custDataLst>
              <p:tags r:id="rId4"/>
            </p:custDataLst>
          </p:nvPr>
        </p:nvSpPr>
        <p:spPr>
          <a:xfrm>
            <a:off x="7086762" y="2212712"/>
            <a:ext cx="1621156" cy="2781552"/>
          </a:xfrm>
          <a:custGeom>
            <a:avLst/>
            <a:gdLst>
              <a:gd name="connsiteX0" fmla="*/ 1621156 w 1621156"/>
              <a:gd name="connsiteY0" fmla="*/ 0 h 2781552"/>
              <a:gd name="connsiteX1" fmla="*/ 1621156 w 1621156"/>
              <a:gd name="connsiteY1" fmla="*/ 2781552 h 2781552"/>
              <a:gd name="connsiteX2" fmla="*/ 1414246 w 1621156"/>
              <a:gd name="connsiteY2" fmla="*/ 2775030 h 2781552"/>
              <a:gd name="connsiteX3" fmla="*/ 273915 w 1621156"/>
              <a:gd name="connsiteY3" fmla="*/ 2751489 h 2781552"/>
              <a:gd name="connsiteX4" fmla="*/ 0 w 1621156"/>
              <a:gd name="connsiteY4" fmla="*/ 2748818 h 2781552"/>
              <a:gd name="connsiteX5" fmla="*/ 0 w 1621156"/>
              <a:gd name="connsiteY5" fmla="*/ 37728 h 2781552"/>
              <a:gd name="connsiteX6" fmla="*/ 195048 w 1621156"/>
              <a:gd name="connsiteY6" fmla="*/ 35570 h 2781552"/>
              <a:gd name="connsiteX7" fmla="*/ 1465489 w 1621156"/>
              <a:gd name="connsiteY7" fmla="*/ 5652 h 2781552"/>
              <a:gd name="connsiteX8" fmla="*/ 1621156 w 1621156"/>
              <a:gd name="connsiteY8" fmla="*/ 0 h 278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156" h="2781552">
                <a:moveTo>
                  <a:pt x="1621156" y="0"/>
                </a:moveTo>
                <a:lnTo>
                  <a:pt x="1621156" y="2781552"/>
                </a:lnTo>
                <a:lnTo>
                  <a:pt x="1414246" y="2775030"/>
                </a:lnTo>
                <a:cubicBezTo>
                  <a:pt x="1051600" y="2764614"/>
                  <a:pt x="669984" y="2756665"/>
                  <a:pt x="273915" y="2751489"/>
                </a:cubicBezTo>
                <a:lnTo>
                  <a:pt x="0" y="2748818"/>
                </a:lnTo>
                <a:lnTo>
                  <a:pt x="0" y="37728"/>
                </a:lnTo>
                <a:lnTo>
                  <a:pt x="195048" y="35570"/>
                </a:lnTo>
                <a:cubicBezTo>
                  <a:pt x="639972" y="28965"/>
                  <a:pt x="1065644" y="18842"/>
                  <a:pt x="1465489" y="5652"/>
                </a:cubicBezTo>
                <a:lnTo>
                  <a:pt x="1621156" y="0"/>
                </a:lnTo>
                <a:close/>
              </a:path>
            </a:pathLst>
          </a:custGeom>
          <a:solidFill>
            <a:srgbClr val="2E55A2"/>
          </a:solidFill>
          <a:ln w="25400">
            <a:solidFill>
              <a:srgbClr val="FFFFFF"/>
            </a:solidFill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: 形状 44"/>
          <p:cNvSpPr/>
          <p:nvPr>
            <p:custDataLst>
              <p:tags r:id="rId5"/>
            </p:custDataLst>
          </p:nvPr>
        </p:nvSpPr>
        <p:spPr>
          <a:xfrm>
            <a:off x="8884301" y="2131460"/>
            <a:ext cx="1618375" cy="2944057"/>
          </a:xfrm>
          <a:custGeom>
            <a:avLst/>
            <a:gdLst>
              <a:gd name="connsiteX0" fmla="*/ 1618375 w 1618375"/>
              <a:gd name="connsiteY0" fmla="*/ 0 h 2944057"/>
              <a:gd name="connsiteX1" fmla="*/ 1618375 w 1618375"/>
              <a:gd name="connsiteY1" fmla="*/ 2944057 h 2944057"/>
              <a:gd name="connsiteX2" fmla="*/ 1427337 w 1618375"/>
              <a:gd name="connsiteY2" fmla="*/ 2931636 h 2944057"/>
              <a:gd name="connsiteX3" fmla="*/ 149246 w 1618375"/>
              <a:gd name="connsiteY3" fmla="*/ 2871658 h 2944057"/>
              <a:gd name="connsiteX4" fmla="*/ 0 w 1618375"/>
              <a:gd name="connsiteY4" fmla="*/ 2866954 h 2944057"/>
              <a:gd name="connsiteX5" fmla="*/ 0 w 1618375"/>
              <a:gd name="connsiteY5" fmla="*/ 85402 h 2944057"/>
              <a:gd name="connsiteX6" fmla="*/ 235327 w 1618375"/>
              <a:gd name="connsiteY6" fmla="*/ 76858 h 2944057"/>
              <a:gd name="connsiteX7" fmla="*/ 1597910 w 1618375"/>
              <a:gd name="connsiteY7" fmla="*/ 1611 h 2944057"/>
              <a:gd name="connsiteX8" fmla="*/ 1618375 w 1618375"/>
              <a:gd name="connsiteY8" fmla="*/ 0 h 294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8375" h="2944057">
                <a:moveTo>
                  <a:pt x="1618375" y="0"/>
                </a:moveTo>
                <a:lnTo>
                  <a:pt x="1618375" y="2944057"/>
                </a:lnTo>
                <a:lnTo>
                  <a:pt x="1427337" y="2931636"/>
                </a:lnTo>
                <a:cubicBezTo>
                  <a:pt x="1044842" y="2907928"/>
                  <a:pt x="615244" y="2887692"/>
                  <a:pt x="149246" y="2871658"/>
                </a:cubicBezTo>
                <a:lnTo>
                  <a:pt x="0" y="2866954"/>
                </a:lnTo>
                <a:lnTo>
                  <a:pt x="0" y="85402"/>
                </a:lnTo>
                <a:lnTo>
                  <a:pt x="235327" y="76858"/>
                </a:lnTo>
                <a:cubicBezTo>
                  <a:pt x="744524" y="56610"/>
                  <a:pt x="1203912" y="31174"/>
                  <a:pt x="1597910" y="1611"/>
                </a:cubicBezTo>
                <a:lnTo>
                  <a:pt x="1618375" y="0"/>
                </a:lnTo>
                <a:close/>
              </a:path>
            </a:pathLst>
          </a:custGeom>
          <a:solidFill>
            <a:srgbClr val="2E55A2"/>
          </a:solidFill>
          <a:ln w="25400">
            <a:solidFill>
              <a:srgbClr val="FFFFFF"/>
            </a:solidFill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37225" y="1003234"/>
            <a:ext cx="31175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>
                <a:solidFill>
                  <a:srgbClr val="1973C5"/>
                </a:solidFill>
                <a:latin typeface="微软雅黑" panose="020B0503020204020204" charset="-122"/>
              </a:rPr>
              <a:t>5</a:t>
            </a:r>
            <a:r>
              <a:rPr lang="zh-CN" altLang="en-US" sz="2800" b="1">
                <a:solidFill>
                  <a:srgbClr val="1973C5"/>
                </a:solidFill>
                <a:latin typeface="微软雅黑" panose="020B0503020204020204" charset="-122"/>
              </a:rPr>
              <a:t>大亮点</a:t>
            </a:r>
            <a:endParaRPr lang="zh-CN" altLang="en-US" sz="2800" b="1">
              <a:solidFill>
                <a:srgbClr val="1973C5"/>
              </a:solidFill>
              <a:latin typeface="微软雅黑" panose="020B0503020204020204" charset="-122"/>
            </a:endParaRPr>
          </a:p>
        </p:txBody>
      </p:sp>
      <p:sp>
        <p:nvSpPr>
          <p:cNvPr id="15" name="矩形: 圆角 48"/>
          <p:cNvSpPr/>
          <p:nvPr>
            <p:custDataLst>
              <p:tags r:id="rId6"/>
            </p:custDataLst>
          </p:nvPr>
        </p:nvSpPr>
        <p:spPr>
          <a:xfrm>
            <a:off x="1865422" y="2433227"/>
            <a:ext cx="1296000" cy="2574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安全风险可控</a:t>
            </a:r>
            <a:endParaRPr lang="zh-CN" altLang="en-US" sz="1400" b="1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: 形状 49"/>
          <p:cNvSpPr/>
          <p:nvPr/>
        </p:nvSpPr>
        <p:spPr>
          <a:xfrm>
            <a:off x="1713390" y="1917577"/>
            <a:ext cx="8780016" cy="232949"/>
          </a:xfrm>
          <a:custGeom>
            <a:avLst/>
            <a:gdLst>
              <a:gd name="connsiteX0" fmla="*/ 0 w 8780016"/>
              <a:gd name="connsiteY0" fmla="*/ 35510 h 232949"/>
              <a:gd name="connsiteX1" fmla="*/ 1589103 w 8780016"/>
              <a:gd name="connsiteY1" fmla="*/ 159798 h 232949"/>
              <a:gd name="connsiteX2" fmla="*/ 3400148 w 8780016"/>
              <a:gd name="connsiteY2" fmla="*/ 213064 h 232949"/>
              <a:gd name="connsiteX3" fmla="*/ 5202315 w 8780016"/>
              <a:gd name="connsiteY3" fmla="*/ 230819 h 232949"/>
              <a:gd name="connsiteX4" fmla="*/ 6995604 w 8780016"/>
              <a:gd name="connsiteY4" fmla="*/ 168675 h 232949"/>
              <a:gd name="connsiteX5" fmla="*/ 8780016 w 8780016"/>
              <a:gd name="connsiteY5" fmla="*/ 0 h 232949"/>
              <a:gd name="connsiteX6" fmla="*/ 8780016 w 8780016"/>
              <a:gd name="connsiteY6" fmla="*/ 0 h 23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80016" h="232949">
                <a:moveTo>
                  <a:pt x="0" y="35510"/>
                </a:moveTo>
                <a:cubicBezTo>
                  <a:pt x="511206" y="82858"/>
                  <a:pt x="1022412" y="130206"/>
                  <a:pt x="1589103" y="159798"/>
                </a:cubicBezTo>
                <a:cubicBezTo>
                  <a:pt x="2155794" y="189390"/>
                  <a:pt x="3400148" y="213064"/>
                  <a:pt x="3400148" y="213064"/>
                </a:cubicBezTo>
                <a:cubicBezTo>
                  <a:pt x="4002350" y="224901"/>
                  <a:pt x="4603072" y="238217"/>
                  <a:pt x="5202315" y="230819"/>
                </a:cubicBezTo>
                <a:cubicBezTo>
                  <a:pt x="5801558" y="223421"/>
                  <a:pt x="6399321" y="207145"/>
                  <a:pt x="6995604" y="168675"/>
                </a:cubicBezTo>
                <a:cubicBezTo>
                  <a:pt x="7591887" y="130205"/>
                  <a:pt x="8780016" y="0"/>
                  <a:pt x="8780016" y="0"/>
                </a:cubicBezTo>
                <a:lnTo>
                  <a:pt x="8780016" y="0"/>
                </a:lnTo>
              </a:path>
            </a:pathLst>
          </a:custGeom>
          <a:noFill/>
          <a:ln w="9525">
            <a:solidFill>
              <a:srgbClr val="2E55A2"/>
            </a:solidFill>
            <a:prstDash val="dash"/>
          </a:ln>
          <a:effectLst>
            <a:outerShdw blurRad="38100" dist="127000" dir="16200000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: 形状 50"/>
          <p:cNvSpPr/>
          <p:nvPr/>
        </p:nvSpPr>
        <p:spPr>
          <a:xfrm rot="10800000">
            <a:off x="1705992" y="5081261"/>
            <a:ext cx="8780016" cy="232949"/>
          </a:xfrm>
          <a:custGeom>
            <a:avLst/>
            <a:gdLst>
              <a:gd name="connsiteX0" fmla="*/ 0 w 8780016"/>
              <a:gd name="connsiteY0" fmla="*/ 35510 h 232949"/>
              <a:gd name="connsiteX1" fmla="*/ 1589103 w 8780016"/>
              <a:gd name="connsiteY1" fmla="*/ 159798 h 232949"/>
              <a:gd name="connsiteX2" fmla="*/ 3400148 w 8780016"/>
              <a:gd name="connsiteY2" fmla="*/ 213064 h 232949"/>
              <a:gd name="connsiteX3" fmla="*/ 5202315 w 8780016"/>
              <a:gd name="connsiteY3" fmla="*/ 230819 h 232949"/>
              <a:gd name="connsiteX4" fmla="*/ 6995604 w 8780016"/>
              <a:gd name="connsiteY4" fmla="*/ 168675 h 232949"/>
              <a:gd name="connsiteX5" fmla="*/ 8780016 w 8780016"/>
              <a:gd name="connsiteY5" fmla="*/ 0 h 232949"/>
              <a:gd name="connsiteX6" fmla="*/ 8780016 w 8780016"/>
              <a:gd name="connsiteY6" fmla="*/ 0 h 23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80016" h="232949">
                <a:moveTo>
                  <a:pt x="0" y="35510"/>
                </a:moveTo>
                <a:cubicBezTo>
                  <a:pt x="511206" y="82858"/>
                  <a:pt x="1022412" y="130206"/>
                  <a:pt x="1589103" y="159798"/>
                </a:cubicBezTo>
                <a:cubicBezTo>
                  <a:pt x="2155794" y="189390"/>
                  <a:pt x="3400148" y="213064"/>
                  <a:pt x="3400148" y="213064"/>
                </a:cubicBezTo>
                <a:cubicBezTo>
                  <a:pt x="4002350" y="224901"/>
                  <a:pt x="4603072" y="238217"/>
                  <a:pt x="5202315" y="230819"/>
                </a:cubicBezTo>
                <a:cubicBezTo>
                  <a:pt x="5801558" y="223421"/>
                  <a:pt x="6399321" y="207145"/>
                  <a:pt x="6995604" y="168675"/>
                </a:cubicBezTo>
                <a:cubicBezTo>
                  <a:pt x="7591887" y="130205"/>
                  <a:pt x="8780016" y="0"/>
                  <a:pt x="8780016" y="0"/>
                </a:cubicBezTo>
                <a:lnTo>
                  <a:pt x="8780016" y="0"/>
                </a:lnTo>
              </a:path>
            </a:pathLst>
          </a:custGeom>
          <a:noFill/>
          <a:ln w="9525">
            <a:solidFill>
              <a:srgbClr val="2E55A2"/>
            </a:solidFill>
            <a:prstDash val="dash"/>
          </a:ln>
          <a:effectLst>
            <a:outerShdw blurRad="38100" dist="127000" dir="16200000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: 圆角 51"/>
          <p:cNvSpPr/>
          <p:nvPr>
            <p:custDataLst>
              <p:tags r:id="rId7"/>
            </p:custDataLst>
          </p:nvPr>
        </p:nvSpPr>
        <p:spPr>
          <a:xfrm>
            <a:off x="3662961" y="2433227"/>
            <a:ext cx="1296000" cy="2574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运维效率提升</a:t>
            </a:r>
            <a:endParaRPr lang="zh-CN" altLang="en-US" sz="1400" b="1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: 圆角 52"/>
          <p:cNvSpPr/>
          <p:nvPr>
            <p:custDataLst>
              <p:tags r:id="rId8"/>
            </p:custDataLst>
          </p:nvPr>
        </p:nvSpPr>
        <p:spPr>
          <a:xfrm>
            <a:off x="5460499" y="2433227"/>
            <a:ext cx="1296000" cy="2574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知识资产沉淀</a:t>
            </a:r>
            <a:endParaRPr lang="zh-CN" altLang="en-US" sz="1400" b="1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53"/>
          <p:cNvSpPr/>
          <p:nvPr>
            <p:custDataLst>
              <p:tags r:id="rId9"/>
            </p:custDataLst>
          </p:nvPr>
        </p:nvSpPr>
        <p:spPr>
          <a:xfrm>
            <a:off x="7258037" y="2433227"/>
            <a:ext cx="1296000" cy="2574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科学辅助决策</a:t>
            </a:r>
            <a:endParaRPr lang="zh-CN" altLang="en-US" sz="1400" b="1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: 圆角 54"/>
          <p:cNvSpPr/>
          <p:nvPr>
            <p:custDataLst>
              <p:tags r:id="rId10"/>
            </p:custDataLst>
          </p:nvPr>
        </p:nvSpPr>
        <p:spPr>
          <a:xfrm>
            <a:off x="9054185" y="2433227"/>
            <a:ext cx="1296000" cy="2574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0" sx="102000" sy="102000" algn="ctr" rotWithShape="0">
              <a:srgbClr val="2E55A2">
                <a:alpha val="40000"/>
              </a:srgbClr>
            </a:outerShdw>
          </a:effectLst>
        </p:spPr>
        <p:style>
          <a:lnRef idx="2">
            <a:srgbClr val="2E55A2">
              <a:shade val="15000"/>
            </a:srgbClr>
          </a:lnRef>
          <a:fillRef idx="1">
            <a:srgbClr val="2E55A2"/>
          </a:fillRef>
          <a:effectRef idx="0">
            <a:srgbClr val="2E55A2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智能运维升级</a:t>
            </a:r>
            <a:endParaRPr lang="zh-CN" altLang="en-US" sz="1400" b="1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713390" y="2769833"/>
            <a:ext cx="159006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</a:rPr>
              <a:t>提前识别超温、磨损、腐蚀、泄漏等风险隐患，降低锅炉四管故障及非计划停机风险。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3505018" y="2784743"/>
            <a:ext cx="15900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FFFFFF"/>
                </a:solidFill>
              </a:rPr>
              <a:t>AI</a:t>
            </a:r>
            <a:r>
              <a:rPr lang="zh-CN" altLang="en-US" sz="1200">
                <a:solidFill>
                  <a:srgbClr val="FFFFFF"/>
                </a:solidFill>
              </a:rPr>
              <a:t>自动完成知识查词、数据分析、报告解析和辅助决策，大幅减少人工分析工作量，提高运维效率。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5300966" y="2793809"/>
            <a:ext cx="159006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</a:rPr>
              <a:t>将规程标准、专家经验、历史案例等沉淀为企业知识库，实现知识共享与持续传承。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7102306" y="2812509"/>
            <a:ext cx="15900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</a:rPr>
              <a:t>融合运行数据、设备状态和历史案例，提供智能分析、风险评估和检修建议，提升决策科学性。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>
          <a:xfrm>
            <a:off x="8912608" y="2828191"/>
            <a:ext cx="159006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</a:rPr>
              <a:t>构建</a:t>
            </a:r>
            <a:r>
              <a:rPr lang="en-US" altLang="zh-CN" sz="1200">
                <a:solidFill>
                  <a:srgbClr val="FFFFFF"/>
                </a:solidFill>
              </a:rPr>
              <a:t> “ </a:t>
            </a:r>
            <a:r>
              <a:rPr lang="zh-CN" altLang="en-US" sz="1200">
                <a:solidFill>
                  <a:srgbClr val="FFFFFF"/>
                </a:solidFill>
              </a:rPr>
              <a:t>监测一预警一分析一诊断一决策</a:t>
            </a:r>
            <a:r>
              <a:rPr lang="en-US" altLang="zh-CN" sz="1200">
                <a:solidFill>
                  <a:srgbClr val="FFFFFF"/>
                </a:solidFill>
              </a:rPr>
              <a:t> ” </a:t>
            </a:r>
            <a:r>
              <a:rPr lang="zh-CN" altLang="en-US" sz="1200">
                <a:solidFill>
                  <a:srgbClr val="FFFFFF"/>
                </a:solidFill>
              </a:rPr>
              <a:t>全流程智能闭环，推动锅炉四管运维向预测性，智能化方向发展。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018642" y="1473403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1973C5"/>
                </a:solidFill>
              </a:rPr>
              <a:t>技术创新</a:t>
            </a:r>
            <a:endParaRPr lang="zh-CN" altLang="en-US" sz="2000" b="1">
              <a:solidFill>
                <a:srgbClr val="1973C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81340" y="1473403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1973C5"/>
                </a:solidFill>
              </a:rPr>
              <a:t>业务发展</a:t>
            </a:r>
            <a:endParaRPr lang="zh-CN" altLang="en-US" sz="2000" b="1">
              <a:solidFill>
                <a:srgbClr val="1973C5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96000" y="5613571"/>
            <a:ext cx="10800000" cy="946281"/>
            <a:chOff x="696000" y="5316219"/>
            <a:chExt cx="10800000" cy="946281"/>
          </a:xfrm>
        </p:grpSpPr>
        <p:sp>
          <p:nvSpPr>
            <p:cNvPr id="30" name="矩形 29"/>
            <p:cNvSpPr/>
            <p:nvPr/>
          </p:nvSpPr>
          <p:spPr>
            <a:xfrm>
              <a:off x="696000" y="5981700"/>
              <a:ext cx="10800000" cy="280800"/>
            </a:xfrm>
            <a:prstGeom prst="rect">
              <a:avLst/>
            </a:prstGeom>
            <a:solidFill>
              <a:srgbClr val="3855CB"/>
            </a:solidFill>
            <a:ln>
              <a:noFill/>
            </a:ln>
            <a:effectLst>
              <a:outerShdw blurRad="254000" sx="102000" sy="102000" algn="ctr" rotWithShape="0">
                <a:srgbClr val="3855CB">
                  <a:alpha val="40000"/>
                </a:srgbClr>
              </a:outerShdw>
            </a:effectLst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梯形 30"/>
            <p:cNvSpPr/>
            <p:nvPr/>
          </p:nvSpPr>
          <p:spPr>
            <a:xfrm>
              <a:off x="696000" y="5316219"/>
              <a:ext cx="10800000" cy="665481"/>
            </a:xfrm>
            <a:prstGeom prst="trapezoid">
              <a:avLst>
                <a:gd name="adj" fmla="val 154771"/>
              </a:avLst>
            </a:prstGeom>
            <a:gradFill flip="none" rotWithShape="1">
              <a:gsLst>
                <a:gs pos="0">
                  <a:srgbClr val="3855CB"/>
                </a:gs>
                <a:gs pos="48000">
                  <a:srgbClr val="3855CB">
                    <a:alpha val="50000"/>
                    <a:lumMod val="80000"/>
                    <a:lumOff val="20000"/>
                  </a:srgbClr>
                </a:gs>
                <a:gs pos="100000">
                  <a:srgbClr val="3855CB">
                    <a:alpha val="0"/>
                    <a:lumMod val="0"/>
                    <a:lumOff val="100000"/>
                  </a:srgb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254000" sx="102000" sy="102000" algn="ctr" rotWithShape="0">
                <a:srgbClr val="3855CB">
                  <a:alpha val="40000"/>
                </a:srgbClr>
              </a:outerShdw>
            </a:effectLst>
          </p:spPr>
          <p:style>
            <a:lnRef idx="2">
              <a:srgbClr val="2E55A2">
                <a:shade val="15000"/>
              </a:srgbClr>
            </a:lnRef>
            <a:fillRef idx="1">
              <a:srgbClr val="2E55A2"/>
            </a:fillRef>
            <a:effectRef idx="0">
              <a:srgbClr val="2E55A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854200" y="5401945"/>
            <a:ext cx="8573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</a:rPr>
              <a:t>推动锅炉四管运维从固定周期检修，升级为数据驱动的预测性、按需检修，在保障安全的前提下，有效节约检修成本、缩短停机时长、延长设备服役寿命。</a:t>
            </a:r>
            <a:endParaRPr lang="zh-CN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" name="图形 56" descr="343435333238373b333635393033363b6280672f5f0053d1"/>
          <p:cNvSpPr/>
          <p:nvPr>
            <p:custDataLst>
              <p:tags r:id="rId16"/>
            </p:custDataLst>
          </p:nvPr>
        </p:nvSpPr>
        <p:spPr>
          <a:xfrm>
            <a:off x="2339225" y="4535469"/>
            <a:ext cx="360009" cy="329276"/>
          </a:xfrm>
          <a:custGeom>
            <a:avLst/>
            <a:gdLst>
              <a:gd name="connsiteX0" fmla="*/ 20039 w 360009"/>
              <a:gd name="connsiteY0" fmla="*/ 0 h 329276"/>
              <a:gd name="connsiteX1" fmla="*/ 0 w 360009"/>
              <a:gd name="connsiteY1" fmla="*/ 20025 h 329276"/>
              <a:gd name="connsiteX2" fmla="*/ 0 w 360009"/>
              <a:gd name="connsiteY2" fmla="*/ 282488 h 329276"/>
              <a:gd name="connsiteX3" fmla="*/ 20011 w 360009"/>
              <a:gd name="connsiteY3" fmla="*/ 302470 h 329276"/>
              <a:gd name="connsiteX4" fmla="*/ 20039 w 360009"/>
              <a:gd name="connsiteY4" fmla="*/ 302470 h 329276"/>
              <a:gd name="connsiteX5" fmla="*/ 238092 w 360009"/>
              <a:gd name="connsiteY5" fmla="*/ 302470 h 329276"/>
              <a:gd name="connsiteX6" fmla="*/ 236911 w 360009"/>
              <a:gd name="connsiteY6" fmla="*/ 291473 h 329276"/>
              <a:gd name="connsiteX7" fmla="*/ 239723 w 360009"/>
              <a:gd name="connsiteY7" fmla="*/ 285581 h 329276"/>
              <a:gd name="connsiteX8" fmla="*/ 234998 w 360009"/>
              <a:gd name="connsiteY8" fmla="*/ 281264 h 329276"/>
              <a:gd name="connsiteX9" fmla="*/ 233423 w 360009"/>
              <a:gd name="connsiteY9" fmla="*/ 278452 h 329276"/>
              <a:gd name="connsiteX10" fmla="*/ 23906 w 360009"/>
              <a:gd name="connsiteY10" fmla="*/ 278452 h 329276"/>
              <a:gd name="connsiteX11" fmla="*/ 23906 w 360009"/>
              <a:gd name="connsiteY11" fmla="*/ 71691 h 329276"/>
              <a:gd name="connsiteX12" fmla="*/ 308222 w 360009"/>
              <a:gd name="connsiteY12" fmla="*/ 71691 h 329276"/>
              <a:gd name="connsiteX13" fmla="*/ 308222 w 360009"/>
              <a:gd name="connsiteY13" fmla="*/ 206845 h 329276"/>
              <a:gd name="connsiteX14" fmla="*/ 321581 w 360009"/>
              <a:gd name="connsiteY14" fmla="*/ 216872 h 329276"/>
              <a:gd name="connsiteX15" fmla="*/ 327867 w 360009"/>
              <a:gd name="connsiteY15" fmla="*/ 214903 h 329276"/>
              <a:gd name="connsiteX16" fmla="*/ 332184 w 360009"/>
              <a:gd name="connsiteY16" fmla="*/ 215297 h 329276"/>
              <a:gd name="connsiteX17" fmla="*/ 332184 w 360009"/>
              <a:gd name="connsiteY17" fmla="*/ 20025 h 329276"/>
              <a:gd name="connsiteX18" fmla="*/ 312342 w 360009"/>
              <a:gd name="connsiteY18" fmla="*/ 0 h 329276"/>
              <a:gd name="connsiteX19" fmla="*/ 225352 w 360009"/>
              <a:gd name="connsiteY19" fmla="*/ 26311 h 329276"/>
              <a:gd name="connsiteX20" fmla="*/ 232622 w 360009"/>
              <a:gd name="connsiteY20" fmla="*/ 26311 h 329276"/>
              <a:gd name="connsiteX21" fmla="*/ 239878 w 360009"/>
              <a:gd name="connsiteY21" fmla="*/ 33778 h 329276"/>
              <a:gd name="connsiteX22" fmla="*/ 239878 w 360009"/>
              <a:gd name="connsiteY22" fmla="*/ 42216 h 329276"/>
              <a:gd name="connsiteX23" fmla="*/ 232622 w 360009"/>
              <a:gd name="connsiteY23" fmla="*/ 49683 h 329276"/>
              <a:gd name="connsiteX24" fmla="*/ 225352 w 360009"/>
              <a:gd name="connsiteY24" fmla="*/ 49683 h 329276"/>
              <a:gd name="connsiteX25" fmla="*/ 217884 w 360009"/>
              <a:gd name="connsiteY25" fmla="*/ 42216 h 329276"/>
              <a:gd name="connsiteX26" fmla="*/ 217884 w 360009"/>
              <a:gd name="connsiteY26" fmla="*/ 33778 h 329276"/>
              <a:gd name="connsiteX27" fmla="*/ 225323 w 360009"/>
              <a:gd name="connsiteY27" fmla="*/ 26311 h 329276"/>
              <a:gd name="connsiteX28" fmla="*/ 259523 w 360009"/>
              <a:gd name="connsiteY28" fmla="*/ 26311 h 329276"/>
              <a:gd name="connsiteX29" fmla="*/ 266991 w 360009"/>
              <a:gd name="connsiteY29" fmla="*/ 26311 h 329276"/>
              <a:gd name="connsiteX30" fmla="*/ 274458 w 360009"/>
              <a:gd name="connsiteY30" fmla="*/ 33778 h 329276"/>
              <a:gd name="connsiteX31" fmla="*/ 274458 w 360009"/>
              <a:gd name="connsiteY31" fmla="*/ 42216 h 329276"/>
              <a:gd name="connsiteX32" fmla="*/ 266991 w 360009"/>
              <a:gd name="connsiteY32" fmla="*/ 49683 h 329276"/>
              <a:gd name="connsiteX33" fmla="*/ 259523 w 360009"/>
              <a:gd name="connsiteY33" fmla="*/ 49683 h 329276"/>
              <a:gd name="connsiteX34" fmla="*/ 252070 w 360009"/>
              <a:gd name="connsiteY34" fmla="*/ 42216 h 329276"/>
              <a:gd name="connsiteX35" fmla="*/ 252070 w 360009"/>
              <a:gd name="connsiteY35" fmla="*/ 33778 h 329276"/>
              <a:gd name="connsiteX36" fmla="*/ 259495 w 360009"/>
              <a:gd name="connsiteY36" fmla="*/ 26311 h 329276"/>
              <a:gd name="connsiteX37" fmla="*/ 293709 w 360009"/>
              <a:gd name="connsiteY37" fmla="*/ 26311 h 329276"/>
              <a:gd name="connsiteX38" fmla="*/ 301177 w 360009"/>
              <a:gd name="connsiteY38" fmla="*/ 26311 h 329276"/>
              <a:gd name="connsiteX39" fmla="*/ 308644 w 360009"/>
              <a:gd name="connsiteY39" fmla="*/ 33778 h 329276"/>
              <a:gd name="connsiteX40" fmla="*/ 308644 w 360009"/>
              <a:gd name="connsiteY40" fmla="*/ 42216 h 329276"/>
              <a:gd name="connsiteX41" fmla="*/ 301177 w 360009"/>
              <a:gd name="connsiteY41" fmla="*/ 49683 h 329276"/>
              <a:gd name="connsiteX42" fmla="*/ 293709 w 360009"/>
              <a:gd name="connsiteY42" fmla="*/ 49683 h 329276"/>
              <a:gd name="connsiteX43" fmla="*/ 286678 w 360009"/>
              <a:gd name="connsiteY43" fmla="*/ 42216 h 329276"/>
              <a:gd name="connsiteX44" fmla="*/ 286678 w 360009"/>
              <a:gd name="connsiteY44" fmla="*/ 33778 h 329276"/>
              <a:gd name="connsiteX45" fmla="*/ 293490 w 360009"/>
              <a:gd name="connsiteY45" fmla="*/ 26317 h 329276"/>
              <a:gd name="connsiteX46" fmla="*/ 293681 w 360009"/>
              <a:gd name="connsiteY46" fmla="*/ 26311 h 329276"/>
              <a:gd name="connsiteX47" fmla="*/ 185048 w 360009"/>
              <a:gd name="connsiteY47" fmla="*/ 99788 h 329276"/>
              <a:gd name="connsiteX48" fmla="*/ 175036 w 360009"/>
              <a:gd name="connsiteY48" fmla="*/ 106819 h 329276"/>
              <a:gd name="connsiteX49" fmla="*/ 139880 w 360009"/>
              <a:gd name="connsiteY49" fmla="*/ 216239 h 329276"/>
              <a:gd name="connsiteX50" fmla="*/ 141286 w 360009"/>
              <a:gd name="connsiteY50" fmla="*/ 225464 h 329276"/>
              <a:gd name="connsiteX51" fmla="*/ 149541 w 360009"/>
              <a:gd name="connsiteY51" fmla="*/ 229795 h 329276"/>
              <a:gd name="connsiteX52" fmla="*/ 149920 w 360009"/>
              <a:gd name="connsiteY52" fmla="*/ 229795 h 329276"/>
              <a:gd name="connsiteX53" fmla="*/ 159764 w 360009"/>
              <a:gd name="connsiteY53" fmla="*/ 222764 h 329276"/>
              <a:gd name="connsiteX54" fmla="*/ 194920 w 360009"/>
              <a:gd name="connsiteY54" fmla="*/ 113541 h 329276"/>
              <a:gd name="connsiteX55" fmla="*/ 193753 w 360009"/>
              <a:gd name="connsiteY55" fmla="*/ 104105 h 329276"/>
              <a:gd name="connsiteX56" fmla="*/ 185316 w 360009"/>
              <a:gd name="connsiteY56" fmla="*/ 99788 h 329276"/>
              <a:gd name="connsiteX57" fmla="*/ 133383 w 360009"/>
              <a:gd name="connsiteY57" fmla="*/ 129642 h 329276"/>
              <a:gd name="connsiteX58" fmla="*/ 129066 w 360009"/>
              <a:gd name="connsiteY58" fmla="*/ 130627 h 329276"/>
              <a:gd name="connsiteX59" fmla="*/ 75628 w 360009"/>
              <a:gd name="connsiteY59" fmla="*/ 155573 h 329276"/>
              <a:gd name="connsiteX60" fmla="*/ 69736 w 360009"/>
              <a:gd name="connsiteY60" fmla="*/ 164813 h 329276"/>
              <a:gd name="connsiteX61" fmla="*/ 69736 w 360009"/>
              <a:gd name="connsiteY61" fmla="*/ 165797 h 329276"/>
              <a:gd name="connsiteX62" fmla="*/ 75628 w 360009"/>
              <a:gd name="connsiteY62" fmla="*/ 175022 h 329276"/>
              <a:gd name="connsiteX63" fmla="*/ 129066 w 360009"/>
              <a:gd name="connsiteY63" fmla="*/ 199969 h 329276"/>
              <a:gd name="connsiteX64" fmla="*/ 133383 w 360009"/>
              <a:gd name="connsiteY64" fmla="*/ 200953 h 329276"/>
              <a:gd name="connsiteX65" fmla="*/ 138881 w 360009"/>
              <a:gd name="connsiteY65" fmla="*/ 199378 h 329276"/>
              <a:gd name="connsiteX66" fmla="*/ 143986 w 360009"/>
              <a:gd name="connsiteY66" fmla="*/ 190744 h 329276"/>
              <a:gd name="connsiteX67" fmla="*/ 143986 w 360009"/>
              <a:gd name="connsiteY67" fmla="*/ 190350 h 329276"/>
              <a:gd name="connsiteX68" fmla="*/ 138094 w 360009"/>
              <a:gd name="connsiteY68" fmla="*/ 181111 h 329276"/>
              <a:gd name="connsiteX69" fmla="*/ 104513 w 360009"/>
              <a:gd name="connsiteY69" fmla="*/ 165403 h 329276"/>
              <a:gd name="connsiteX70" fmla="*/ 138094 w 360009"/>
              <a:gd name="connsiteY70" fmla="*/ 149934 h 329276"/>
              <a:gd name="connsiteX71" fmla="*/ 143986 w 360009"/>
              <a:gd name="connsiteY71" fmla="*/ 140316 h 329276"/>
              <a:gd name="connsiteX72" fmla="*/ 143986 w 360009"/>
              <a:gd name="connsiteY72" fmla="*/ 139922 h 329276"/>
              <a:gd name="connsiteX73" fmla="*/ 138881 w 360009"/>
              <a:gd name="connsiteY73" fmla="*/ 131273 h 329276"/>
              <a:gd name="connsiteX74" fmla="*/ 133383 w 360009"/>
              <a:gd name="connsiteY74" fmla="*/ 129642 h 329276"/>
              <a:gd name="connsiteX75" fmla="*/ 209208 w 360009"/>
              <a:gd name="connsiteY75" fmla="*/ 129642 h 329276"/>
              <a:gd name="connsiteX76" fmla="*/ 203513 w 360009"/>
              <a:gd name="connsiteY76" fmla="*/ 131217 h 329276"/>
              <a:gd name="connsiteX77" fmla="*/ 198998 w 360009"/>
              <a:gd name="connsiteY77" fmla="*/ 139866 h 329276"/>
              <a:gd name="connsiteX78" fmla="*/ 198998 w 360009"/>
              <a:gd name="connsiteY78" fmla="*/ 140259 h 329276"/>
              <a:gd name="connsiteX79" fmla="*/ 204891 w 360009"/>
              <a:gd name="connsiteY79" fmla="*/ 149878 h 329276"/>
              <a:gd name="connsiteX80" fmla="*/ 238486 w 360009"/>
              <a:gd name="connsiteY80" fmla="*/ 165347 h 329276"/>
              <a:gd name="connsiteX81" fmla="*/ 204891 w 360009"/>
              <a:gd name="connsiteY81" fmla="*/ 181111 h 329276"/>
              <a:gd name="connsiteX82" fmla="*/ 198998 w 360009"/>
              <a:gd name="connsiteY82" fmla="*/ 190350 h 329276"/>
              <a:gd name="connsiteX83" fmla="*/ 198998 w 360009"/>
              <a:gd name="connsiteY83" fmla="*/ 190744 h 329276"/>
              <a:gd name="connsiteX84" fmla="*/ 208463 w 360009"/>
              <a:gd name="connsiteY84" fmla="*/ 200953 h 329276"/>
              <a:gd name="connsiteX85" fmla="*/ 209208 w 360009"/>
              <a:gd name="connsiteY85" fmla="*/ 200953 h 329276"/>
              <a:gd name="connsiteX86" fmla="*/ 213919 w 360009"/>
              <a:gd name="connsiteY86" fmla="*/ 199969 h 329276"/>
              <a:gd name="connsiteX87" fmla="*/ 267356 w 360009"/>
              <a:gd name="connsiteY87" fmla="*/ 175022 h 329276"/>
              <a:gd name="connsiteX88" fmla="*/ 273248 w 360009"/>
              <a:gd name="connsiteY88" fmla="*/ 165797 h 329276"/>
              <a:gd name="connsiteX89" fmla="*/ 273248 w 360009"/>
              <a:gd name="connsiteY89" fmla="*/ 164813 h 329276"/>
              <a:gd name="connsiteX90" fmla="*/ 267356 w 360009"/>
              <a:gd name="connsiteY90" fmla="*/ 155573 h 329276"/>
              <a:gd name="connsiteX91" fmla="*/ 213919 w 360009"/>
              <a:gd name="connsiteY91" fmla="*/ 130627 h 329276"/>
              <a:gd name="connsiteX92" fmla="*/ 209208 w 360009"/>
              <a:gd name="connsiteY92" fmla="*/ 129642 h 329276"/>
              <a:gd name="connsiteX93" fmla="*/ 297998 w 360009"/>
              <a:gd name="connsiteY93" fmla="*/ 219417 h 329276"/>
              <a:gd name="connsiteX94" fmla="*/ 294863 w 360009"/>
              <a:gd name="connsiteY94" fmla="*/ 222370 h 329276"/>
              <a:gd name="connsiteX95" fmla="*/ 294863 w 360009"/>
              <a:gd name="connsiteY95" fmla="*/ 233958 h 329276"/>
              <a:gd name="connsiteX96" fmla="*/ 285230 w 360009"/>
              <a:gd name="connsiteY96" fmla="*/ 237487 h 329276"/>
              <a:gd name="connsiteX97" fmla="*/ 278198 w 360009"/>
              <a:gd name="connsiteY97" fmla="*/ 228656 h 329276"/>
              <a:gd name="connsiteX98" fmla="*/ 273488 w 360009"/>
              <a:gd name="connsiteY98" fmla="*/ 228459 h 329276"/>
              <a:gd name="connsiteX99" fmla="*/ 263869 w 360009"/>
              <a:gd name="connsiteY99" fmla="*/ 236517 h 329276"/>
              <a:gd name="connsiteX100" fmla="*/ 262688 w 360009"/>
              <a:gd name="connsiteY100" fmla="*/ 238669 h 329276"/>
              <a:gd name="connsiteX101" fmla="*/ 263672 w 360009"/>
              <a:gd name="connsiteY101" fmla="*/ 240834 h 329276"/>
              <a:gd name="connsiteX102" fmla="*/ 270703 w 360009"/>
              <a:gd name="connsiteY102" fmla="*/ 249483 h 329276"/>
              <a:gd name="connsiteX103" fmla="*/ 265781 w 360009"/>
              <a:gd name="connsiteY103" fmla="*/ 258314 h 329276"/>
              <a:gd name="connsiteX104" fmla="*/ 254531 w 360009"/>
              <a:gd name="connsiteY104" fmla="*/ 256359 h 329276"/>
              <a:gd name="connsiteX105" fmla="*/ 250815 w 360009"/>
              <a:gd name="connsiteY105" fmla="*/ 258851 h 329276"/>
              <a:gd name="connsiteX106" fmla="*/ 250805 w 360009"/>
              <a:gd name="connsiteY106" fmla="*/ 258905 h 329276"/>
              <a:gd name="connsiteX107" fmla="*/ 248639 w 360009"/>
              <a:gd name="connsiteY107" fmla="*/ 271673 h 329276"/>
              <a:gd name="connsiteX108" fmla="*/ 249230 w 360009"/>
              <a:gd name="connsiteY108" fmla="*/ 273839 h 329276"/>
              <a:gd name="connsiteX109" fmla="*/ 251002 w 360009"/>
              <a:gd name="connsiteY109" fmla="*/ 275020 h 329276"/>
              <a:gd name="connsiteX110" fmla="*/ 262252 w 360009"/>
              <a:gd name="connsiteY110" fmla="*/ 276975 h 329276"/>
              <a:gd name="connsiteX111" fmla="*/ 264220 w 360009"/>
              <a:gd name="connsiteY111" fmla="*/ 287198 h 329276"/>
              <a:gd name="connsiteX112" fmla="*/ 254194 w 360009"/>
              <a:gd name="connsiteY112" fmla="*/ 292894 h 329276"/>
              <a:gd name="connsiteX113" fmla="*/ 253013 w 360009"/>
              <a:gd name="connsiteY113" fmla="*/ 294666 h 329276"/>
              <a:gd name="connsiteX114" fmla="*/ 253406 w 360009"/>
              <a:gd name="connsiteY114" fmla="*/ 297211 h 329276"/>
              <a:gd name="connsiteX115" fmla="*/ 259495 w 360009"/>
              <a:gd name="connsiteY115" fmla="*/ 308011 h 329276"/>
              <a:gd name="connsiteX116" fmla="*/ 261464 w 360009"/>
              <a:gd name="connsiteY116" fmla="*/ 309586 h 329276"/>
              <a:gd name="connsiteX117" fmla="*/ 262252 w 360009"/>
              <a:gd name="connsiteY117" fmla="*/ 309586 h 329276"/>
              <a:gd name="connsiteX118" fmla="*/ 263827 w 360009"/>
              <a:gd name="connsiteY118" fmla="*/ 309389 h 329276"/>
              <a:gd name="connsiteX119" fmla="*/ 273839 w 360009"/>
              <a:gd name="connsiteY119" fmla="*/ 303764 h 329276"/>
              <a:gd name="connsiteX120" fmla="*/ 281503 w 360009"/>
              <a:gd name="connsiteY120" fmla="*/ 310444 h 329276"/>
              <a:gd name="connsiteX121" fmla="*/ 277566 w 360009"/>
              <a:gd name="connsiteY121" fmla="*/ 320850 h 329276"/>
              <a:gd name="connsiteX122" fmla="*/ 277566 w 360009"/>
              <a:gd name="connsiteY122" fmla="*/ 323409 h 329276"/>
              <a:gd name="connsiteX123" fmla="*/ 279338 w 360009"/>
              <a:gd name="connsiteY123" fmla="*/ 324984 h 329276"/>
              <a:gd name="connsiteX124" fmla="*/ 291516 w 360009"/>
              <a:gd name="connsiteY124" fmla="*/ 329189 h 329276"/>
              <a:gd name="connsiteX125" fmla="*/ 292500 w 360009"/>
              <a:gd name="connsiteY125" fmla="*/ 329189 h 329276"/>
              <a:gd name="connsiteX126" fmla="*/ 293681 w 360009"/>
              <a:gd name="connsiteY126" fmla="*/ 328992 h 329276"/>
              <a:gd name="connsiteX127" fmla="*/ 295256 w 360009"/>
              <a:gd name="connsiteY127" fmla="*/ 327417 h 329276"/>
              <a:gd name="connsiteX128" fmla="*/ 299377 w 360009"/>
              <a:gd name="connsiteY128" fmla="*/ 316420 h 329276"/>
              <a:gd name="connsiteX129" fmla="*/ 304284 w 360009"/>
              <a:gd name="connsiteY129" fmla="*/ 316814 h 329276"/>
              <a:gd name="connsiteX130" fmla="*/ 309586 w 360009"/>
              <a:gd name="connsiteY130" fmla="*/ 316420 h 329276"/>
              <a:gd name="connsiteX131" fmla="*/ 313327 w 360009"/>
              <a:gd name="connsiteY131" fmla="*/ 327417 h 329276"/>
              <a:gd name="connsiteX132" fmla="*/ 314902 w 360009"/>
              <a:gd name="connsiteY132" fmla="*/ 328992 h 329276"/>
              <a:gd name="connsiteX133" fmla="*/ 316406 w 360009"/>
              <a:gd name="connsiteY133" fmla="*/ 329189 h 329276"/>
              <a:gd name="connsiteX134" fmla="*/ 317194 w 360009"/>
              <a:gd name="connsiteY134" fmla="*/ 329189 h 329276"/>
              <a:gd name="connsiteX135" fmla="*/ 329372 w 360009"/>
              <a:gd name="connsiteY135" fmla="*/ 324872 h 329276"/>
              <a:gd name="connsiteX136" fmla="*/ 330947 w 360009"/>
              <a:gd name="connsiteY136" fmla="*/ 323297 h 329276"/>
              <a:gd name="connsiteX137" fmla="*/ 331144 w 360009"/>
              <a:gd name="connsiteY137" fmla="*/ 320738 h 329276"/>
              <a:gd name="connsiteX138" fmla="*/ 327220 w 360009"/>
              <a:gd name="connsiteY138" fmla="*/ 310331 h 329276"/>
              <a:gd name="connsiteX139" fmla="*/ 334884 w 360009"/>
              <a:gd name="connsiteY139" fmla="*/ 303652 h 329276"/>
              <a:gd name="connsiteX140" fmla="*/ 344897 w 360009"/>
              <a:gd name="connsiteY140" fmla="*/ 309277 h 329276"/>
              <a:gd name="connsiteX141" fmla="*/ 346472 w 360009"/>
              <a:gd name="connsiteY141" fmla="*/ 309473 h 329276"/>
              <a:gd name="connsiteX142" fmla="*/ 347063 w 360009"/>
              <a:gd name="connsiteY142" fmla="*/ 309473 h 329276"/>
              <a:gd name="connsiteX143" fmla="*/ 349017 w 360009"/>
              <a:gd name="connsiteY143" fmla="*/ 307898 h 329276"/>
              <a:gd name="connsiteX144" fmla="*/ 355500 w 360009"/>
              <a:gd name="connsiteY144" fmla="*/ 297098 h 329276"/>
              <a:gd name="connsiteX145" fmla="*/ 355697 w 360009"/>
              <a:gd name="connsiteY145" fmla="*/ 294553 h 329276"/>
              <a:gd name="connsiteX146" fmla="*/ 354291 w 360009"/>
              <a:gd name="connsiteY146" fmla="*/ 292781 h 329276"/>
              <a:gd name="connsiteX147" fmla="*/ 344658 w 360009"/>
              <a:gd name="connsiteY147" fmla="*/ 287086 h 329276"/>
              <a:gd name="connsiteX148" fmla="*/ 346064 w 360009"/>
              <a:gd name="connsiteY148" fmla="*/ 276863 h 329276"/>
              <a:gd name="connsiteX149" fmla="*/ 357314 w 360009"/>
              <a:gd name="connsiteY149" fmla="*/ 274908 h 329276"/>
              <a:gd name="connsiteX150" fmla="*/ 359480 w 360009"/>
              <a:gd name="connsiteY150" fmla="*/ 273727 h 329276"/>
              <a:gd name="connsiteX151" fmla="*/ 359873 w 360009"/>
              <a:gd name="connsiteY151" fmla="*/ 271561 h 329276"/>
              <a:gd name="connsiteX152" fmla="*/ 357722 w 360009"/>
              <a:gd name="connsiteY152" fmla="*/ 258877 h 329276"/>
              <a:gd name="connsiteX153" fmla="*/ 354389 w 360009"/>
              <a:gd name="connsiteY153" fmla="*/ 256331 h 329276"/>
              <a:gd name="connsiteX154" fmla="*/ 343139 w 360009"/>
              <a:gd name="connsiteY154" fmla="*/ 258286 h 329276"/>
              <a:gd name="connsiteX155" fmla="*/ 337838 w 360009"/>
              <a:gd name="connsiteY155" fmla="*/ 249455 h 329276"/>
              <a:gd name="connsiteX156" fmla="*/ 345305 w 360009"/>
              <a:gd name="connsiteY156" fmla="*/ 240806 h 329276"/>
              <a:gd name="connsiteX157" fmla="*/ 345895 w 360009"/>
              <a:gd name="connsiteY157" fmla="*/ 238641 h 329276"/>
              <a:gd name="connsiteX158" fmla="*/ 344911 w 360009"/>
              <a:gd name="connsiteY158" fmla="*/ 236489 h 329276"/>
              <a:gd name="connsiteX159" fmla="*/ 334898 w 360009"/>
              <a:gd name="connsiteY159" fmla="*/ 228431 h 329276"/>
              <a:gd name="connsiteX160" fmla="*/ 332733 w 360009"/>
              <a:gd name="connsiteY160" fmla="*/ 227447 h 329276"/>
              <a:gd name="connsiteX161" fmla="*/ 330567 w 360009"/>
              <a:gd name="connsiteY161" fmla="*/ 228628 h 329276"/>
              <a:gd name="connsiteX162" fmla="*/ 323536 w 360009"/>
              <a:gd name="connsiteY162" fmla="*/ 237459 h 329276"/>
              <a:gd name="connsiteX163" fmla="*/ 313917 w 360009"/>
              <a:gd name="connsiteY163" fmla="*/ 233930 h 329276"/>
              <a:gd name="connsiteX164" fmla="*/ 313917 w 360009"/>
              <a:gd name="connsiteY164" fmla="*/ 222314 h 329276"/>
              <a:gd name="connsiteX165" fmla="*/ 310767 w 360009"/>
              <a:gd name="connsiteY165" fmla="*/ 219361 h 329276"/>
              <a:gd name="connsiteX166" fmla="*/ 304284 w 360009"/>
              <a:gd name="connsiteY166" fmla="*/ 257386 h 329276"/>
              <a:gd name="connsiteX167" fmla="*/ 321398 w 360009"/>
              <a:gd name="connsiteY167" fmla="*/ 274472 h 329276"/>
              <a:gd name="connsiteX168" fmla="*/ 304313 w 360009"/>
              <a:gd name="connsiteY168" fmla="*/ 291586 h 329276"/>
              <a:gd name="connsiteX169" fmla="*/ 287198 w 360009"/>
              <a:gd name="connsiteY169" fmla="*/ 274500 h 329276"/>
              <a:gd name="connsiteX170" fmla="*/ 287198 w 360009"/>
              <a:gd name="connsiteY170" fmla="*/ 274486 h 329276"/>
              <a:gd name="connsiteX171" fmla="*/ 304270 w 360009"/>
              <a:gd name="connsiteY171" fmla="*/ 257330 h 329276"/>
              <a:gd name="connsiteX172" fmla="*/ 304284 w 360009"/>
              <a:gd name="connsiteY172" fmla="*/ 257330 h 32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</a:cxnLst>
            <a:rect l="l" t="t" r="r" b="b"/>
            <a:pathLst>
              <a:path w="360009" h="329276">
                <a:moveTo>
                  <a:pt x="20039" y="0"/>
                </a:moveTo>
                <a:cubicBezTo>
                  <a:pt x="8996" y="46"/>
                  <a:pt x="54" y="8982"/>
                  <a:pt x="0" y="20025"/>
                </a:cubicBezTo>
                <a:lnTo>
                  <a:pt x="0" y="282488"/>
                </a:lnTo>
                <a:cubicBezTo>
                  <a:pt x="8" y="293531"/>
                  <a:pt x="8967" y="302479"/>
                  <a:pt x="20011" y="302470"/>
                </a:cubicBezTo>
                <a:cubicBezTo>
                  <a:pt x="20020" y="302470"/>
                  <a:pt x="20030" y="302470"/>
                  <a:pt x="20039" y="302470"/>
                </a:cubicBezTo>
                <a:lnTo>
                  <a:pt x="238092" y="302470"/>
                </a:lnTo>
                <a:cubicBezTo>
                  <a:pt x="236340" y="299081"/>
                  <a:pt x="235918" y="295158"/>
                  <a:pt x="236911" y="291473"/>
                </a:cubicBezTo>
                <a:cubicBezTo>
                  <a:pt x="237438" y="289339"/>
                  <a:pt x="238396" y="287333"/>
                  <a:pt x="239723" y="285581"/>
                </a:cubicBezTo>
                <a:cubicBezTo>
                  <a:pt x="237881" y="284465"/>
                  <a:pt x="236275" y="282998"/>
                  <a:pt x="234998" y="281264"/>
                </a:cubicBezTo>
                <a:cubicBezTo>
                  <a:pt x="234354" y="280398"/>
                  <a:pt x="233826" y="279453"/>
                  <a:pt x="233423" y="278452"/>
                </a:cubicBezTo>
                <a:lnTo>
                  <a:pt x="23906" y="278452"/>
                </a:lnTo>
                <a:lnTo>
                  <a:pt x="23906" y="71691"/>
                </a:lnTo>
                <a:lnTo>
                  <a:pt x="308222" y="71691"/>
                </a:lnTo>
                <a:lnTo>
                  <a:pt x="308222" y="206845"/>
                </a:lnTo>
                <a:cubicBezTo>
                  <a:pt x="314228" y="207353"/>
                  <a:pt x="319416" y="211247"/>
                  <a:pt x="321581" y="216872"/>
                </a:cubicBezTo>
                <a:cubicBezTo>
                  <a:pt x="323537" y="215833"/>
                  <a:pt x="325668" y="215165"/>
                  <a:pt x="327867" y="214903"/>
                </a:cubicBezTo>
                <a:cubicBezTo>
                  <a:pt x="329317" y="214831"/>
                  <a:pt x="330771" y="214964"/>
                  <a:pt x="332184" y="215297"/>
                </a:cubicBezTo>
                <a:lnTo>
                  <a:pt x="332184" y="20025"/>
                </a:lnTo>
                <a:cubicBezTo>
                  <a:pt x="332224" y="9021"/>
                  <a:pt x="323346" y="62"/>
                  <a:pt x="312342" y="0"/>
                </a:cubicBezTo>
                <a:close/>
                <a:moveTo>
                  <a:pt x="225352" y="26311"/>
                </a:moveTo>
                <a:lnTo>
                  <a:pt x="232622" y="26311"/>
                </a:lnTo>
                <a:cubicBezTo>
                  <a:pt x="236673" y="26403"/>
                  <a:pt x="239902" y="29726"/>
                  <a:pt x="239878" y="33778"/>
                </a:cubicBezTo>
                <a:lnTo>
                  <a:pt x="239878" y="42216"/>
                </a:lnTo>
                <a:cubicBezTo>
                  <a:pt x="239836" y="46241"/>
                  <a:pt x="236644" y="49526"/>
                  <a:pt x="232622" y="49683"/>
                </a:cubicBezTo>
                <a:lnTo>
                  <a:pt x="225352" y="49683"/>
                </a:lnTo>
                <a:cubicBezTo>
                  <a:pt x="221257" y="49615"/>
                  <a:pt x="217952" y="46311"/>
                  <a:pt x="217884" y="42216"/>
                </a:cubicBezTo>
                <a:lnTo>
                  <a:pt x="217884" y="33778"/>
                </a:lnTo>
                <a:cubicBezTo>
                  <a:pt x="217884" y="29665"/>
                  <a:pt x="221210" y="26326"/>
                  <a:pt x="225323" y="26311"/>
                </a:cubicBezTo>
                <a:close/>
                <a:moveTo>
                  <a:pt x="259523" y="26311"/>
                </a:moveTo>
                <a:lnTo>
                  <a:pt x="266991" y="26311"/>
                </a:lnTo>
                <a:cubicBezTo>
                  <a:pt x="271115" y="26311"/>
                  <a:pt x="274458" y="29654"/>
                  <a:pt x="274458" y="33778"/>
                </a:cubicBezTo>
                <a:lnTo>
                  <a:pt x="274458" y="42216"/>
                </a:lnTo>
                <a:cubicBezTo>
                  <a:pt x="274390" y="46311"/>
                  <a:pt x="271086" y="49615"/>
                  <a:pt x="266991" y="49683"/>
                </a:cubicBezTo>
                <a:lnTo>
                  <a:pt x="259523" y="49683"/>
                </a:lnTo>
                <a:cubicBezTo>
                  <a:pt x="255433" y="49608"/>
                  <a:pt x="252138" y="46306"/>
                  <a:pt x="252070" y="42216"/>
                </a:cubicBezTo>
                <a:lnTo>
                  <a:pt x="252070" y="33778"/>
                </a:lnTo>
                <a:cubicBezTo>
                  <a:pt x="252062" y="29667"/>
                  <a:pt x="255385" y="26326"/>
                  <a:pt x="259495" y="26311"/>
                </a:cubicBezTo>
                <a:close/>
                <a:moveTo>
                  <a:pt x="293709" y="26311"/>
                </a:moveTo>
                <a:lnTo>
                  <a:pt x="301177" y="26311"/>
                </a:lnTo>
                <a:cubicBezTo>
                  <a:pt x="305301" y="26311"/>
                  <a:pt x="308644" y="29654"/>
                  <a:pt x="308644" y="33778"/>
                </a:cubicBezTo>
                <a:lnTo>
                  <a:pt x="308644" y="42216"/>
                </a:lnTo>
                <a:cubicBezTo>
                  <a:pt x="308569" y="46308"/>
                  <a:pt x="305269" y="49608"/>
                  <a:pt x="301177" y="49683"/>
                </a:cubicBezTo>
                <a:lnTo>
                  <a:pt x="293709" y="49683"/>
                </a:lnTo>
                <a:cubicBezTo>
                  <a:pt x="289710" y="49553"/>
                  <a:pt x="286567" y="46215"/>
                  <a:pt x="286678" y="42216"/>
                </a:cubicBezTo>
                <a:lnTo>
                  <a:pt x="286678" y="33778"/>
                </a:lnTo>
                <a:cubicBezTo>
                  <a:pt x="286498" y="29837"/>
                  <a:pt x="289548" y="26496"/>
                  <a:pt x="293490" y="26317"/>
                </a:cubicBezTo>
                <a:cubicBezTo>
                  <a:pt x="293553" y="26314"/>
                  <a:pt x="293618" y="26312"/>
                  <a:pt x="293681" y="26311"/>
                </a:cubicBezTo>
                <a:close/>
                <a:moveTo>
                  <a:pt x="185048" y="99788"/>
                </a:moveTo>
                <a:cubicBezTo>
                  <a:pt x="180519" y="99646"/>
                  <a:pt x="176439" y="102510"/>
                  <a:pt x="175036" y="106819"/>
                </a:cubicBezTo>
                <a:lnTo>
                  <a:pt x="139880" y="216239"/>
                </a:lnTo>
                <a:cubicBezTo>
                  <a:pt x="138833" y="219361"/>
                  <a:pt x="139357" y="222795"/>
                  <a:pt x="141286" y="225464"/>
                </a:cubicBezTo>
                <a:cubicBezTo>
                  <a:pt x="143123" y="228218"/>
                  <a:pt x="146232" y="229849"/>
                  <a:pt x="149541" y="229795"/>
                </a:cubicBezTo>
                <a:lnTo>
                  <a:pt x="149920" y="229795"/>
                </a:lnTo>
                <a:cubicBezTo>
                  <a:pt x="154392" y="229875"/>
                  <a:pt x="158390" y="227021"/>
                  <a:pt x="159764" y="222764"/>
                </a:cubicBezTo>
                <a:lnTo>
                  <a:pt x="194920" y="113541"/>
                </a:lnTo>
                <a:cubicBezTo>
                  <a:pt x="196038" y="110387"/>
                  <a:pt x="195605" y="106891"/>
                  <a:pt x="193753" y="104105"/>
                </a:cubicBezTo>
                <a:cubicBezTo>
                  <a:pt x="191800" y="101390"/>
                  <a:pt x="188660" y="99783"/>
                  <a:pt x="185316" y="99788"/>
                </a:cubicBezTo>
                <a:close/>
                <a:moveTo>
                  <a:pt x="133383" y="129642"/>
                </a:moveTo>
                <a:cubicBezTo>
                  <a:pt x="131881" y="129568"/>
                  <a:pt x="130387" y="129908"/>
                  <a:pt x="129066" y="130627"/>
                </a:cubicBezTo>
                <a:lnTo>
                  <a:pt x="75628" y="155573"/>
                </a:lnTo>
                <a:cubicBezTo>
                  <a:pt x="71973" y="157174"/>
                  <a:pt x="69646" y="160823"/>
                  <a:pt x="69736" y="164813"/>
                </a:cubicBezTo>
                <a:lnTo>
                  <a:pt x="69736" y="165797"/>
                </a:lnTo>
                <a:cubicBezTo>
                  <a:pt x="69652" y="169781"/>
                  <a:pt x="71978" y="173423"/>
                  <a:pt x="75628" y="175022"/>
                </a:cubicBezTo>
                <a:lnTo>
                  <a:pt x="129066" y="199969"/>
                </a:lnTo>
                <a:cubicBezTo>
                  <a:pt x="130387" y="200686"/>
                  <a:pt x="131881" y="201028"/>
                  <a:pt x="133383" y="200953"/>
                </a:cubicBezTo>
                <a:cubicBezTo>
                  <a:pt x="135338" y="201040"/>
                  <a:pt x="137268" y="200488"/>
                  <a:pt x="138881" y="199378"/>
                </a:cubicBezTo>
                <a:cubicBezTo>
                  <a:pt x="141979" y="197594"/>
                  <a:pt x="143916" y="194318"/>
                  <a:pt x="143986" y="190744"/>
                </a:cubicBezTo>
                <a:lnTo>
                  <a:pt x="143986" y="190350"/>
                </a:lnTo>
                <a:cubicBezTo>
                  <a:pt x="143982" y="186387"/>
                  <a:pt x="141684" y="182786"/>
                  <a:pt x="138094" y="181111"/>
                </a:cubicBezTo>
                <a:lnTo>
                  <a:pt x="104513" y="165403"/>
                </a:lnTo>
                <a:lnTo>
                  <a:pt x="138094" y="149934"/>
                </a:lnTo>
                <a:cubicBezTo>
                  <a:pt x="141678" y="148057"/>
                  <a:pt x="143941" y="144361"/>
                  <a:pt x="143986" y="140316"/>
                </a:cubicBezTo>
                <a:lnTo>
                  <a:pt x="143986" y="139922"/>
                </a:lnTo>
                <a:cubicBezTo>
                  <a:pt x="143916" y="136344"/>
                  <a:pt x="141979" y="133065"/>
                  <a:pt x="138881" y="131273"/>
                </a:cubicBezTo>
                <a:cubicBezTo>
                  <a:pt x="137275" y="130144"/>
                  <a:pt x="135345" y="129572"/>
                  <a:pt x="133383" y="129642"/>
                </a:cubicBezTo>
                <a:close/>
                <a:moveTo>
                  <a:pt x="209208" y="129642"/>
                </a:moveTo>
                <a:cubicBezTo>
                  <a:pt x="207194" y="129583"/>
                  <a:pt x="205210" y="130132"/>
                  <a:pt x="203513" y="131217"/>
                </a:cubicBezTo>
                <a:cubicBezTo>
                  <a:pt x="200628" y="133140"/>
                  <a:pt x="198927" y="136401"/>
                  <a:pt x="198998" y="139866"/>
                </a:cubicBezTo>
                <a:lnTo>
                  <a:pt x="198998" y="140259"/>
                </a:lnTo>
                <a:cubicBezTo>
                  <a:pt x="198959" y="144329"/>
                  <a:pt x="201247" y="148064"/>
                  <a:pt x="204891" y="149878"/>
                </a:cubicBezTo>
                <a:lnTo>
                  <a:pt x="238486" y="165347"/>
                </a:lnTo>
                <a:lnTo>
                  <a:pt x="204891" y="181111"/>
                </a:lnTo>
                <a:cubicBezTo>
                  <a:pt x="201236" y="182711"/>
                  <a:pt x="198908" y="186360"/>
                  <a:pt x="198998" y="190350"/>
                </a:cubicBezTo>
                <a:lnTo>
                  <a:pt x="198998" y="190744"/>
                </a:lnTo>
                <a:cubicBezTo>
                  <a:pt x="198793" y="196176"/>
                  <a:pt x="203030" y="200748"/>
                  <a:pt x="208463" y="200953"/>
                </a:cubicBezTo>
                <a:cubicBezTo>
                  <a:pt x="208711" y="200963"/>
                  <a:pt x="208959" y="200963"/>
                  <a:pt x="209208" y="200953"/>
                </a:cubicBezTo>
                <a:cubicBezTo>
                  <a:pt x="210836" y="201029"/>
                  <a:pt x="212458" y="200690"/>
                  <a:pt x="213919" y="199969"/>
                </a:cubicBezTo>
                <a:lnTo>
                  <a:pt x="267356" y="175022"/>
                </a:lnTo>
                <a:cubicBezTo>
                  <a:pt x="270946" y="173354"/>
                  <a:pt x="273246" y="169755"/>
                  <a:pt x="273248" y="165797"/>
                </a:cubicBezTo>
                <a:lnTo>
                  <a:pt x="273248" y="164813"/>
                </a:lnTo>
                <a:cubicBezTo>
                  <a:pt x="273244" y="160850"/>
                  <a:pt x="270946" y="157248"/>
                  <a:pt x="267356" y="155573"/>
                </a:cubicBezTo>
                <a:lnTo>
                  <a:pt x="213919" y="130627"/>
                </a:lnTo>
                <a:cubicBezTo>
                  <a:pt x="212458" y="129905"/>
                  <a:pt x="210836" y="129566"/>
                  <a:pt x="209208" y="129642"/>
                </a:cubicBezTo>
                <a:close/>
                <a:moveTo>
                  <a:pt x="297998" y="219417"/>
                </a:moveTo>
                <a:cubicBezTo>
                  <a:pt x="296321" y="219378"/>
                  <a:pt x="294923" y="220694"/>
                  <a:pt x="294863" y="222370"/>
                </a:cubicBezTo>
                <a:lnTo>
                  <a:pt x="294863" y="233958"/>
                </a:lnTo>
                <a:cubicBezTo>
                  <a:pt x="291525" y="234758"/>
                  <a:pt x="288294" y="235942"/>
                  <a:pt x="285230" y="237487"/>
                </a:cubicBezTo>
                <a:lnTo>
                  <a:pt x="278198" y="228656"/>
                </a:lnTo>
                <a:cubicBezTo>
                  <a:pt x="276941" y="227323"/>
                  <a:pt x="274852" y="227236"/>
                  <a:pt x="273488" y="228459"/>
                </a:cubicBezTo>
                <a:lnTo>
                  <a:pt x="263869" y="236517"/>
                </a:lnTo>
                <a:cubicBezTo>
                  <a:pt x="263220" y="237061"/>
                  <a:pt x="262799" y="237829"/>
                  <a:pt x="262688" y="238669"/>
                </a:cubicBezTo>
                <a:cubicBezTo>
                  <a:pt x="262721" y="239491"/>
                  <a:pt x="263074" y="240268"/>
                  <a:pt x="263672" y="240834"/>
                </a:cubicBezTo>
                <a:lnTo>
                  <a:pt x="270703" y="249483"/>
                </a:lnTo>
                <a:cubicBezTo>
                  <a:pt x="268758" y="252246"/>
                  <a:pt x="267109" y="255206"/>
                  <a:pt x="265781" y="258314"/>
                </a:cubicBezTo>
                <a:lnTo>
                  <a:pt x="254531" y="256359"/>
                </a:lnTo>
                <a:cubicBezTo>
                  <a:pt x="252817" y="256022"/>
                  <a:pt x="251153" y="257137"/>
                  <a:pt x="250815" y="258851"/>
                </a:cubicBezTo>
                <a:cubicBezTo>
                  <a:pt x="250812" y="258870"/>
                  <a:pt x="250808" y="258886"/>
                  <a:pt x="250805" y="258905"/>
                </a:cubicBezTo>
                <a:lnTo>
                  <a:pt x="248639" y="271673"/>
                </a:lnTo>
                <a:cubicBezTo>
                  <a:pt x="248527" y="272445"/>
                  <a:pt x="248740" y="273230"/>
                  <a:pt x="249230" y="273839"/>
                </a:cubicBezTo>
                <a:cubicBezTo>
                  <a:pt x="249587" y="274503"/>
                  <a:pt x="250251" y="274946"/>
                  <a:pt x="251002" y="275020"/>
                </a:cubicBezTo>
                <a:lnTo>
                  <a:pt x="262252" y="276975"/>
                </a:lnTo>
                <a:cubicBezTo>
                  <a:pt x="262508" y="280448"/>
                  <a:pt x="263168" y="283878"/>
                  <a:pt x="264220" y="287198"/>
                </a:cubicBezTo>
                <a:lnTo>
                  <a:pt x="254194" y="292894"/>
                </a:lnTo>
                <a:cubicBezTo>
                  <a:pt x="253583" y="293307"/>
                  <a:pt x="253159" y="293943"/>
                  <a:pt x="253013" y="294666"/>
                </a:cubicBezTo>
                <a:cubicBezTo>
                  <a:pt x="252754" y="295530"/>
                  <a:pt x="252899" y="296466"/>
                  <a:pt x="253406" y="297211"/>
                </a:cubicBezTo>
                <a:lnTo>
                  <a:pt x="259495" y="308011"/>
                </a:lnTo>
                <a:cubicBezTo>
                  <a:pt x="259900" y="308790"/>
                  <a:pt x="260616" y="309361"/>
                  <a:pt x="261464" y="309586"/>
                </a:cubicBezTo>
                <a:cubicBezTo>
                  <a:pt x="261661" y="309783"/>
                  <a:pt x="262055" y="309586"/>
                  <a:pt x="262252" y="309586"/>
                </a:cubicBezTo>
                <a:cubicBezTo>
                  <a:pt x="262785" y="309631"/>
                  <a:pt x="263322" y="309563"/>
                  <a:pt x="263827" y="309389"/>
                </a:cubicBezTo>
                <a:lnTo>
                  <a:pt x="273839" y="303764"/>
                </a:lnTo>
                <a:cubicBezTo>
                  <a:pt x="276155" y="306250"/>
                  <a:pt x="278724" y="308489"/>
                  <a:pt x="281503" y="310444"/>
                </a:cubicBezTo>
                <a:lnTo>
                  <a:pt x="277566" y="320850"/>
                </a:lnTo>
                <a:cubicBezTo>
                  <a:pt x="277187" y="321661"/>
                  <a:pt x="277187" y="322598"/>
                  <a:pt x="277566" y="323409"/>
                </a:cubicBezTo>
                <a:cubicBezTo>
                  <a:pt x="277895" y="324170"/>
                  <a:pt x="278543" y="324747"/>
                  <a:pt x="279338" y="324984"/>
                </a:cubicBezTo>
                <a:lnTo>
                  <a:pt x="291516" y="329189"/>
                </a:lnTo>
                <a:cubicBezTo>
                  <a:pt x="291909" y="329386"/>
                  <a:pt x="292106" y="329189"/>
                  <a:pt x="292500" y="329189"/>
                </a:cubicBezTo>
                <a:cubicBezTo>
                  <a:pt x="292904" y="329220"/>
                  <a:pt x="293309" y="329153"/>
                  <a:pt x="293681" y="328992"/>
                </a:cubicBezTo>
                <a:cubicBezTo>
                  <a:pt x="294469" y="328598"/>
                  <a:pt x="295088" y="328205"/>
                  <a:pt x="295256" y="327417"/>
                </a:cubicBezTo>
                <a:lnTo>
                  <a:pt x="299377" y="316420"/>
                </a:lnTo>
                <a:cubicBezTo>
                  <a:pt x="301002" y="316657"/>
                  <a:pt x="302642" y="316789"/>
                  <a:pt x="304284" y="316814"/>
                </a:cubicBezTo>
                <a:cubicBezTo>
                  <a:pt x="306058" y="316782"/>
                  <a:pt x="307828" y="316650"/>
                  <a:pt x="309586" y="316420"/>
                </a:cubicBezTo>
                <a:lnTo>
                  <a:pt x="313327" y="327417"/>
                </a:lnTo>
                <a:cubicBezTo>
                  <a:pt x="313523" y="328205"/>
                  <a:pt x="314114" y="328598"/>
                  <a:pt x="314902" y="328992"/>
                </a:cubicBezTo>
                <a:cubicBezTo>
                  <a:pt x="315384" y="329160"/>
                  <a:pt x="315897" y="329226"/>
                  <a:pt x="316406" y="329189"/>
                </a:cubicBezTo>
                <a:cubicBezTo>
                  <a:pt x="316603" y="329189"/>
                  <a:pt x="316997" y="329386"/>
                  <a:pt x="317194" y="329189"/>
                </a:cubicBezTo>
                <a:lnTo>
                  <a:pt x="329372" y="324872"/>
                </a:lnTo>
                <a:cubicBezTo>
                  <a:pt x="330159" y="324675"/>
                  <a:pt x="330553" y="324084"/>
                  <a:pt x="330947" y="323297"/>
                </a:cubicBezTo>
                <a:cubicBezTo>
                  <a:pt x="331401" y="322519"/>
                  <a:pt x="331474" y="321576"/>
                  <a:pt x="331144" y="320738"/>
                </a:cubicBezTo>
                <a:lnTo>
                  <a:pt x="327220" y="310331"/>
                </a:lnTo>
                <a:cubicBezTo>
                  <a:pt x="330036" y="308423"/>
                  <a:pt x="332610" y="306180"/>
                  <a:pt x="334884" y="303652"/>
                </a:cubicBezTo>
                <a:lnTo>
                  <a:pt x="344897" y="309277"/>
                </a:lnTo>
                <a:cubicBezTo>
                  <a:pt x="345402" y="309451"/>
                  <a:pt x="345939" y="309518"/>
                  <a:pt x="346472" y="309473"/>
                </a:cubicBezTo>
                <a:cubicBezTo>
                  <a:pt x="346669" y="309473"/>
                  <a:pt x="346866" y="309670"/>
                  <a:pt x="347063" y="309473"/>
                </a:cubicBezTo>
                <a:cubicBezTo>
                  <a:pt x="347906" y="309247"/>
                  <a:pt x="348616" y="308675"/>
                  <a:pt x="349017" y="307898"/>
                </a:cubicBezTo>
                <a:lnTo>
                  <a:pt x="355500" y="297098"/>
                </a:lnTo>
                <a:cubicBezTo>
                  <a:pt x="355954" y="296325"/>
                  <a:pt x="356026" y="295387"/>
                  <a:pt x="355697" y="294553"/>
                </a:cubicBezTo>
                <a:cubicBezTo>
                  <a:pt x="355461" y="293811"/>
                  <a:pt x="354961" y="293179"/>
                  <a:pt x="354291" y="292781"/>
                </a:cubicBezTo>
                <a:lnTo>
                  <a:pt x="344658" y="287086"/>
                </a:lnTo>
                <a:cubicBezTo>
                  <a:pt x="345525" y="283745"/>
                  <a:pt x="345997" y="280313"/>
                  <a:pt x="346064" y="276863"/>
                </a:cubicBezTo>
                <a:lnTo>
                  <a:pt x="357314" y="274908"/>
                </a:lnTo>
                <a:cubicBezTo>
                  <a:pt x="358172" y="274843"/>
                  <a:pt x="358961" y="274413"/>
                  <a:pt x="359480" y="273727"/>
                </a:cubicBezTo>
                <a:cubicBezTo>
                  <a:pt x="359999" y="273132"/>
                  <a:pt x="360149" y="272301"/>
                  <a:pt x="359873" y="271561"/>
                </a:cubicBezTo>
                <a:lnTo>
                  <a:pt x="357722" y="258877"/>
                </a:lnTo>
                <a:cubicBezTo>
                  <a:pt x="357490" y="257262"/>
                  <a:pt x="356008" y="256130"/>
                  <a:pt x="354389" y="256331"/>
                </a:cubicBezTo>
                <a:lnTo>
                  <a:pt x="343139" y="258286"/>
                </a:lnTo>
                <a:cubicBezTo>
                  <a:pt x="341685" y="255165"/>
                  <a:pt x="339909" y="252205"/>
                  <a:pt x="337838" y="249455"/>
                </a:cubicBezTo>
                <a:lnTo>
                  <a:pt x="345305" y="240806"/>
                </a:lnTo>
                <a:cubicBezTo>
                  <a:pt x="345705" y="240157"/>
                  <a:pt x="345911" y="239404"/>
                  <a:pt x="345895" y="238641"/>
                </a:cubicBezTo>
                <a:cubicBezTo>
                  <a:pt x="345774" y="237846"/>
                  <a:pt x="345433" y="237101"/>
                  <a:pt x="344911" y="236489"/>
                </a:cubicBezTo>
                <a:lnTo>
                  <a:pt x="334898" y="228431"/>
                </a:lnTo>
                <a:cubicBezTo>
                  <a:pt x="334308" y="227841"/>
                  <a:pt x="333717" y="227250"/>
                  <a:pt x="332733" y="227447"/>
                </a:cubicBezTo>
                <a:cubicBezTo>
                  <a:pt x="331889" y="227557"/>
                  <a:pt x="331117" y="227978"/>
                  <a:pt x="330567" y="228628"/>
                </a:cubicBezTo>
                <a:lnTo>
                  <a:pt x="323536" y="237459"/>
                </a:lnTo>
                <a:cubicBezTo>
                  <a:pt x="320491" y="235883"/>
                  <a:pt x="317258" y="234698"/>
                  <a:pt x="313917" y="233930"/>
                </a:cubicBezTo>
                <a:lnTo>
                  <a:pt x="313917" y="222314"/>
                </a:lnTo>
                <a:cubicBezTo>
                  <a:pt x="313857" y="220632"/>
                  <a:pt x="312450" y="219313"/>
                  <a:pt x="310767" y="219361"/>
                </a:cubicBezTo>
                <a:close/>
                <a:moveTo>
                  <a:pt x="304284" y="257386"/>
                </a:moveTo>
                <a:cubicBezTo>
                  <a:pt x="313729" y="257378"/>
                  <a:pt x="321390" y="265028"/>
                  <a:pt x="321398" y="274472"/>
                </a:cubicBezTo>
                <a:cubicBezTo>
                  <a:pt x="321407" y="283916"/>
                  <a:pt x="313757" y="291578"/>
                  <a:pt x="304313" y="291586"/>
                </a:cubicBezTo>
                <a:cubicBezTo>
                  <a:pt x="294868" y="291594"/>
                  <a:pt x="287207" y="283944"/>
                  <a:pt x="287198" y="274500"/>
                </a:cubicBezTo>
                <a:cubicBezTo>
                  <a:pt x="287198" y="274496"/>
                  <a:pt x="287198" y="274490"/>
                  <a:pt x="287198" y="274486"/>
                </a:cubicBezTo>
                <a:cubicBezTo>
                  <a:pt x="287175" y="265035"/>
                  <a:pt x="294819" y="257354"/>
                  <a:pt x="304270" y="257330"/>
                </a:cubicBezTo>
                <a:cubicBezTo>
                  <a:pt x="304275" y="257330"/>
                  <a:pt x="304280" y="257330"/>
                  <a:pt x="304284" y="257330"/>
                </a:cubicBezTo>
                <a:close/>
              </a:path>
            </a:pathLst>
          </a:custGeom>
          <a:solidFill>
            <a:srgbClr val="FFFFFF"/>
          </a:solidFill>
          <a:ln w="137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图形 58" descr="343435383137323b333633333630393b56e2961f"/>
          <p:cNvSpPr/>
          <p:nvPr>
            <p:custDataLst>
              <p:tags r:id="rId17"/>
            </p:custDataLst>
          </p:nvPr>
        </p:nvSpPr>
        <p:spPr>
          <a:xfrm>
            <a:off x="4105225" y="4475947"/>
            <a:ext cx="431932" cy="247640"/>
          </a:xfrm>
          <a:custGeom>
            <a:avLst/>
            <a:gdLst>
              <a:gd name="connsiteX0" fmla="*/ 139354 w 431932"/>
              <a:gd name="connsiteY0" fmla="*/ 205166 h 247640"/>
              <a:gd name="connsiteX1" fmla="*/ 294857 w 431932"/>
              <a:gd name="connsiteY1" fmla="*/ 205166 h 247640"/>
              <a:gd name="connsiteX2" fmla="*/ 354038 w 431932"/>
              <a:gd name="connsiteY2" fmla="*/ 247641 h 247640"/>
              <a:gd name="connsiteX3" fmla="*/ 80089 w 431932"/>
              <a:gd name="connsiteY3" fmla="*/ 247641 h 247640"/>
              <a:gd name="connsiteX4" fmla="*/ 58067 w 431932"/>
              <a:gd name="connsiteY4" fmla="*/ 148686 h 247640"/>
              <a:gd name="connsiteX5" fmla="*/ 58776 w 431932"/>
              <a:gd name="connsiteY5" fmla="*/ 148787 h 247640"/>
              <a:gd name="connsiteX6" fmla="*/ 59434 w 431932"/>
              <a:gd name="connsiteY6" fmla="*/ 149023 h 247640"/>
              <a:gd name="connsiteX7" fmla="*/ 60092 w 431932"/>
              <a:gd name="connsiteY7" fmla="*/ 149394 h 247640"/>
              <a:gd name="connsiteX8" fmla="*/ 60649 w 431932"/>
              <a:gd name="connsiteY8" fmla="*/ 149884 h 247640"/>
              <a:gd name="connsiteX9" fmla="*/ 61155 w 431932"/>
              <a:gd name="connsiteY9" fmla="*/ 150441 h 247640"/>
              <a:gd name="connsiteX10" fmla="*/ 61459 w 431932"/>
              <a:gd name="connsiteY10" fmla="*/ 151217 h 247640"/>
              <a:gd name="connsiteX11" fmla="*/ 61661 w 431932"/>
              <a:gd name="connsiteY11" fmla="*/ 151976 h 247640"/>
              <a:gd name="connsiteX12" fmla="*/ 61762 w 431932"/>
              <a:gd name="connsiteY12" fmla="*/ 152685 h 247640"/>
              <a:gd name="connsiteX13" fmla="*/ 61661 w 431932"/>
              <a:gd name="connsiteY13" fmla="*/ 153478 h 247640"/>
              <a:gd name="connsiteX14" fmla="*/ 61459 w 431932"/>
              <a:gd name="connsiteY14" fmla="*/ 154187 h 247640"/>
              <a:gd name="connsiteX15" fmla="*/ 61003 w 431932"/>
              <a:gd name="connsiteY15" fmla="*/ 154794 h 247640"/>
              <a:gd name="connsiteX16" fmla="*/ 60598 w 431932"/>
              <a:gd name="connsiteY16" fmla="*/ 155301 h 247640"/>
              <a:gd name="connsiteX17" fmla="*/ 59991 w 431932"/>
              <a:gd name="connsiteY17" fmla="*/ 155807 h 247640"/>
              <a:gd name="connsiteX18" fmla="*/ 59282 w 431932"/>
              <a:gd name="connsiteY18" fmla="*/ 156111 h 247640"/>
              <a:gd name="connsiteX19" fmla="*/ 56801 w 431932"/>
              <a:gd name="connsiteY19" fmla="*/ 157191 h 247640"/>
              <a:gd name="connsiteX20" fmla="*/ 54523 w 431932"/>
              <a:gd name="connsiteY20" fmla="*/ 158085 h 247640"/>
              <a:gd name="connsiteX21" fmla="*/ 53764 w 431932"/>
              <a:gd name="connsiteY21" fmla="*/ 158237 h 247640"/>
              <a:gd name="connsiteX22" fmla="*/ 52954 w 431932"/>
              <a:gd name="connsiteY22" fmla="*/ 158237 h 247640"/>
              <a:gd name="connsiteX23" fmla="*/ 52296 w 431932"/>
              <a:gd name="connsiteY23" fmla="*/ 158237 h 247640"/>
              <a:gd name="connsiteX24" fmla="*/ 51587 w 431932"/>
              <a:gd name="connsiteY24" fmla="*/ 157984 h 247640"/>
              <a:gd name="connsiteX25" fmla="*/ 50979 w 431932"/>
              <a:gd name="connsiteY25" fmla="*/ 157579 h 247640"/>
              <a:gd name="connsiteX26" fmla="*/ 50423 w 431932"/>
              <a:gd name="connsiteY26" fmla="*/ 157123 h 247640"/>
              <a:gd name="connsiteX27" fmla="*/ 49967 w 431932"/>
              <a:gd name="connsiteY27" fmla="*/ 156516 h 247640"/>
              <a:gd name="connsiteX28" fmla="*/ 49613 w 431932"/>
              <a:gd name="connsiteY28" fmla="*/ 155807 h 247640"/>
              <a:gd name="connsiteX29" fmla="*/ 49359 w 431932"/>
              <a:gd name="connsiteY29" fmla="*/ 155098 h 247640"/>
              <a:gd name="connsiteX30" fmla="*/ 49359 w 431932"/>
              <a:gd name="connsiteY30" fmla="*/ 154254 h 247640"/>
              <a:gd name="connsiteX31" fmla="*/ 49359 w 431932"/>
              <a:gd name="connsiteY31" fmla="*/ 153546 h 247640"/>
              <a:gd name="connsiteX32" fmla="*/ 49613 w 431932"/>
              <a:gd name="connsiteY32" fmla="*/ 152888 h 247640"/>
              <a:gd name="connsiteX33" fmla="*/ 50018 w 431932"/>
              <a:gd name="connsiteY33" fmla="*/ 152229 h 247640"/>
              <a:gd name="connsiteX34" fmla="*/ 50473 w 431932"/>
              <a:gd name="connsiteY34" fmla="*/ 151673 h 247640"/>
              <a:gd name="connsiteX35" fmla="*/ 50979 w 431932"/>
              <a:gd name="connsiteY35" fmla="*/ 151234 h 247640"/>
              <a:gd name="connsiteX36" fmla="*/ 51688 w 431932"/>
              <a:gd name="connsiteY36" fmla="*/ 150863 h 247640"/>
              <a:gd name="connsiteX37" fmla="*/ 56498 w 431932"/>
              <a:gd name="connsiteY37" fmla="*/ 148956 h 247640"/>
              <a:gd name="connsiteX38" fmla="*/ 57308 w 431932"/>
              <a:gd name="connsiteY38" fmla="*/ 148703 h 247640"/>
              <a:gd name="connsiteX39" fmla="*/ 373883 w 431932"/>
              <a:gd name="connsiteY39" fmla="*/ 146492 h 247640"/>
              <a:gd name="connsiteX40" fmla="*/ 374591 w 431932"/>
              <a:gd name="connsiteY40" fmla="*/ 146492 h 247640"/>
              <a:gd name="connsiteX41" fmla="*/ 375300 w 431932"/>
              <a:gd name="connsiteY41" fmla="*/ 146745 h 247640"/>
              <a:gd name="connsiteX42" fmla="*/ 380109 w 431932"/>
              <a:gd name="connsiteY42" fmla="*/ 148551 h 247640"/>
              <a:gd name="connsiteX43" fmla="*/ 380768 w 431932"/>
              <a:gd name="connsiteY43" fmla="*/ 148871 h 247640"/>
              <a:gd name="connsiteX44" fmla="*/ 381426 w 431932"/>
              <a:gd name="connsiteY44" fmla="*/ 149327 h 247640"/>
              <a:gd name="connsiteX45" fmla="*/ 381881 w 431932"/>
              <a:gd name="connsiteY45" fmla="*/ 149884 h 247640"/>
              <a:gd name="connsiteX46" fmla="*/ 382286 w 431932"/>
              <a:gd name="connsiteY46" fmla="*/ 150542 h 247640"/>
              <a:gd name="connsiteX47" fmla="*/ 382539 w 431932"/>
              <a:gd name="connsiteY47" fmla="*/ 151200 h 247640"/>
              <a:gd name="connsiteX48" fmla="*/ 382539 w 431932"/>
              <a:gd name="connsiteY48" fmla="*/ 151909 h 247640"/>
              <a:gd name="connsiteX49" fmla="*/ 382539 w 431932"/>
              <a:gd name="connsiteY49" fmla="*/ 152651 h 247640"/>
              <a:gd name="connsiteX50" fmla="*/ 382337 w 431932"/>
              <a:gd name="connsiteY50" fmla="*/ 153360 h 247640"/>
              <a:gd name="connsiteX51" fmla="*/ 381983 w 431932"/>
              <a:gd name="connsiteY51" fmla="*/ 154018 h 247640"/>
              <a:gd name="connsiteX52" fmla="*/ 381476 w 431932"/>
              <a:gd name="connsiteY52" fmla="*/ 154626 h 247640"/>
              <a:gd name="connsiteX53" fmla="*/ 380970 w 431932"/>
              <a:gd name="connsiteY53" fmla="*/ 155081 h 247640"/>
              <a:gd name="connsiteX54" fmla="*/ 380363 w 431932"/>
              <a:gd name="connsiteY54" fmla="*/ 155486 h 247640"/>
              <a:gd name="connsiteX55" fmla="*/ 379654 w 431932"/>
              <a:gd name="connsiteY55" fmla="*/ 155604 h 247640"/>
              <a:gd name="connsiteX56" fmla="*/ 378844 w 431932"/>
              <a:gd name="connsiteY56" fmla="*/ 155739 h 247640"/>
              <a:gd name="connsiteX57" fmla="*/ 378186 w 431932"/>
              <a:gd name="connsiteY57" fmla="*/ 155739 h 247640"/>
              <a:gd name="connsiteX58" fmla="*/ 377426 w 431932"/>
              <a:gd name="connsiteY58" fmla="*/ 155537 h 247640"/>
              <a:gd name="connsiteX59" fmla="*/ 372617 w 431932"/>
              <a:gd name="connsiteY59" fmla="*/ 153731 h 247640"/>
              <a:gd name="connsiteX60" fmla="*/ 371908 w 431932"/>
              <a:gd name="connsiteY60" fmla="*/ 153411 h 247640"/>
              <a:gd name="connsiteX61" fmla="*/ 371351 w 431932"/>
              <a:gd name="connsiteY61" fmla="*/ 152904 h 247640"/>
              <a:gd name="connsiteX62" fmla="*/ 370845 w 431932"/>
              <a:gd name="connsiteY62" fmla="*/ 152297 h 247640"/>
              <a:gd name="connsiteX63" fmla="*/ 370491 w 431932"/>
              <a:gd name="connsiteY63" fmla="*/ 151740 h 247640"/>
              <a:gd name="connsiteX64" fmla="*/ 370288 w 431932"/>
              <a:gd name="connsiteY64" fmla="*/ 151031 h 247640"/>
              <a:gd name="connsiteX65" fmla="*/ 370187 w 431932"/>
              <a:gd name="connsiteY65" fmla="*/ 150323 h 247640"/>
              <a:gd name="connsiteX66" fmla="*/ 370288 w 431932"/>
              <a:gd name="connsiteY66" fmla="*/ 149614 h 247640"/>
              <a:gd name="connsiteX67" fmla="*/ 370440 w 431932"/>
              <a:gd name="connsiteY67" fmla="*/ 148821 h 247640"/>
              <a:gd name="connsiteX68" fmla="*/ 370794 w 431932"/>
              <a:gd name="connsiteY68" fmla="*/ 148264 h 247640"/>
              <a:gd name="connsiteX69" fmla="*/ 371301 w 431932"/>
              <a:gd name="connsiteY69" fmla="*/ 147656 h 247640"/>
              <a:gd name="connsiteX70" fmla="*/ 371807 w 431932"/>
              <a:gd name="connsiteY70" fmla="*/ 147133 h 247640"/>
              <a:gd name="connsiteX71" fmla="*/ 372414 w 431932"/>
              <a:gd name="connsiteY71" fmla="*/ 146796 h 247640"/>
              <a:gd name="connsiteX72" fmla="*/ 373073 w 431932"/>
              <a:gd name="connsiteY72" fmla="*/ 146542 h 247640"/>
              <a:gd name="connsiteX73" fmla="*/ 75533 w 431932"/>
              <a:gd name="connsiteY73" fmla="*/ 137194 h 247640"/>
              <a:gd name="connsiteX74" fmla="*/ 77625 w 431932"/>
              <a:gd name="connsiteY74" fmla="*/ 137194 h 247640"/>
              <a:gd name="connsiteX75" fmla="*/ 78789 w 431932"/>
              <a:gd name="connsiteY75" fmla="*/ 137194 h 247640"/>
              <a:gd name="connsiteX76" fmla="*/ 79853 w 431932"/>
              <a:gd name="connsiteY76" fmla="*/ 137396 h 247640"/>
              <a:gd name="connsiteX77" fmla="*/ 80916 w 431932"/>
              <a:gd name="connsiteY77" fmla="*/ 137599 h 247640"/>
              <a:gd name="connsiteX78" fmla="*/ 82063 w 431932"/>
              <a:gd name="connsiteY78" fmla="*/ 137852 h 247640"/>
              <a:gd name="connsiteX79" fmla="*/ 83177 w 431932"/>
              <a:gd name="connsiteY79" fmla="*/ 138189 h 247640"/>
              <a:gd name="connsiteX80" fmla="*/ 84291 w 431932"/>
              <a:gd name="connsiteY80" fmla="*/ 138611 h 247640"/>
              <a:gd name="connsiteX81" fmla="*/ 85404 w 431932"/>
              <a:gd name="connsiteY81" fmla="*/ 139067 h 247640"/>
              <a:gd name="connsiteX82" fmla="*/ 86619 w 431932"/>
              <a:gd name="connsiteY82" fmla="*/ 139506 h 247640"/>
              <a:gd name="connsiteX83" fmla="*/ 87632 w 431932"/>
              <a:gd name="connsiteY83" fmla="*/ 140063 h 247640"/>
              <a:gd name="connsiteX84" fmla="*/ 88746 w 431932"/>
              <a:gd name="connsiteY84" fmla="*/ 140687 h 247640"/>
              <a:gd name="connsiteX85" fmla="*/ 89809 w 431932"/>
              <a:gd name="connsiteY85" fmla="*/ 141345 h 247640"/>
              <a:gd name="connsiteX86" fmla="*/ 90872 w 431932"/>
              <a:gd name="connsiteY86" fmla="*/ 142037 h 247640"/>
              <a:gd name="connsiteX87" fmla="*/ 91884 w 431932"/>
              <a:gd name="connsiteY87" fmla="*/ 142864 h 247640"/>
              <a:gd name="connsiteX88" fmla="*/ 92948 w 431932"/>
              <a:gd name="connsiteY88" fmla="*/ 143573 h 247640"/>
              <a:gd name="connsiteX89" fmla="*/ 93808 w 431932"/>
              <a:gd name="connsiteY89" fmla="*/ 144484 h 247640"/>
              <a:gd name="connsiteX90" fmla="*/ 94719 w 431932"/>
              <a:gd name="connsiteY90" fmla="*/ 145294 h 247640"/>
              <a:gd name="connsiteX91" fmla="*/ 95580 w 431932"/>
              <a:gd name="connsiteY91" fmla="*/ 146205 h 247640"/>
              <a:gd name="connsiteX92" fmla="*/ 96491 w 431932"/>
              <a:gd name="connsiteY92" fmla="*/ 147099 h 247640"/>
              <a:gd name="connsiteX93" fmla="*/ 97200 w 431932"/>
              <a:gd name="connsiteY93" fmla="*/ 148078 h 247640"/>
              <a:gd name="connsiteX94" fmla="*/ 97875 w 431932"/>
              <a:gd name="connsiteY94" fmla="*/ 149192 h 247640"/>
              <a:gd name="connsiteX95" fmla="*/ 98685 w 431932"/>
              <a:gd name="connsiteY95" fmla="*/ 150356 h 247640"/>
              <a:gd name="connsiteX96" fmla="*/ 99343 w 431932"/>
              <a:gd name="connsiteY96" fmla="*/ 151673 h 247640"/>
              <a:gd name="connsiteX97" fmla="*/ 100052 w 431932"/>
              <a:gd name="connsiteY97" fmla="*/ 153039 h 247640"/>
              <a:gd name="connsiteX98" fmla="*/ 100710 w 431932"/>
              <a:gd name="connsiteY98" fmla="*/ 154558 h 247640"/>
              <a:gd name="connsiteX99" fmla="*/ 101419 w 431932"/>
              <a:gd name="connsiteY99" fmla="*/ 156128 h 247640"/>
              <a:gd name="connsiteX100" fmla="*/ 102634 w 431932"/>
              <a:gd name="connsiteY100" fmla="*/ 159503 h 247640"/>
              <a:gd name="connsiteX101" fmla="*/ 103899 w 431932"/>
              <a:gd name="connsiteY101" fmla="*/ 163046 h 247640"/>
              <a:gd name="connsiteX102" fmla="*/ 105013 w 431932"/>
              <a:gd name="connsiteY102" fmla="*/ 166742 h 247640"/>
              <a:gd name="connsiteX103" fmla="*/ 106127 w 431932"/>
              <a:gd name="connsiteY103" fmla="*/ 170387 h 247640"/>
              <a:gd name="connsiteX104" fmla="*/ 107038 w 431932"/>
              <a:gd name="connsiteY104" fmla="*/ 174133 h 247640"/>
              <a:gd name="connsiteX105" fmla="*/ 108000 w 431932"/>
              <a:gd name="connsiteY105" fmla="*/ 177677 h 247640"/>
              <a:gd name="connsiteX106" fmla="*/ 108709 w 431932"/>
              <a:gd name="connsiteY106" fmla="*/ 181052 h 247640"/>
              <a:gd name="connsiteX107" fmla="*/ 109974 w 431932"/>
              <a:gd name="connsiteY107" fmla="*/ 186773 h 247640"/>
              <a:gd name="connsiteX108" fmla="*/ 110734 w 431932"/>
              <a:gd name="connsiteY108" fmla="*/ 190671 h 247640"/>
              <a:gd name="connsiteX109" fmla="*/ 111038 w 431932"/>
              <a:gd name="connsiteY109" fmla="*/ 192139 h 247640"/>
              <a:gd name="connsiteX110" fmla="*/ 55536 w 431932"/>
              <a:gd name="connsiteY110" fmla="*/ 231238 h 247640"/>
              <a:gd name="connsiteX111" fmla="*/ 1215 w 431932"/>
              <a:gd name="connsiteY111" fmla="*/ 231238 h 247640"/>
              <a:gd name="connsiteX112" fmla="*/ 1215 w 431932"/>
              <a:gd name="connsiteY112" fmla="*/ 228808 h 247640"/>
              <a:gd name="connsiteX113" fmla="*/ 1215 w 431932"/>
              <a:gd name="connsiteY113" fmla="*/ 226024 h 247640"/>
              <a:gd name="connsiteX114" fmla="*/ 861 w 431932"/>
              <a:gd name="connsiteY114" fmla="*/ 219594 h 247640"/>
              <a:gd name="connsiteX115" fmla="*/ 506 w 431932"/>
              <a:gd name="connsiteY115" fmla="*/ 212254 h 247640"/>
              <a:gd name="connsiteX116" fmla="*/ 203 w 431932"/>
              <a:gd name="connsiteY116" fmla="*/ 204255 h 247640"/>
              <a:gd name="connsiteX117" fmla="*/ 203 w 431932"/>
              <a:gd name="connsiteY117" fmla="*/ 200003 h 247640"/>
              <a:gd name="connsiteX118" fmla="*/ 0 w 431932"/>
              <a:gd name="connsiteY118" fmla="*/ 195801 h 247640"/>
              <a:gd name="connsiteX119" fmla="*/ 0 w 431932"/>
              <a:gd name="connsiteY119" fmla="*/ 191379 h 247640"/>
              <a:gd name="connsiteX120" fmla="*/ 152 w 431932"/>
              <a:gd name="connsiteY120" fmla="*/ 187127 h 247640"/>
              <a:gd name="connsiteX121" fmla="*/ 253 w 431932"/>
              <a:gd name="connsiteY121" fmla="*/ 182942 h 247640"/>
              <a:gd name="connsiteX122" fmla="*/ 405 w 431932"/>
              <a:gd name="connsiteY122" fmla="*/ 178689 h 247640"/>
              <a:gd name="connsiteX123" fmla="*/ 810 w 431932"/>
              <a:gd name="connsiteY123" fmla="*/ 174639 h 247640"/>
              <a:gd name="connsiteX124" fmla="*/ 1215 w 431932"/>
              <a:gd name="connsiteY124" fmla="*/ 170589 h 247640"/>
              <a:gd name="connsiteX125" fmla="*/ 1569 w 431932"/>
              <a:gd name="connsiteY125" fmla="*/ 168007 h 247640"/>
              <a:gd name="connsiteX126" fmla="*/ 2076 w 431932"/>
              <a:gd name="connsiteY126" fmla="*/ 165476 h 247640"/>
              <a:gd name="connsiteX127" fmla="*/ 2582 w 431932"/>
              <a:gd name="connsiteY127" fmla="*/ 163148 h 247640"/>
              <a:gd name="connsiteX128" fmla="*/ 3189 w 431932"/>
              <a:gd name="connsiteY128" fmla="*/ 161004 h 247640"/>
              <a:gd name="connsiteX129" fmla="*/ 3898 w 431932"/>
              <a:gd name="connsiteY129" fmla="*/ 158962 h 247640"/>
              <a:gd name="connsiteX130" fmla="*/ 4556 w 431932"/>
              <a:gd name="connsiteY130" fmla="*/ 157039 h 247640"/>
              <a:gd name="connsiteX131" fmla="*/ 5366 w 431932"/>
              <a:gd name="connsiteY131" fmla="*/ 155166 h 247640"/>
              <a:gd name="connsiteX132" fmla="*/ 6126 w 431932"/>
              <a:gd name="connsiteY132" fmla="*/ 153478 h 247640"/>
              <a:gd name="connsiteX133" fmla="*/ 6986 w 431932"/>
              <a:gd name="connsiteY133" fmla="*/ 151926 h 247640"/>
              <a:gd name="connsiteX134" fmla="*/ 7897 w 431932"/>
              <a:gd name="connsiteY134" fmla="*/ 150441 h 247640"/>
              <a:gd name="connsiteX135" fmla="*/ 8708 w 431932"/>
              <a:gd name="connsiteY135" fmla="*/ 149074 h 247640"/>
              <a:gd name="connsiteX136" fmla="*/ 9669 w 431932"/>
              <a:gd name="connsiteY136" fmla="*/ 147859 h 247640"/>
              <a:gd name="connsiteX137" fmla="*/ 10581 w 431932"/>
              <a:gd name="connsiteY137" fmla="*/ 146644 h 247640"/>
              <a:gd name="connsiteX138" fmla="*/ 11492 w 431932"/>
              <a:gd name="connsiteY138" fmla="*/ 145699 h 247640"/>
              <a:gd name="connsiteX139" fmla="*/ 12454 w 431932"/>
              <a:gd name="connsiteY139" fmla="*/ 144669 h 247640"/>
              <a:gd name="connsiteX140" fmla="*/ 13365 w 431932"/>
              <a:gd name="connsiteY140" fmla="*/ 143876 h 247640"/>
              <a:gd name="connsiteX141" fmla="*/ 14327 w 431932"/>
              <a:gd name="connsiteY141" fmla="*/ 143066 h 247640"/>
              <a:gd name="connsiteX142" fmla="*/ 15188 w 431932"/>
              <a:gd name="connsiteY142" fmla="*/ 142442 h 247640"/>
              <a:gd name="connsiteX143" fmla="*/ 15997 w 431932"/>
              <a:gd name="connsiteY143" fmla="*/ 141834 h 247640"/>
              <a:gd name="connsiteX144" fmla="*/ 16909 w 431932"/>
              <a:gd name="connsiteY144" fmla="*/ 141227 h 247640"/>
              <a:gd name="connsiteX145" fmla="*/ 18478 w 431932"/>
              <a:gd name="connsiteY145" fmla="*/ 140349 h 247640"/>
              <a:gd name="connsiteX146" fmla="*/ 19845 w 431932"/>
              <a:gd name="connsiteY146" fmla="*/ 139641 h 247640"/>
              <a:gd name="connsiteX147" fmla="*/ 21060 w 431932"/>
              <a:gd name="connsiteY147" fmla="*/ 139202 h 247640"/>
              <a:gd name="connsiteX148" fmla="*/ 21971 w 431932"/>
              <a:gd name="connsiteY148" fmla="*/ 138949 h 247640"/>
              <a:gd name="connsiteX149" fmla="*/ 22680 w 431932"/>
              <a:gd name="connsiteY149" fmla="*/ 138746 h 247640"/>
              <a:gd name="connsiteX150" fmla="*/ 23996 w 431932"/>
              <a:gd name="connsiteY150" fmla="*/ 139084 h 247640"/>
              <a:gd name="connsiteX151" fmla="*/ 25262 w 431932"/>
              <a:gd name="connsiteY151" fmla="*/ 139253 h 247640"/>
              <a:gd name="connsiteX152" fmla="*/ 27591 w 431932"/>
              <a:gd name="connsiteY152" fmla="*/ 139961 h 247640"/>
              <a:gd name="connsiteX153" fmla="*/ 29818 w 431932"/>
              <a:gd name="connsiteY153" fmla="*/ 140822 h 247640"/>
              <a:gd name="connsiteX154" fmla="*/ 31944 w 431932"/>
              <a:gd name="connsiteY154" fmla="*/ 141834 h 247640"/>
              <a:gd name="connsiteX155" fmla="*/ 33919 w 431932"/>
              <a:gd name="connsiteY155" fmla="*/ 142830 h 247640"/>
              <a:gd name="connsiteX156" fmla="*/ 35843 w 431932"/>
              <a:gd name="connsiteY156" fmla="*/ 144045 h 247640"/>
              <a:gd name="connsiteX157" fmla="*/ 37614 w 431932"/>
              <a:gd name="connsiteY157" fmla="*/ 145311 h 247640"/>
              <a:gd name="connsiteX158" fmla="*/ 39302 w 431932"/>
              <a:gd name="connsiteY158" fmla="*/ 146677 h 247640"/>
              <a:gd name="connsiteX159" fmla="*/ 40871 w 431932"/>
              <a:gd name="connsiteY159" fmla="*/ 148213 h 247640"/>
              <a:gd name="connsiteX160" fmla="*/ 42289 w 431932"/>
              <a:gd name="connsiteY160" fmla="*/ 149715 h 247640"/>
              <a:gd name="connsiteX161" fmla="*/ 43656 w 431932"/>
              <a:gd name="connsiteY161" fmla="*/ 151301 h 247640"/>
              <a:gd name="connsiteX162" fmla="*/ 45023 w 431932"/>
              <a:gd name="connsiteY162" fmla="*/ 152989 h 247640"/>
              <a:gd name="connsiteX163" fmla="*/ 46187 w 431932"/>
              <a:gd name="connsiteY163" fmla="*/ 154676 h 247640"/>
              <a:gd name="connsiteX164" fmla="*/ 47402 w 431932"/>
              <a:gd name="connsiteY164" fmla="*/ 156279 h 247640"/>
              <a:gd name="connsiteX165" fmla="*/ 48414 w 431932"/>
              <a:gd name="connsiteY165" fmla="*/ 157967 h 247640"/>
              <a:gd name="connsiteX166" fmla="*/ 49528 w 431932"/>
              <a:gd name="connsiteY166" fmla="*/ 159536 h 247640"/>
              <a:gd name="connsiteX167" fmla="*/ 51351 w 431932"/>
              <a:gd name="connsiteY167" fmla="*/ 162726 h 247640"/>
              <a:gd name="connsiteX168" fmla="*/ 53038 w 431932"/>
              <a:gd name="connsiteY168" fmla="*/ 165712 h 247640"/>
              <a:gd name="connsiteX169" fmla="*/ 54557 w 431932"/>
              <a:gd name="connsiteY169" fmla="*/ 168446 h 247640"/>
              <a:gd name="connsiteX170" fmla="*/ 55974 w 431932"/>
              <a:gd name="connsiteY170" fmla="*/ 170724 h 247640"/>
              <a:gd name="connsiteX171" fmla="*/ 56683 w 431932"/>
              <a:gd name="connsiteY171" fmla="*/ 171737 h 247640"/>
              <a:gd name="connsiteX172" fmla="*/ 57341 w 431932"/>
              <a:gd name="connsiteY172" fmla="*/ 172597 h 247640"/>
              <a:gd name="connsiteX173" fmla="*/ 57949 w 431932"/>
              <a:gd name="connsiteY173" fmla="*/ 173256 h 247640"/>
              <a:gd name="connsiteX174" fmla="*/ 58657 w 431932"/>
              <a:gd name="connsiteY174" fmla="*/ 173762 h 247640"/>
              <a:gd name="connsiteX175" fmla="*/ 59265 w 431932"/>
              <a:gd name="connsiteY175" fmla="*/ 174218 h 247640"/>
              <a:gd name="connsiteX176" fmla="*/ 59974 w 431932"/>
              <a:gd name="connsiteY176" fmla="*/ 174369 h 247640"/>
              <a:gd name="connsiteX177" fmla="*/ 60750 w 431932"/>
              <a:gd name="connsiteY177" fmla="*/ 174369 h 247640"/>
              <a:gd name="connsiteX178" fmla="*/ 61104 w 431932"/>
              <a:gd name="connsiteY178" fmla="*/ 174369 h 247640"/>
              <a:gd name="connsiteX179" fmla="*/ 61408 w 431932"/>
              <a:gd name="connsiteY179" fmla="*/ 174268 h 247640"/>
              <a:gd name="connsiteX180" fmla="*/ 62117 w 431932"/>
              <a:gd name="connsiteY180" fmla="*/ 173964 h 247640"/>
              <a:gd name="connsiteX181" fmla="*/ 62471 w 431932"/>
              <a:gd name="connsiteY181" fmla="*/ 173610 h 247640"/>
              <a:gd name="connsiteX182" fmla="*/ 62674 w 431932"/>
              <a:gd name="connsiteY182" fmla="*/ 173458 h 247640"/>
              <a:gd name="connsiteX183" fmla="*/ 63231 w 431932"/>
              <a:gd name="connsiteY183" fmla="*/ 173003 h 247640"/>
              <a:gd name="connsiteX184" fmla="*/ 63585 w 431932"/>
              <a:gd name="connsiteY184" fmla="*/ 172395 h 247640"/>
              <a:gd name="connsiteX185" fmla="*/ 63990 w 431932"/>
              <a:gd name="connsiteY185" fmla="*/ 171788 h 247640"/>
              <a:gd name="connsiteX186" fmla="*/ 64294 w 431932"/>
              <a:gd name="connsiteY186" fmla="*/ 171079 h 247640"/>
              <a:gd name="connsiteX187" fmla="*/ 64547 w 431932"/>
              <a:gd name="connsiteY187" fmla="*/ 170269 h 247640"/>
              <a:gd name="connsiteX188" fmla="*/ 64648 w 431932"/>
              <a:gd name="connsiteY188" fmla="*/ 169459 h 247640"/>
              <a:gd name="connsiteX189" fmla="*/ 64851 w 431932"/>
              <a:gd name="connsiteY189" fmla="*/ 168598 h 247640"/>
              <a:gd name="connsiteX190" fmla="*/ 64851 w 431932"/>
              <a:gd name="connsiteY190" fmla="*/ 167687 h 247640"/>
              <a:gd name="connsiteX191" fmla="*/ 64851 w 431932"/>
              <a:gd name="connsiteY191" fmla="*/ 165763 h 247640"/>
              <a:gd name="connsiteX192" fmla="*/ 64851 w 431932"/>
              <a:gd name="connsiteY192" fmla="*/ 163637 h 247640"/>
              <a:gd name="connsiteX193" fmla="*/ 64851 w 431932"/>
              <a:gd name="connsiteY193" fmla="*/ 161460 h 247640"/>
              <a:gd name="connsiteX194" fmla="*/ 64597 w 431932"/>
              <a:gd name="connsiteY194" fmla="*/ 156752 h 247640"/>
              <a:gd name="connsiteX195" fmla="*/ 64597 w 431932"/>
              <a:gd name="connsiteY195" fmla="*/ 154423 h 247640"/>
              <a:gd name="connsiteX196" fmla="*/ 64749 w 431932"/>
              <a:gd name="connsiteY196" fmla="*/ 151993 h 247640"/>
              <a:gd name="connsiteX197" fmla="*/ 64851 w 431932"/>
              <a:gd name="connsiteY197" fmla="*/ 149681 h 247640"/>
              <a:gd name="connsiteX198" fmla="*/ 65053 w 431932"/>
              <a:gd name="connsiteY198" fmla="*/ 148568 h 247640"/>
              <a:gd name="connsiteX199" fmla="*/ 65205 w 431932"/>
              <a:gd name="connsiteY199" fmla="*/ 147386 h 247640"/>
              <a:gd name="connsiteX200" fmla="*/ 65509 w 431932"/>
              <a:gd name="connsiteY200" fmla="*/ 146323 h 247640"/>
              <a:gd name="connsiteX201" fmla="*/ 65863 w 431932"/>
              <a:gd name="connsiteY201" fmla="*/ 145226 h 247640"/>
              <a:gd name="connsiteX202" fmla="*/ 66218 w 431932"/>
              <a:gd name="connsiteY202" fmla="*/ 144163 h 247640"/>
              <a:gd name="connsiteX203" fmla="*/ 66724 w 431932"/>
              <a:gd name="connsiteY203" fmla="*/ 143201 h 247640"/>
              <a:gd name="connsiteX204" fmla="*/ 67281 w 431932"/>
              <a:gd name="connsiteY204" fmla="*/ 142239 h 247640"/>
              <a:gd name="connsiteX205" fmla="*/ 67787 w 431932"/>
              <a:gd name="connsiteY205" fmla="*/ 141379 h 247640"/>
              <a:gd name="connsiteX206" fmla="*/ 68445 w 431932"/>
              <a:gd name="connsiteY206" fmla="*/ 140670 h 247640"/>
              <a:gd name="connsiteX207" fmla="*/ 69204 w 431932"/>
              <a:gd name="connsiteY207" fmla="*/ 139961 h 247640"/>
              <a:gd name="connsiteX208" fmla="*/ 69964 w 431932"/>
              <a:gd name="connsiteY208" fmla="*/ 139404 h 247640"/>
              <a:gd name="connsiteX209" fmla="*/ 70824 w 431932"/>
              <a:gd name="connsiteY209" fmla="*/ 138847 h 247640"/>
              <a:gd name="connsiteX210" fmla="*/ 71634 w 431932"/>
              <a:gd name="connsiteY210" fmla="*/ 138392 h 247640"/>
              <a:gd name="connsiteX211" fmla="*/ 72546 w 431932"/>
              <a:gd name="connsiteY211" fmla="*/ 138088 h 247640"/>
              <a:gd name="connsiteX212" fmla="*/ 73558 w 431932"/>
              <a:gd name="connsiteY212" fmla="*/ 137784 h 247640"/>
              <a:gd name="connsiteX213" fmla="*/ 74520 w 431932"/>
              <a:gd name="connsiteY213" fmla="*/ 137632 h 247640"/>
              <a:gd name="connsiteX214" fmla="*/ 354240 w 431932"/>
              <a:gd name="connsiteY214" fmla="*/ 135017 h 247640"/>
              <a:gd name="connsiteX215" fmla="*/ 355303 w 431932"/>
              <a:gd name="connsiteY215" fmla="*/ 135017 h 247640"/>
              <a:gd name="connsiteX216" fmla="*/ 356366 w 431932"/>
              <a:gd name="connsiteY216" fmla="*/ 135017 h 247640"/>
              <a:gd name="connsiteX217" fmla="*/ 357328 w 431932"/>
              <a:gd name="connsiteY217" fmla="*/ 135118 h 247640"/>
              <a:gd name="connsiteX218" fmla="*/ 358391 w 431932"/>
              <a:gd name="connsiteY218" fmla="*/ 135371 h 247640"/>
              <a:gd name="connsiteX219" fmla="*/ 359404 w 431932"/>
              <a:gd name="connsiteY219" fmla="*/ 135574 h 247640"/>
              <a:gd name="connsiteX220" fmla="*/ 360214 w 431932"/>
              <a:gd name="connsiteY220" fmla="*/ 135979 h 247640"/>
              <a:gd name="connsiteX221" fmla="*/ 361125 w 431932"/>
              <a:gd name="connsiteY221" fmla="*/ 136333 h 247640"/>
              <a:gd name="connsiteX222" fmla="*/ 361935 w 431932"/>
              <a:gd name="connsiteY222" fmla="*/ 136890 h 247640"/>
              <a:gd name="connsiteX223" fmla="*/ 362745 w 431932"/>
              <a:gd name="connsiteY223" fmla="*/ 137498 h 247640"/>
              <a:gd name="connsiteX224" fmla="*/ 363454 w 431932"/>
              <a:gd name="connsiteY224" fmla="*/ 138189 h 247640"/>
              <a:gd name="connsiteX225" fmla="*/ 364061 w 431932"/>
              <a:gd name="connsiteY225" fmla="*/ 138847 h 247640"/>
              <a:gd name="connsiteX226" fmla="*/ 364669 w 431932"/>
              <a:gd name="connsiteY226" fmla="*/ 139725 h 247640"/>
              <a:gd name="connsiteX227" fmla="*/ 365226 w 431932"/>
              <a:gd name="connsiteY227" fmla="*/ 140721 h 247640"/>
              <a:gd name="connsiteX228" fmla="*/ 365681 w 431932"/>
              <a:gd name="connsiteY228" fmla="*/ 141750 h 247640"/>
              <a:gd name="connsiteX229" fmla="*/ 366086 w 431932"/>
              <a:gd name="connsiteY229" fmla="*/ 142695 h 247640"/>
              <a:gd name="connsiteX230" fmla="*/ 366390 w 431932"/>
              <a:gd name="connsiteY230" fmla="*/ 143775 h 247640"/>
              <a:gd name="connsiteX231" fmla="*/ 366643 w 431932"/>
              <a:gd name="connsiteY231" fmla="*/ 144939 h 247640"/>
              <a:gd name="connsiteX232" fmla="*/ 366846 w 431932"/>
              <a:gd name="connsiteY232" fmla="*/ 145986 h 247640"/>
              <a:gd name="connsiteX233" fmla="*/ 366998 w 431932"/>
              <a:gd name="connsiteY233" fmla="*/ 147150 h 247640"/>
              <a:gd name="connsiteX234" fmla="*/ 367200 w 431932"/>
              <a:gd name="connsiteY234" fmla="*/ 149546 h 247640"/>
              <a:gd name="connsiteX235" fmla="*/ 367301 w 431932"/>
              <a:gd name="connsiteY235" fmla="*/ 151976 h 247640"/>
              <a:gd name="connsiteX236" fmla="*/ 367200 w 431932"/>
              <a:gd name="connsiteY236" fmla="*/ 154288 h 247640"/>
              <a:gd name="connsiteX237" fmla="*/ 367099 w 431932"/>
              <a:gd name="connsiteY237" fmla="*/ 158946 h 247640"/>
              <a:gd name="connsiteX238" fmla="*/ 366998 w 431932"/>
              <a:gd name="connsiteY238" fmla="*/ 161173 h 247640"/>
              <a:gd name="connsiteX239" fmla="*/ 366896 w 431932"/>
              <a:gd name="connsiteY239" fmla="*/ 163249 h 247640"/>
              <a:gd name="connsiteX240" fmla="*/ 367099 w 431932"/>
              <a:gd name="connsiteY240" fmla="*/ 165223 h 247640"/>
              <a:gd name="connsiteX241" fmla="*/ 367099 w 431932"/>
              <a:gd name="connsiteY241" fmla="*/ 166134 h 247640"/>
              <a:gd name="connsiteX242" fmla="*/ 367251 w 431932"/>
              <a:gd name="connsiteY242" fmla="*/ 166995 h 247640"/>
              <a:gd name="connsiteX243" fmla="*/ 367403 w 431932"/>
              <a:gd name="connsiteY243" fmla="*/ 167805 h 247640"/>
              <a:gd name="connsiteX244" fmla="*/ 367656 w 431932"/>
              <a:gd name="connsiteY244" fmla="*/ 168564 h 247640"/>
              <a:gd name="connsiteX245" fmla="*/ 367959 w 431932"/>
              <a:gd name="connsiteY245" fmla="*/ 169324 h 247640"/>
              <a:gd name="connsiteX246" fmla="*/ 368364 w 431932"/>
              <a:gd name="connsiteY246" fmla="*/ 169931 h 247640"/>
              <a:gd name="connsiteX247" fmla="*/ 368719 w 431932"/>
              <a:gd name="connsiteY247" fmla="*/ 170488 h 247640"/>
              <a:gd name="connsiteX248" fmla="*/ 369174 w 431932"/>
              <a:gd name="connsiteY248" fmla="*/ 170994 h 247640"/>
              <a:gd name="connsiteX249" fmla="*/ 369529 w 431932"/>
              <a:gd name="connsiteY249" fmla="*/ 171197 h 247640"/>
              <a:gd name="connsiteX250" fmla="*/ 369782 w 431932"/>
              <a:gd name="connsiteY250" fmla="*/ 171349 h 247640"/>
              <a:gd name="connsiteX251" fmla="*/ 370389 w 431932"/>
              <a:gd name="connsiteY251" fmla="*/ 171754 h 247640"/>
              <a:gd name="connsiteX252" fmla="*/ 370794 w 431932"/>
              <a:gd name="connsiteY252" fmla="*/ 171855 h 247640"/>
              <a:gd name="connsiteX253" fmla="*/ 371098 w 431932"/>
              <a:gd name="connsiteY253" fmla="*/ 171855 h 247640"/>
              <a:gd name="connsiteX254" fmla="*/ 371503 w 431932"/>
              <a:gd name="connsiteY254" fmla="*/ 171855 h 247640"/>
              <a:gd name="connsiteX255" fmla="*/ 371807 w 431932"/>
              <a:gd name="connsiteY255" fmla="*/ 171855 h 247640"/>
              <a:gd name="connsiteX256" fmla="*/ 372516 w 431932"/>
              <a:gd name="connsiteY256" fmla="*/ 171703 h 247640"/>
              <a:gd name="connsiteX257" fmla="*/ 373123 w 431932"/>
              <a:gd name="connsiteY257" fmla="*/ 171298 h 247640"/>
              <a:gd name="connsiteX258" fmla="*/ 373832 w 431932"/>
              <a:gd name="connsiteY258" fmla="*/ 170792 h 247640"/>
              <a:gd name="connsiteX259" fmla="*/ 374439 w 431932"/>
              <a:gd name="connsiteY259" fmla="*/ 169982 h 247640"/>
              <a:gd name="connsiteX260" fmla="*/ 375098 w 431932"/>
              <a:gd name="connsiteY260" fmla="*/ 169172 h 247640"/>
              <a:gd name="connsiteX261" fmla="*/ 375806 w 431932"/>
              <a:gd name="connsiteY261" fmla="*/ 168261 h 247640"/>
              <a:gd name="connsiteX262" fmla="*/ 377173 w 431932"/>
              <a:gd name="connsiteY262" fmla="*/ 165983 h 247640"/>
              <a:gd name="connsiteX263" fmla="*/ 378743 w 431932"/>
              <a:gd name="connsiteY263" fmla="*/ 163249 h 247640"/>
              <a:gd name="connsiteX264" fmla="*/ 380430 w 431932"/>
              <a:gd name="connsiteY264" fmla="*/ 160262 h 247640"/>
              <a:gd name="connsiteX265" fmla="*/ 382253 w 431932"/>
              <a:gd name="connsiteY265" fmla="*/ 157123 h 247640"/>
              <a:gd name="connsiteX266" fmla="*/ 383265 w 431932"/>
              <a:gd name="connsiteY266" fmla="*/ 155436 h 247640"/>
              <a:gd name="connsiteX267" fmla="*/ 384429 w 431932"/>
              <a:gd name="connsiteY267" fmla="*/ 153748 h 247640"/>
              <a:gd name="connsiteX268" fmla="*/ 385543 w 431932"/>
              <a:gd name="connsiteY268" fmla="*/ 152061 h 247640"/>
              <a:gd name="connsiteX269" fmla="*/ 386809 w 431932"/>
              <a:gd name="connsiteY269" fmla="*/ 150458 h 247640"/>
              <a:gd name="connsiteX270" fmla="*/ 388074 w 431932"/>
              <a:gd name="connsiteY270" fmla="*/ 148770 h 247640"/>
              <a:gd name="connsiteX271" fmla="*/ 389543 w 431932"/>
              <a:gd name="connsiteY271" fmla="*/ 147218 h 247640"/>
              <a:gd name="connsiteX272" fmla="*/ 390960 w 431932"/>
              <a:gd name="connsiteY272" fmla="*/ 145682 h 247640"/>
              <a:gd name="connsiteX273" fmla="*/ 392529 w 431932"/>
              <a:gd name="connsiteY273" fmla="*/ 144264 h 247640"/>
              <a:gd name="connsiteX274" fmla="*/ 394217 w 431932"/>
              <a:gd name="connsiteY274" fmla="*/ 142864 h 247640"/>
              <a:gd name="connsiteX275" fmla="*/ 396039 w 431932"/>
              <a:gd name="connsiteY275" fmla="*/ 141548 h 247640"/>
              <a:gd name="connsiteX276" fmla="*/ 397845 w 431932"/>
              <a:gd name="connsiteY276" fmla="*/ 140434 h 247640"/>
              <a:gd name="connsiteX277" fmla="*/ 399887 w 431932"/>
              <a:gd name="connsiteY277" fmla="*/ 139303 h 247640"/>
              <a:gd name="connsiteX278" fmla="*/ 401963 w 431932"/>
              <a:gd name="connsiteY278" fmla="*/ 138308 h 247640"/>
              <a:gd name="connsiteX279" fmla="*/ 404173 w 431932"/>
              <a:gd name="connsiteY279" fmla="*/ 137430 h 247640"/>
              <a:gd name="connsiteX280" fmla="*/ 406603 w 431932"/>
              <a:gd name="connsiteY280" fmla="*/ 136772 h 247640"/>
              <a:gd name="connsiteX281" fmla="*/ 407869 w 431932"/>
              <a:gd name="connsiteY281" fmla="*/ 136434 h 247640"/>
              <a:gd name="connsiteX282" fmla="*/ 409084 w 431932"/>
              <a:gd name="connsiteY282" fmla="*/ 136283 h 247640"/>
              <a:gd name="connsiteX283" fmla="*/ 409843 w 431932"/>
              <a:gd name="connsiteY283" fmla="*/ 136434 h 247640"/>
              <a:gd name="connsiteX284" fmla="*/ 410754 w 431932"/>
              <a:gd name="connsiteY284" fmla="*/ 136688 h 247640"/>
              <a:gd name="connsiteX285" fmla="*/ 411936 w 431932"/>
              <a:gd name="connsiteY285" fmla="*/ 137143 h 247640"/>
              <a:gd name="connsiteX286" fmla="*/ 413336 w 431932"/>
              <a:gd name="connsiteY286" fmla="*/ 137903 h 247640"/>
              <a:gd name="connsiteX287" fmla="*/ 415024 w 431932"/>
              <a:gd name="connsiteY287" fmla="*/ 138696 h 247640"/>
              <a:gd name="connsiteX288" fmla="*/ 415834 w 431932"/>
              <a:gd name="connsiteY288" fmla="*/ 139303 h 247640"/>
              <a:gd name="connsiteX289" fmla="*/ 416745 w 431932"/>
              <a:gd name="connsiteY289" fmla="*/ 139911 h 247640"/>
              <a:gd name="connsiteX290" fmla="*/ 417606 w 431932"/>
              <a:gd name="connsiteY290" fmla="*/ 140569 h 247640"/>
              <a:gd name="connsiteX291" fmla="*/ 418568 w 431932"/>
              <a:gd name="connsiteY291" fmla="*/ 141396 h 247640"/>
              <a:gd name="connsiteX292" fmla="*/ 419479 w 431932"/>
              <a:gd name="connsiteY292" fmla="*/ 142206 h 247640"/>
              <a:gd name="connsiteX293" fmla="*/ 420390 w 431932"/>
              <a:gd name="connsiteY293" fmla="*/ 143167 h 247640"/>
              <a:gd name="connsiteX294" fmla="*/ 421403 w 431932"/>
              <a:gd name="connsiteY294" fmla="*/ 144264 h 247640"/>
              <a:gd name="connsiteX295" fmla="*/ 422314 w 431932"/>
              <a:gd name="connsiteY295" fmla="*/ 145395 h 247640"/>
              <a:gd name="connsiteX296" fmla="*/ 423225 w 431932"/>
              <a:gd name="connsiteY296" fmla="*/ 146610 h 247640"/>
              <a:gd name="connsiteX297" fmla="*/ 424086 w 431932"/>
              <a:gd name="connsiteY297" fmla="*/ 147977 h 247640"/>
              <a:gd name="connsiteX298" fmla="*/ 424946 w 431932"/>
              <a:gd name="connsiteY298" fmla="*/ 149378 h 247640"/>
              <a:gd name="connsiteX299" fmla="*/ 425756 w 431932"/>
              <a:gd name="connsiteY299" fmla="*/ 151065 h 247640"/>
              <a:gd name="connsiteX300" fmla="*/ 426617 w 431932"/>
              <a:gd name="connsiteY300" fmla="*/ 152753 h 247640"/>
              <a:gd name="connsiteX301" fmla="*/ 427376 w 431932"/>
              <a:gd name="connsiteY301" fmla="*/ 154626 h 247640"/>
              <a:gd name="connsiteX302" fmla="*/ 428085 w 431932"/>
              <a:gd name="connsiteY302" fmla="*/ 156549 h 247640"/>
              <a:gd name="connsiteX303" fmla="*/ 428794 w 431932"/>
              <a:gd name="connsiteY303" fmla="*/ 158574 h 247640"/>
              <a:gd name="connsiteX304" fmla="*/ 429300 w 431932"/>
              <a:gd name="connsiteY304" fmla="*/ 160768 h 247640"/>
              <a:gd name="connsiteX305" fmla="*/ 429857 w 431932"/>
              <a:gd name="connsiteY305" fmla="*/ 163131 h 247640"/>
              <a:gd name="connsiteX306" fmla="*/ 430262 w 431932"/>
              <a:gd name="connsiteY306" fmla="*/ 165611 h 247640"/>
              <a:gd name="connsiteX307" fmla="*/ 430718 w 431932"/>
              <a:gd name="connsiteY307" fmla="*/ 168193 h 247640"/>
              <a:gd name="connsiteX308" fmla="*/ 431173 w 431932"/>
              <a:gd name="connsiteY308" fmla="*/ 172243 h 247640"/>
              <a:gd name="connsiteX309" fmla="*/ 431477 w 431932"/>
              <a:gd name="connsiteY309" fmla="*/ 176344 h 247640"/>
              <a:gd name="connsiteX310" fmla="*/ 431730 w 431932"/>
              <a:gd name="connsiteY310" fmla="*/ 180495 h 247640"/>
              <a:gd name="connsiteX311" fmla="*/ 431831 w 431932"/>
              <a:gd name="connsiteY311" fmla="*/ 184798 h 247640"/>
              <a:gd name="connsiteX312" fmla="*/ 431933 w 431932"/>
              <a:gd name="connsiteY312" fmla="*/ 189101 h 247640"/>
              <a:gd name="connsiteX313" fmla="*/ 431933 w 431932"/>
              <a:gd name="connsiteY313" fmla="*/ 193404 h 247640"/>
              <a:gd name="connsiteX314" fmla="*/ 431831 w 431932"/>
              <a:gd name="connsiteY314" fmla="*/ 197657 h 247640"/>
              <a:gd name="connsiteX315" fmla="*/ 431730 w 431932"/>
              <a:gd name="connsiteY315" fmla="*/ 201808 h 247640"/>
              <a:gd name="connsiteX316" fmla="*/ 431477 w 431932"/>
              <a:gd name="connsiteY316" fmla="*/ 209858 h 247640"/>
              <a:gd name="connsiteX317" fmla="*/ 431072 w 431932"/>
              <a:gd name="connsiteY317" fmla="*/ 217249 h 247640"/>
              <a:gd name="connsiteX318" fmla="*/ 430819 w 431932"/>
              <a:gd name="connsiteY318" fmla="*/ 223628 h 247640"/>
              <a:gd name="connsiteX319" fmla="*/ 430819 w 431932"/>
              <a:gd name="connsiteY319" fmla="*/ 226412 h 247640"/>
              <a:gd name="connsiteX320" fmla="*/ 430819 w 431932"/>
              <a:gd name="connsiteY320" fmla="*/ 228842 h 247640"/>
              <a:gd name="connsiteX321" fmla="*/ 376313 w 431932"/>
              <a:gd name="connsiteY321" fmla="*/ 228842 h 247640"/>
              <a:gd name="connsiteX322" fmla="*/ 320878 w 431932"/>
              <a:gd name="connsiteY322" fmla="*/ 189658 h 247640"/>
              <a:gd name="connsiteX323" fmla="*/ 321081 w 431932"/>
              <a:gd name="connsiteY323" fmla="*/ 188139 h 247640"/>
              <a:gd name="connsiteX324" fmla="*/ 321941 w 431932"/>
              <a:gd name="connsiteY324" fmla="*/ 184241 h 247640"/>
              <a:gd name="connsiteX325" fmla="*/ 323207 w 431932"/>
              <a:gd name="connsiteY325" fmla="*/ 178470 h 247640"/>
              <a:gd name="connsiteX326" fmla="*/ 323916 w 431932"/>
              <a:gd name="connsiteY326" fmla="*/ 175230 h 247640"/>
              <a:gd name="connsiteX327" fmla="*/ 324878 w 431932"/>
              <a:gd name="connsiteY327" fmla="*/ 171686 h 247640"/>
              <a:gd name="connsiteX328" fmla="*/ 325789 w 431932"/>
              <a:gd name="connsiteY328" fmla="*/ 167940 h 247640"/>
              <a:gd name="connsiteX329" fmla="*/ 326852 w 431932"/>
              <a:gd name="connsiteY329" fmla="*/ 164295 h 247640"/>
              <a:gd name="connsiteX330" fmla="*/ 328016 w 431932"/>
              <a:gd name="connsiteY330" fmla="*/ 160599 h 247640"/>
              <a:gd name="connsiteX331" fmla="*/ 329282 w 431932"/>
              <a:gd name="connsiteY331" fmla="*/ 157056 h 247640"/>
              <a:gd name="connsiteX332" fmla="*/ 330497 w 431932"/>
              <a:gd name="connsiteY332" fmla="*/ 153765 h 247640"/>
              <a:gd name="connsiteX333" fmla="*/ 331206 w 431932"/>
              <a:gd name="connsiteY333" fmla="*/ 152078 h 247640"/>
              <a:gd name="connsiteX334" fmla="*/ 331864 w 431932"/>
              <a:gd name="connsiteY334" fmla="*/ 150609 h 247640"/>
              <a:gd name="connsiteX335" fmla="*/ 332573 w 431932"/>
              <a:gd name="connsiteY335" fmla="*/ 149259 h 247640"/>
              <a:gd name="connsiteX336" fmla="*/ 333231 w 431932"/>
              <a:gd name="connsiteY336" fmla="*/ 147943 h 247640"/>
              <a:gd name="connsiteX337" fmla="*/ 333939 w 431932"/>
              <a:gd name="connsiteY337" fmla="*/ 146779 h 247640"/>
              <a:gd name="connsiteX338" fmla="*/ 334749 w 431932"/>
              <a:gd name="connsiteY338" fmla="*/ 145699 h 247640"/>
              <a:gd name="connsiteX339" fmla="*/ 335458 w 431932"/>
              <a:gd name="connsiteY339" fmla="*/ 144804 h 247640"/>
              <a:gd name="connsiteX340" fmla="*/ 336369 w 431932"/>
              <a:gd name="connsiteY340" fmla="*/ 143792 h 247640"/>
              <a:gd name="connsiteX341" fmla="*/ 337179 w 431932"/>
              <a:gd name="connsiteY341" fmla="*/ 142931 h 247640"/>
              <a:gd name="connsiteX342" fmla="*/ 338091 w 431932"/>
              <a:gd name="connsiteY342" fmla="*/ 142071 h 247640"/>
              <a:gd name="connsiteX343" fmla="*/ 339002 w 431932"/>
              <a:gd name="connsiteY343" fmla="*/ 141261 h 247640"/>
              <a:gd name="connsiteX344" fmla="*/ 340014 w 431932"/>
              <a:gd name="connsiteY344" fmla="*/ 140451 h 247640"/>
              <a:gd name="connsiteX345" fmla="*/ 341027 w 431932"/>
              <a:gd name="connsiteY345" fmla="*/ 139691 h 247640"/>
              <a:gd name="connsiteX346" fmla="*/ 342141 w 431932"/>
              <a:gd name="connsiteY346" fmla="*/ 139033 h 247640"/>
              <a:gd name="connsiteX347" fmla="*/ 343204 w 431932"/>
              <a:gd name="connsiteY347" fmla="*/ 138324 h 247640"/>
              <a:gd name="connsiteX348" fmla="*/ 344216 w 431932"/>
              <a:gd name="connsiteY348" fmla="*/ 137717 h 247640"/>
              <a:gd name="connsiteX349" fmla="*/ 345330 w 431932"/>
              <a:gd name="connsiteY349" fmla="*/ 137160 h 247640"/>
              <a:gd name="connsiteX350" fmla="*/ 346494 w 431932"/>
              <a:gd name="connsiteY350" fmla="*/ 136654 h 247640"/>
              <a:gd name="connsiteX351" fmla="*/ 347608 w 431932"/>
              <a:gd name="connsiteY351" fmla="*/ 136299 h 247640"/>
              <a:gd name="connsiteX352" fmla="*/ 348722 w 431932"/>
              <a:gd name="connsiteY352" fmla="*/ 135793 h 247640"/>
              <a:gd name="connsiteX353" fmla="*/ 349886 w 431932"/>
              <a:gd name="connsiteY353" fmla="*/ 135489 h 247640"/>
              <a:gd name="connsiteX354" fmla="*/ 350949 w 431932"/>
              <a:gd name="connsiteY354" fmla="*/ 135186 h 247640"/>
              <a:gd name="connsiteX355" fmla="*/ 352114 w 431932"/>
              <a:gd name="connsiteY355" fmla="*/ 135034 h 247640"/>
              <a:gd name="connsiteX356" fmla="*/ 353177 w 431932"/>
              <a:gd name="connsiteY356" fmla="*/ 134882 h 247640"/>
              <a:gd name="connsiteX357" fmla="*/ 185625 w 431932"/>
              <a:gd name="connsiteY357" fmla="*/ 102414 h 247640"/>
              <a:gd name="connsiteX358" fmla="*/ 187701 w 431932"/>
              <a:gd name="connsiteY358" fmla="*/ 106920 h 247640"/>
              <a:gd name="connsiteX359" fmla="*/ 190333 w 431932"/>
              <a:gd name="connsiteY359" fmla="*/ 112084 h 247640"/>
              <a:gd name="connsiteX360" fmla="*/ 193168 w 431932"/>
              <a:gd name="connsiteY360" fmla="*/ 117754 h 247640"/>
              <a:gd name="connsiteX361" fmla="*/ 196307 w 431932"/>
              <a:gd name="connsiteY361" fmla="*/ 123677 h 247640"/>
              <a:gd name="connsiteX362" fmla="*/ 199395 w 431932"/>
              <a:gd name="connsiteY362" fmla="*/ 129499 h 247640"/>
              <a:gd name="connsiteX363" fmla="*/ 201083 w 431932"/>
              <a:gd name="connsiteY363" fmla="*/ 132233 h 247640"/>
              <a:gd name="connsiteX364" fmla="*/ 202601 w 431932"/>
              <a:gd name="connsiteY364" fmla="*/ 134916 h 247640"/>
              <a:gd name="connsiteX365" fmla="*/ 204120 w 431932"/>
              <a:gd name="connsiteY365" fmla="*/ 137244 h 247640"/>
              <a:gd name="connsiteX366" fmla="*/ 205538 w 431932"/>
              <a:gd name="connsiteY366" fmla="*/ 139472 h 247640"/>
              <a:gd name="connsiteX367" fmla="*/ 206955 w 431932"/>
              <a:gd name="connsiteY367" fmla="*/ 141429 h 247640"/>
              <a:gd name="connsiteX368" fmla="*/ 208170 w 431932"/>
              <a:gd name="connsiteY368" fmla="*/ 143117 h 247640"/>
              <a:gd name="connsiteX369" fmla="*/ 208170 w 431932"/>
              <a:gd name="connsiteY369" fmla="*/ 135472 h 247640"/>
              <a:gd name="connsiteX370" fmla="*/ 208271 w 431932"/>
              <a:gd name="connsiteY370" fmla="*/ 134561 h 247640"/>
              <a:gd name="connsiteX371" fmla="*/ 208271 w 431932"/>
              <a:gd name="connsiteY371" fmla="*/ 133701 h 247640"/>
              <a:gd name="connsiteX372" fmla="*/ 208524 w 431932"/>
              <a:gd name="connsiteY372" fmla="*/ 132739 h 247640"/>
              <a:gd name="connsiteX373" fmla="*/ 208727 w 431932"/>
              <a:gd name="connsiteY373" fmla="*/ 131777 h 247640"/>
              <a:gd name="connsiteX374" fmla="*/ 209284 w 431932"/>
              <a:gd name="connsiteY374" fmla="*/ 129904 h 247640"/>
              <a:gd name="connsiteX375" fmla="*/ 209942 w 431932"/>
              <a:gd name="connsiteY375" fmla="*/ 128031 h 247640"/>
              <a:gd name="connsiteX376" fmla="*/ 210651 w 431932"/>
              <a:gd name="connsiteY376" fmla="*/ 126343 h 247640"/>
              <a:gd name="connsiteX377" fmla="*/ 211208 w 431932"/>
              <a:gd name="connsiteY377" fmla="*/ 124656 h 247640"/>
              <a:gd name="connsiteX378" fmla="*/ 211663 w 431932"/>
              <a:gd name="connsiteY378" fmla="*/ 123137 h 247640"/>
              <a:gd name="connsiteX379" fmla="*/ 211764 w 431932"/>
              <a:gd name="connsiteY379" fmla="*/ 122479 h 247640"/>
              <a:gd name="connsiteX380" fmla="*/ 211764 w 431932"/>
              <a:gd name="connsiteY380" fmla="*/ 121871 h 247640"/>
              <a:gd name="connsiteX381" fmla="*/ 211764 w 431932"/>
              <a:gd name="connsiteY381" fmla="*/ 121314 h 247640"/>
              <a:gd name="connsiteX382" fmla="*/ 211663 w 431932"/>
              <a:gd name="connsiteY382" fmla="*/ 120808 h 247640"/>
              <a:gd name="connsiteX383" fmla="*/ 211461 w 431932"/>
              <a:gd name="connsiteY383" fmla="*/ 120302 h 247640"/>
              <a:gd name="connsiteX384" fmla="*/ 211208 w 431932"/>
              <a:gd name="connsiteY384" fmla="*/ 119846 h 247640"/>
              <a:gd name="connsiteX385" fmla="*/ 210600 w 431932"/>
              <a:gd name="connsiteY385" fmla="*/ 118986 h 247640"/>
              <a:gd name="connsiteX386" fmla="*/ 209841 w 431932"/>
              <a:gd name="connsiteY386" fmla="*/ 118226 h 247640"/>
              <a:gd name="connsiteX387" fmla="*/ 209183 w 431932"/>
              <a:gd name="connsiteY387" fmla="*/ 117366 h 247640"/>
              <a:gd name="connsiteX388" fmla="*/ 208828 w 431932"/>
              <a:gd name="connsiteY388" fmla="*/ 116961 h 247640"/>
              <a:gd name="connsiteX389" fmla="*/ 208524 w 431932"/>
              <a:gd name="connsiteY389" fmla="*/ 116454 h 247640"/>
              <a:gd name="connsiteX390" fmla="*/ 208221 w 431932"/>
              <a:gd name="connsiteY390" fmla="*/ 115948 h 247640"/>
              <a:gd name="connsiteX391" fmla="*/ 208018 w 431932"/>
              <a:gd name="connsiteY391" fmla="*/ 115341 h 247640"/>
              <a:gd name="connsiteX392" fmla="*/ 207917 w 431932"/>
              <a:gd name="connsiteY392" fmla="*/ 114683 h 247640"/>
              <a:gd name="connsiteX393" fmla="*/ 207917 w 431932"/>
              <a:gd name="connsiteY393" fmla="*/ 113265 h 247640"/>
              <a:gd name="connsiteX394" fmla="*/ 207917 w 431932"/>
              <a:gd name="connsiteY394" fmla="*/ 112708 h 247640"/>
              <a:gd name="connsiteX395" fmla="*/ 208069 w 431932"/>
              <a:gd name="connsiteY395" fmla="*/ 112151 h 247640"/>
              <a:gd name="connsiteX396" fmla="*/ 208221 w 431932"/>
              <a:gd name="connsiteY396" fmla="*/ 111797 h 247640"/>
              <a:gd name="connsiteX397" fmla="*/ 208524 w 431932"/>
              <a:gd name="connsiteY397" fmla="*/ 111341 h 247640"/>
              <a:gd name="connsiteX398" fmla="*/ 208879 w 431932"/>
              <a:gd name="connsiteY398" fmla="*/ 110987 h 247640"/>
              <a:gd name="connsiteX399" fmla="*/ 209233 w 431932"/>
              <a:gd name="connsiteY399" fmla="*/ 110784 h 247640"/>
              <a:gd name="connsiteX400" fmla="*/ 209689 w 431932"/>
              <a:gd name="connsiteY400" fmla="*/ 110531 h 247640"/>
              <a:gd name="connsiteX401" fmla="*/ 210246 w 431932"/>
              <a:gd name="connsiteY401" fmla="*/ 110329 h 247640"/>
              <a:gd name="connsiteX402" fmla="*/ 210853 w 431932"/>
              <a:gd name="connsiteY402" fmla="*/ 110329 h 247640"/>
              <a:gd name="connsiteX403" fmla="*/ 212423 w 431932"/>
              <a:gd name="connsiteY403" fmla="*/ 110228 h 247640"/>
              <a:gd name="connsiteX404" fmla="*/ 214110 w 431932"/>
              <a:gd name="connsiteY404" fmla="*/ 110076 h 247640"/>
              <a:gd name="connsiteX405" fmla="*/ 221349 w 431932"/>
              <a:gd name="connsiteY405" fmla="*/ 110076 h 247640"/>
              <a:gd name="connsiteX406" fmla="*/ 223223 w 431932"/>
              <a:gd name="connsiteY406" fmla="*/ 110228 h 247640"/>
              <a:gd name="connsiteX407" fmla="*/ 224640 w 431932"/>
              <a:gd name="connsiteY407" fmla="*/ 110329 h 247640"/>
              <a:gd name="connsiteX408" fmla="*/ 225298 w 431932"/>
              <a:gd name="connsiteY408" fmla="*/ 110329 h 247640"/>
              <a:gd name="connsiteX409" fmla="*/ 225855 w 431932"/>
              <a:gd name="connsiteY409" fmla="*/ 110531 h 247640"/>
              <a:gd name="connsiteX410" fmla="*/ 226260 w 431932"/>
              <a:gd name="connsiteY410" fmla="*/ 110784 h 247640"/>
              <a:gd name="connsiteX411" fmla="*/ 226665 w 431932"/>
              <a:gd name="connsiteY411" fmla="*/ 110987 h 247640"/>
              <a:gd name="connsiteX412" fmla="*/ 227070 w 431932"/>
              <a:gd name="connsiteY412" fmla="*/ 111341 h 247640"/>
              <a:gd name="connsiteX413" fmla="*/ 227272 w 431932"/>
              <a:gd name="connsiteY413" fmla="*/ 111797 h 247640"/>
              <a:gd name="connsiteX414" fmla="*/ 227526 w 431932"/>
              <a:gd name="connsiteY414" fmla="*/ 112151 h 247640"/>
              <a:gd name="connsiteX415" fmla="*/ 227526 w 431932"/>
              <a:gd name="connsiteY415" fmla="*/ 112708 h 247640"/>
              <a:gd name="connsiteX416" fmla="*/ 227678 w 431932"/>
              <a:gd name="connsiteY416" fmla="*/ 113265 h 247640"/>
              <a:gd name="connsiteX417" fmla="*/ 227678 w 431932"/>
              <a:gd name="connsiteY417" fmla="*/ 114024 h 247640"/>
              <a:gd name="connsiteX418" fmla="*/ 227678 w 431932"/>
              <a:gd name="connsiteY418" fmla="*/ 114683 h 247640"/>
              <a:gd name="connsiteX419" fmla="*/ 227526 w 431932"/>
              <a:gd name="connsiteY419" fmla="*/ 115341 h 247640"/>
              <a:gd name="connsiteX420" fmla="*/ 227323 w 431932"/>
              <a:gd name="connsiteY420" fmla="*/ 115948 h 247640"/>
              <a:gd name="connsiteX421" fmla="*/ 227121 w 431932"/>
              <a:gd name="connsiteY421" fmla="*/ 116454 h 247640"/>
              <a:gd name="connsiteX422" fmla="*/ 226766 w 431932"/>
              <a:gd name="connsiteY422" fmla="*/ 116961 h 247640"/>
              <a:gd name="connsiteX423" fmla="*/ 226463 w 431932"/>
              <a:gd name="connsiteY423" fmla="*/ 117366 h 247640"/>
              <a:gd name="connsiteX424" fmla="*/ 225754 w 431932"/>
              <a:gd name="connsiteY424" fmla="*/ 118226 h 247640"/>
              <a:gd name="connsiteX425" fmla="*/ 224994 w 431932"/>
              <a:gd name="connsiteY425" fmla="*/ 118986 h 247640"/>
              <a:gd name="connsiteX426" fmla="*/ 224438 w 431932"/>
              <a:gd name="connsiteY426" fmla="*/ 119846 h 247640"/>
              <a:gd name="connsiteX427" fmla="*/ 224184 w 431932"/>
              <a:gd name="connsiteY427" fmla="*/ 120302 h 247640"/>
              <a:gd name="connsiteX428" fmla="*/ 223931 w 431932"/>
              <a:gd name="connsiteY428" fmla="*/ 120808 h 247640"/>
              <a:gd name="connsiteX429" fmla="*/ 223931 w 431932"/>
              <a:gd name="connsiteY429" fmla="*/ 121314 h 247640"/>
              <a:gd name="connsiteX430" fmla="*/ 223931 w 431932"/>
              <a:gd name="connsiteY430" fmla="*/ 121871 h 247640"/>
              <a:gd name="connsiteX431" fmla="*/ 223931 w 431932"/>
              <a:gd name="connsiteY431" fmla="*/ 122479 h 247640"/>
              <a:gd name="connsiteX432" fmla="*/ 223931 w 431932"/>
              <a:gd name="connsiteY432" fmla="*/ 123137 h 247640"/>
              <a:gd name="connsiteX433" fmla="*/ 224286 w 431932"/>
              <a:gd name="connsiteY433" fmla="*/ 124656 h 247640"/>
              <a:gd name="connsiteX434" fmla="*/ 224944 w 431932"/>
              <a:gd name="connsiteY434" fmla="*/ 126343 h 247640"/>
              <a:gd name="connsiteX435" fmla="*/ 225602 w 431932"/>
              <a:gd name="connsiteY435" fmla="*/ 128031 h 247640"/>
              <a:gd name="connsiteX436" fmla="*/ 226209 w 431932"/>
              <a:gd name="connsiteY436" fmla="*/ 129904 h 247640"/>
              <a:gd name="connsiteX437" fmla="*/ 226868 w 431932"/>
              <a:gd name="connsiteY437" fmla="*/ 131777 h 247640"/>
              <a:gd name="connsiteX438" fmla="*/ 227121 w 431932"/>
              <a:gd name="connsiteY438" fmla="*/ 132739 h 247640"/>
              <a:gd name="connsiteX439" fmla="*/ 227222 w 431932"/>
              <a:gd name="connsiteY439" fmla="*/ 133701 h 247640"/>
              <a:gd name="connsiteX440" fmla="*/ 227424 w 431932"/>
              <a:gd name="connsiteY440" fmla="*/ 134561 h 247640"/>
              <a:gd name="connsiteX441" fmla="*/ 227424 w 431932"/>
              <a:gd name="connsiteY441" fmla="*/ 143117 h 247640"/>
              <a:gd name="connsiteX442" fmla="*/ 228690 w 431932"/>
              <a:gd name="connsiteY442" fmla="*/ 141429 h 247640"/>
              <a:gd name="connsiteX443" fmla="*/ 230006 w 431932"/>
              <a:gd name="connsiteY443" fmla="*/ 139506 h 247640"/>
              <a:gd name="connsiteX444" fmla="*/ 231373 w 431932"/>
              <a:gd name="connsiteY444" fmla="*/ 137346 h 247640"/>
              <a:gd name="connsiteX445" fmla="*/ 232892 w 431932"/>
              <a:gd name="connsiteY445" fmla="*/ 134966 h 247640"/>
              <a:gd name="connsiteX446" fmla="*/ 234411 w 431932"/>
              <a:gd name="connsiteY446" fmla="*/ 132435 h 247640"/>
              <a:gd name="connsiteX447" fmla="*/ 235929 w 431932"/>
              <a:gd name="connsiteY447" fmla="*/ 129752 h 247640"/>
              <a:gd name="connsiteX448" fmla="*/ 239018 w 431932"/>
              <a:gd name="connsiteY448" fmla="*/ 124082 h 247640"/>
              <a:gd name="connsiteX449" fmla="*/ 242106 w 431932"/>
              <a:gd name="connsiteY449" fmla="*/ 118311 h 247640"/>
              <a:gd name="connsiteX450" fmla="*/ 244974 w 431932"/>
              <a:gd name="connsiteY450" fmla="*/ 112641 h 247640"/>
              <a:gd name="connsiteX451" fmla="*/ 247455 w 431932"/>
              <a:gd name="connsiteY451" fmla="*/ 107426 h 247640"/>
              <a:gd name="connsiteX452" fmla="*/ 249699 w 431932"/>
              <a:gd name="connsiteY452" fmla="*/ 103022 h 247640"/>
              <a:gd name="connsiteX453" fmla="*/ 252568 w 431932"/>
              <a:gd name="connsiteY453" fmla="*/ 103731 h 247640"/>
              <a:gd name="connsiteX454" fmla="*/ 255302 w 431932"/>
              <a:gd name="connsiteY454" fmla="*/ 104642 h 247640"/>
              <a:gd name="connsiteX455" fmla="*/ 257884 w 431932"/>
              <a:gd name="connsiteY455" fmla="*/ 105503 h 247640"/>
              <a:gd name="connsiteX456" fmla="*/ 260314 w 431932"/>
              <a:gd name="connsiteY456" fmla="*/ 106414 h 247640"/>
              <a:gd name="connsiteX457" fmla="*/ 262744 w 431932"/>
              <a:gd name="connsiteY457" fmla="*/ 107376 h 247640"/>
              <a:gd name="connsiteX458" fmla="*/ 264971 w 431932"/>
              <a:gd name="connsiteY458" fmla="*/ 108338 h 247640"/>
              <a:gd name="connsiteX459" fmla="*/ 266996 w 431932"/>
              <a:gd name="connsiteY459" fmla="*/ 109350 h 247640"/>
              <a:gd name="connsiteX460" fmla="*/ 269072 w 431932"/>
              <a:gd name="connsiteY460" fmla="*/ 110413 h 247640"/>
              <a:gd name="connsiteX461" fmla="*/ 270894 w 431932"/>
              <a:gd name="connsiteY461" fmla="*/ 111426 h 247640"/>
              <a:gd name="connsiteX462" fmla="*/ 272666 w 431932"/>
              <a:gd name="connsiteY462" fmla="*/ 112388 h 247640"/>
              <a:gd name="connsiteX463" fmla="*/ 274354 w 431932"/>
              <a:gd name="connsiteY463" fmla="*/ 113451 h 247640"/>
              <a:gd name="connsiteX464" fmla="*/ 275923 w 431932"/>
              <a:gd name="connsiteY464" fmla="*/ 114463 h 247640"/>
              <a:gd name="connsiteX465" fmla="*/ 277341 w 431932"/>
              <a:gd name="connsiteY465" fmla="*/ 115577 h 247640"/>
              <a:gd name="connsiteX466" fmla="*/ 278657 w 431932"/>
              <a:gd name="connsiteY466" fmla="*/ 116539 h 247640"/>
              <a:gd name="connsiteX467" fmla="*/ 279872 w 431932"/>
              <a:gd name="connsiteY467" fmla="*/ 117551 h 247640"/>
              <a:gd name="connsiteX468" fmla="*/ 281036 w 431932"/>
              <a:gd name="connsiteY468" fmla="*/ 118564 h 247640"/>
              <a:gd name="connsiteX469" fmla="*/ 283061 w 431932"/>
              <a:gd name="connsiteY469" fmla="*/ 120437 h 247640"/>
              <a:gd name="connsiteX470" fmla="*/ 284749 w 431932"/>
              <a:gd name="connsiteY470" fmla="*/ 122124 h 247640"/>
              <a:gd name="connsiteX471" fmla="*/ 286166 w 431932"/>
              <a:gd name="connsiteY471" fmla="*/ 123694 h 247640"/>
              <a:gd name="connsiteX472" fmla="*/ 287179 w 431932"/>
              <a:gd name="connsiteY472" fmla="*/ 125061 h 247640"/>
              <a:gd name="connsiteX473" fmla="*/ 287888 w 431932"/>
              <a:gd name="connsiteY473" fmla="*/ 126225 h 247640"/>
              <a:gd name="connsiteX474" fmla="*/ 288444 w 431932"/>
              <a:gd name="connsiteY474" fmla="*/ 127086 h 247640"/>
              <a:gd name="connsiteX475" fmla="*/ 288849 w 431932"/>
              <a:gd name="connsiteY475" fmla="*/ 127845 h 247640"/>
              <a:gd name="connsiteX476" fmla="*/ 288849 w 431932"/>
              <a:gd name="connsiteY476" fmla="*/ 176529 h 247640"/>
              <a:gd name="connsiteX477" fmla="*/ 143961 w 431932"/>
              <a:gd name="connsiteY477" fmla="*/ 176529 h 247640"/>
              <a:gd name="connsiteX478" fmla="*/ 143961 w 431932"/>
              <a:gd name="connsiteY478" fmla="*/ 127929 h 247640"/>
              <a:gd name="connsiteX479" fmla="*/ 144416 w 431932"/>
              <a:gd name="connsiteY479" fmla="*/ 127170 h 247640"/>
              <a:gd name="connsiteX480" fmla="*/ 144973 w 431932"/>
              <a:gd name="connsiteY480" fmla="*/ 126259 h 247640"/>
              <a:gd name="connsiteX481" fmla="*/ 145935 w 431932"/>
              <a:gd name="connsiteY481" fmla="*/ 125094 h 247640"/>
              <a:gd name="connsiteX482" fmla="*/ 147049 w 431932"/>
              <a:gd name="connsiteY482" fmla="*/ 123626 h 247640"/>
              <a:gd name="connsiteX483" fmla="*/ 148517 w 431932"/>
              <a:gd name="connsiteY483" fmla="*/ 121939 h 247640"/>
              <a:gd name="connsiteX484" fmla="*/ 150390 w 431932"/>
              <a:gd name="connsiteY484" fmla="*/ 120066 h 247640"/>
              <a:gd name="connsiteX485" fmla="*/ 152516 w 431932"/>
              <a:gd name="connsiteY485" fmla="*/ 118091 h 247640"/>
              <a:gd name="connsiteX486" fmla="*/ 153731 w 431932"/>
              <a:gd name="connsiteY486" fmla="*/ 117028 h 247640"/>
              <a:gd name="connsiteX487" fmla="*/ 155149 w 431932"/>
              <a:gd name="connsiteY487" fmla="*/ 116066 h 247640"/>
              <a:gd name="connsiteX488" fmla="*/ 156516 w 431932"/>
              <a:gd name="connsiteY488" fmla="*/ 115003 h 247640"/>
              <a:gd name="connsiteX489" fmla="*/ 158085 w 431932"/>
              <a:gd name="connsiteY489" fmla="*/ 113940 h 247640"/>
              <a:gd name="connsiteX490" fmla="*/ 159773 w 431932"/>
              <a:gd name="connsiteY490" fmla="*/ 112877 h 247640"/>
              <a:gd name="connsiteX491" fmla="*/ 161460 w 431932"/>
              <a:gd name="connsiteY491" fmla="*/ 111814 h 247640"/>
              <a:gd name="connsiteX492" fmla="*/ 163384 w 431932"/>
              <a:gd name="connsiteY492" fmla="*/ 110751 h 247640"/>
              <a:gd name="connsiteX493" fmla="*/ 165308 w 431932"/>
              <a:gd name="connsiteY493" fmla="*/ 109789 h 247640"/>
              <a:gd name="connsiteX494" fmla="*/ 167400 w 431932"/>
              <a:gd name="connsiteY494" fmla="*/ 108692 h 247640"/>
              <a:gd name="connsiteX495" fmla="*/ 169628 w 431932"/>
              <a:gd name="connsiteY495" fmla="*/ 107679 h 247640"/>
              <a:gd name="connsiteX496" fmla="*/ 172007 w 431932"/>
              <a:gd name="connsiteY496" fmla="*/ 106718 h 247640"/>
              <a:gd name="connsiteX497" fmla="*/ 174488 w 431932"/>
              <a:gd name="connsiteY497" fmla="*/ 105756 h 247640"/>
              <a:gd name="connsiteX498" fmla="*/ 177019 w 431932"/>
              <a:gd name="connsiteY498" fmla="*/ 104794 h 247640"/>
              <a:gd name="connsiteX499" fmla="*/ 179753 w 431932"/>
              <a:gd name="connsiteY499" fmla="*/ 103984 h 247640"/>
              <a:gd name="connsiteX500" fmla="*/ 182638 w 431932"/>
              <a:gd name="connsiteY500" fmla="*/ 103123 h 247640"/>
              <a:gd name="connsiteX501" fmla="*/ 49106 w 431932"/>
              <a:gd name="connsiteY501" fmla="*/ 59282 h 247640"/>
              <a:gd name="connsiteX502" fmla="*/ 51840 w 431932"/>
              <a:gd name="connsiteY502" fmla="*/ 59282 h 247640"/>
              <a:gd name="connsiteX503" fmla="*/ 53156 w 431932"/>
              <a:gd name="connsiteY503" fmla="*/ 59434 h 247640"/>
              <a:gd name="connsiteX504" fmla="*/ 54472 w 431932"/>
              <a:gd name="connsiteY504" fmla="*/ 59687 h 247640"/>
              <a:gd name="connsiteX505" fmla="*/ 55688 w 431932"/>
              <a:gd name="connsiteY505" fmla="*/ 59940 h 247640"/>
              <a:gd name="connsiteX506" fmla="*/ 57004 w 431932"/>
              <a:gd name="connsiteY506" fmla="*/ 60294 h 247640"/>
              <a:gd name="connsiteX507" fmla="*/ 58168 w 431932"/>
              <a:gd name="connsiteY507" fmla="*/ 60649 h 247640"/>
              <a:gd name="connsiteX508" fmla="*/ 59333 w 431932"/>
              <a:gd name="connsiteY508" fmla="*/ 61206 h 247640"/>
              <a:gd name="connsiteX509" fmla="*/ 60598 w 431932"/>
              <a:gd name="connsiteY509" fmla="*/ 61712 h 247640"/>
              <a:gd name="connsiteX510" fmla="*/ 61762 w 431932"/>
              <a:gd name="connsiteY510" fmla="*/ 62421 h 247640"/>
              <a:gd name="connsiteX511" fmla="*/ 62826 w 431932"/>
              <a:gd name="connsiteY511" fmla="*/ 63231 h 247640"/>
              <a:gd name="connsiteX512" fmla="*/ 63889 w 431932"/>
              <a:gd name="connsiteY512" fmla="*/ 63990 h 247640"/>
              <a:gd name="connsiteX513" fmla="*/ 65003 w 431932"/>
              <a:gd name="connsiteY513" fmla="*/ 64901 h 247640"/>
              <a:gd name="connsiteX514" fmla="*/ 66015 w 431932"/>
              <a:gd name="connsiteY514" fmla="*/ 65914 h 247640"/>
              <a:gd name="connsiteX515" fmla="*/ 66977 w 431932"/>
              <a:gd name="connsiteY515" fmla="*/ 66876 h 247640"/>
              <a:gd name="connsiteX516" fmla="*/ 67939 w 431932"/>
              <a:gd name="connsiteY516" fmla="*/ 68091 h 247640"/>
              <a:gd name="connsiteX517" fmla="*/ 68850 w 431932"/>
              <a:gd name="connsiteY517" fmla="*/ 69306 h 247640"/>
              <a:gd name="connsiteX518" fmla="*/ 69660 w 431932"/>
              <a:gd name="connsiteY518" fmla="*/ 70571 h 247640"/>
              <a:gd name="connsiteX519" fmla="*/ 70470 w 431932"/>
              <a:gd name="connsiteY519" fmla="*/ 71938 h 247640"/>
              <a:gd name="connsiteX520" fmla="*/ 71229 w 431932"/>
              <a:gd name="connsiteY520" fmla="*/ 73356 h 247640"/>
              <a:gd name="connsiteX521" fmla="*/ 71938 w 431932"/>
              <a:gd name="connsiteY521" fmla="*/ 74874 h 247640"/>
              <a:gd name="connsiteX522" fmla="*/ 72596 w 431932"/>
              <a:gd name="connsiteY522" fmla="*/ 76562 h 247640"/>
              <a:gd name="connsiteX523" fmla="*/ 73254 w 431932"/>
              <a:gd name="connsiteY523" fmla="*/ 78249 h 247640"/>
              <a:gd name="connsiteX524" fmla="*/ 73811 w 431932"/>
              <a:gd name="connsiteY524" fmla="*/ 80072 h 247640"/>
              <a:gd name="connsiteX525" fmla="*/ 74368 w 431932"/>
              <a:gd name="connsiteY525" fmla="*/ 81759 h 247640"/>
              <a:gd name="connsiteX526" fmla="*/ 74824 w 431932"/>
              <a:gd name="connsiteY526" fmla="*/ 83683 h 247640"/>
              <a:gd name="connsiteX527" fmla="*/ 75178 w 431932"/>
              <a:gd name="connsiteY527" fmla="*/ 85759 h 247640"/>
              <a:gd name="connsiteX528" fmla="*/ 75482 w 431932"/>
              <a:gd name="connsiteY528" fmla="*/ 87834 h 247640"/>
              <a:gd name="connsiteX529" fmla="*/ 75786 w 431932"/>
              <a:gd name="connsiteY529" fmla="*/ 90011 h 247640"/>
              <a:gd name="connsiteX530" fmla="*/ 76039 w 431932"/>
              <a:gd name="connsiteY530" fmla="*/ 92188 h 247640"/>
              <a:gd name="connsiteX531" fmla="*/ 76241 w 431932"/>
              <a:gd name="connsiteY531" fmla="*/ 94466 h 247640"/>
              <a:gd name="connsiteX532" fmla="*/ 76343 w 431932"/>
              <a:gd name="connsiteY532" fmla="*/ 96846 h 247640"/>
              <a:gd name="connsiteX533" fmla="*/ 76343 w 431932"/>
              <a:gd name="connsiteY533" fmla="*/ 99326 h 247640"/>
              <a:gd name="connsiteX534" fmla="*/ 76343 w 431932"/>
              <a:gd name="connsiteY534" fmla="*/ 101706 h 247640"/>
              <a:gd name="connsiteX535" fmla="*/ 76343 w 431932"/>
              <a:gd name="connsiteY535" fmla="*/ 104136 h 247640"/>
              <a:gd name="connsiteX536" fmla="*/ 75938 w 431932"/>
              <a:gd name="connsiteY536" fmla="*/ 106312 h 247640"/>
              <a:gd name="connsiteX537" fmla="*/ 75634 w 431932"/>
              <a:gd name="connsiteY537" fmla="*/ 108439 h 247640"/>
              <a:gd name="connsiteX538" fmla="*/ 75229 w 431932"/>
              <a:gd name="connsiteY538" fmla="*/ 110464 h 247640"/>
              <a:gd name="connsiteX539" fmla="*/ 74773 w 431932"/>
              <a:gd name="connsiteY539" fmla="*/ 112489 h 247640"/>
              <a:gd name="connsiteX540" fmla="*/ 74318 w 431932"/>
              <a:gd name="connsiteY540" fmla="*/ 114362 h 247640"/>
              <a:gd name="connsiteX541" fmla="*/ 73710 w 431932"/>
              <a:gd name="connsiteY541" fmla="*/ 116049 h 247640"/>
              <a:gd name="connsiteX542" fmla="*/ 73103 w 431932"/>
              <a:gd name="connsiteY542" fmla="*/ 117737 h 247640"/>
              <a:gd name="connsiteX543" fmla="*/ 72394 w 431932"/>
              <a:gd name="connsiteY543" fmla="*/ 119424 h 247640"/>
              <a:gd name="connsiteX544" fmla="*/ 71584 w 431932"/>
              <a:gd name="connsiteY544" fmla="*/ 120943 h 247640"/>
              <a:gd name="connsiteX545" fmla="*/ 70824 w 431932"/>
              <a:gd name="connsiteY545" fmla="*/ 122361 h 247640"/>
              <a:gd name="connsiteX546" fmla="*/ 69964 w 431932"/>
              <a:gd name="connsiteY546" fmla="*/ 123728 h 247640"/>
              <a:gd name="connsiteX547" fmla="*/ 69103 w 431932"/>
              <a:gd name="connsiteY547" fmla="*/ 125044 h 247640"/>
              <a:gd name="connsiteX548" fmla="*/ 68192 w 431932"/>
              <a:gd name="connsiteY548" fmla="*/ 126158 h 247640"/>
              <a:gd name="connsiteX549" fmla="*/ 67230 w 431932"/>
              <a:gd name="connsiteY549" fmla="*/ 127373 h 247640"/>
              <a:gd name="connsiteX550" fmla="*/ 66268 w 431932"/>
              <a:gd name="connsiteY550" fmla="*/ 128334 h 247640"/>
              <a:gd name="connsiteX551" fmla="*/ 65256 w 431932"/>
              <a:gd name="connsiteY551" fmla="*/ 129296 h 247640"/>
              <a:gd name="connsiteX552" fmla="*/ 64142 w 431932"/>
              <a:gd name="connsiteY552" fmla="*/ 130208 h 247640"/>
              <a:gd name="connsiteX553" fmla="*/ 63079 w 431932"/>
              <a:gd name="connsiteY553" fmla="*/ 130967 h 247640"/>
              <a:gd name="connsiteX554" fmla="*/ 61965 w 431932"/>
              <a:gd name="connsiteY554" fmla="*/ 131726 h 247640"/>
              <a:gd name="connsiteX555" fmla="*/ 60902 w 431932"/>
              <a:gd name="connsiteY555" fmla="*/ 132334 h 247640"/>
              <a:gd name="connsiteX556" fmla="*/ 59839 w 431932"/>
              <a:gd name="connsiteY556" fmla="*/ 132941 h 247640"/>
              <a:gd name="connsiteX557" fmla="*/ 58725 w 431932"/>
              <a:gd name="connsiteY557" fmla="*/ 133498 h 247640"/>
              <a:gd name="connsiteX558" fmla="*/ 57713 w 431932"/>
              <a:gd name="connsiteY558" fmla="*/ 133954 h 247640"/>
              <a:gd name="connsiteX559" fmla="*/ 56649 w 431932"/>
              <a:gd name="connsiteY559" fmla="*/ 134409 h 247640"/>
              <a:gd name="connsiteX560" fmla="*/ 55536 w 431932"/>
              <a:gd name="connsiteY560" fmla="*/ 134713 h 247640"/>
              <a:gd name="connsiteX561" fmla="*/ 54472 w 431932"/>
              <a:gd name="connsiteY561" fmla="*/ 134865 h 247640"/>
              <a:gd name="connsiteX562" fmla="*/ 53409 w 431932"/>
              <a:gd name="connsiteY562" fmla="*/ 135118 h 247640"/>
              <a:gd name="connsiteX563" fmla="*/ 52397 w 431932"/>
              <a:gd name="connsiteY563" fmla="*/ 135321 h 247640"/>
              <a:gd name="connsiteX564" fmla="*/ 51334 w 431932"/>
              <a:gd name="connsiteY564" fmla="*/ 135321 h 247640"/>
              <a:gd name="connsiteX565" fmla="*/ 49461 w 431932"/>
              <a:gd name="connsiteY565" fmla="*/ 135321 h 247640"/>
              <a:gd name="connsiteX566" fmla="*/ 48499 w 431932"/>
              <a:gd name="connsiteY566" fmla="*/ 135169 h 247640"/>
              <a:gd name="connsiteX567" fmla="*/ 47537 w 431932"/>
              <a:gd name="connsiteY567" fmla="*/ 135017 h 247640"/>
              <a:gd name="connsiteX568" fmla="*/ 46575 w 431932"/>
              <a:gd name="connsiteY568" fmla="*/ 134764 h 247640"/>
              <a:gd name="connsiteX569" fmla="*/ 45613 w 431932"/>
              <a:gd name="connsiteY569" fmla="*/ 134460 h 247640"/>
              <a:gd name="connsiteX570" fmla="*/ 44651 w 431932"/>
              <a:gd name="connsiteY570" fmla="*/ 134156 h 247640"/>
              <a:gd name="connsiteX571" fmla="*/ 43689 w 431932"/>
              <a:gd name="connsiteY571" fmla="*/ 133701 h 247640"/>
              <a:gd name="connsiteX572" fmla="*/ 42829 w 431932"/>
              <a:gd name="connsiteY572" fmla="*/ 133194 h 247640"/>
              <a:gd name="connsiteX573" fmla="*/ 41918 w 431932"/>
              <a:gd name="connsiteY573" fmla="*/ 132739 h 247640"/>
              <a:gd name="connsiteX574" fmla="*/ 40905 w 431932"/>
              <a:gd name="connsiteY574" fmla="*/ 132182 h 247640"/>
              <a:gd name="connsiteX575" fmla="*/ 40044 w 431932"/>
              <a:gd name="connsiteY575" fmla="*/ 131524 h 247640"/>
              <a:gd name="connsiteX576" fmla="*/ 39133 w 431932"/>
              <a:gd name="connsiteY576" fmla="*/ 130866 h 247640"/>
              <a:gd name="connsiteX577" fmla="*/ 37260 w 431932"/>
              <a:gd name="connsiteY577" fmla="*/ 129296 h 247640"/>
              <a:gd name="connsiteX578" fmla="*/ 35573 w 431932"/>
              <a:gd name="connsiteY578" fmla="*/ 127609 h 247640"/>
              <a:gd name="connsiteX579" fmla="*/ 33885 w 431932"/>
              <a:gd name="connsiteY579" fmla="*/ 125736 h 247640"/>
              <a:gd name="connsiteX580" fmla="*/ 32198 w 431932"/>
              <a:gd name="connsiteY580" fmla="*/ 123660 h 247640"/>
              <a:gd name="connsiteX581" fmla="*/ 30628 w 431932"/>
              <a:gd name="connsiteY581" fmla="*/ 121483 h 247640"/>
              <a:gd name="connsiteX582" fmla="*/ 29160 w 431932"/>
              <a:gd name="connsiteY582" fmla="*/ 119256 h 247640"/>
              <a:gd name="connsiteX583" fmla="*/ 27844 w 431932"/>
              <a:gd name="connsiteY583" fmla="*/ 116775 h 247640"/>
              <a:gd name="connsiteX584" fmla="*/ 26528 w 431932"/>
              <a:gd name="connsiteY584" fmla="*/ 114345 h 247640"/>
              <a:gd name="connsiteX585" fmla="*/ 25414 w 431932"/>
              <a:gd name="connsiteY585" fmla="*/ 111662 h 247640"/>
              <a:gd name="connsiteX586" fmla="*/ 24452 w 431932"/>
              <a:gd name="connsiteY586" fmla="*/ 109029 h 247640"/>
              <a:gd name="connsiteX587" fmla="*/ 24148 w 431932"/>
              <a:gd name="connsiteY587" fmla="*/ 108928 h 247640"/>
              <a:gd name="connsiteX588" fmla="*/ 23794 w 431932"/>
              <a:gd name="connsiteY588" fmla="*/ 108692 h 247640"/>
              <a:gd name="connsiteX589" fmla="*/ 23490 w 431932"/>
              <a:gd name="connsiteY589" fmla="*/ 108489 h 247640"/>
              <a:gd name="connsiteX590" fmla="*/ 23186 w 431932"/>
              <a:gd name="connsiteY590" fmla="*/ 108186 h 247640"/>
              <a:gd name="connsiteX591" fmla="*/ 22629 w 431932"/>
              <a:gd name="connsiteY591" fmla="*/ 107325 h 247640"/>
              <a:gd name="connsiteX592" fmla="*/ 22073 w 431932"/>
              <a:gd name="connsiteY592" fmla="*/ 106262 h 247640"/>
              <a:gd name="connsiteX593" fmla="*/ 21516 w 431932"/>
              <a:gd name="connsiteY593" fmla="*/ 105098 h 247640"/>
              <a:gd name="connsiteX594" fmla="*/ 21060 w 431932"/>
              <a:gd name="connsiteY594" fmla="*/ 103731 h 247640"/>
              <a:gd name="connsiteX595" fmla="*/ 20706 w 431932"/>
              <a:gd name="connsiteY595" fmla="*/ 102263 h 247640"/>
              <a:gd name="connsiteX596" fmla="*/ 20402 w 431932"/>
              <a:gd name="connsiteY596" fmla="*/ 100794 h 247640"/>
              <a:gd name="connsiteX597" fmla="*/ 20149 w 431932"/>
              <a:gd name="connsiteY597" fmla="*/ 99276 h 247640"/>
              <a:gd name="connsiteX598" fmla="*/ 19946 w 431932"/>
              <a:gd name="connsiteY598" fmla="*/ 97909 h 247640"/>
              <a:gd name="connsiteX599" fmla="*/ 19946 w 431932"/>
              <a:gd name="connsiteY599" fmla="*/ 96491 h 247640"/>
              <a:gd name="connsiteX600" fmla="*/ 19946 w 431932"/>
              <a:gd name="connsiteY600" fmla="*/ 95378 h 247640"/>
              <a:gd name="connsiteX601" fmla="*/ 20149 w 431932"/>
              <a:gd name="connsiteY601" fmla="*/ 94264 h 247640"/>
              <a:gd name="connsiteX602" fmla="*/ 20149 w 431932"/>
              <a:gd name="connsiteY602" fmla="*/ 93808 h 247640"/>
              <a:gd name="connsiteX603" fmla="*/ 20351 w 431932"/>
              <a:gd name="connsiteY603" fmla="*/ 93454 h 247640"/>
              <a:gd name="connsiteX604" fmla="*/ 20453 w 431932"/>
              <a:gd name="connsiteY604" fmla="*/ 93150 h 247640"/>
              <a:gd name="connsiteX605" fmla="*/ 20706 w 431932"/>
              <a:gd name="connsiteY605" fmla="*/ 92897 h 247640"/>
              <a:gd name="connsiteX606" fmla="*/ 20908 w 431932"/>
              <a:gd name="connsiteY606" fmla="*/ 92644 h 247640"/>
              <a:gd name="connsiteX607" fmla="*/ 21212 w 431932"/>
              <a:gd name="connsiteY607" fmla="*/ 92543 h 247640"/>
              <a:gd name="connsiteX608" fmla="*/ 21111 w 431932"/>
              <a:gd name="connsiteY608" fmla="*/ 91125 h 247640"/>
              <a:gd name="connsiteX609" fmla="*/ 21212 w 431932"/>
              <a:gd name="connsiteY609" fmla="*/ 89201 h 247640"/>
              <a:gd name="connsiteX610" fmla="*/ 21313 w 431932"/>
              <a:gd name="connsiteY610" fmla="*/ 87277 h 247640"/>
              <a:gd name="connsiteX611" fmla="*/ 21516 w 431932"/>
              <a:gd name="connsiteY611" fmla="*/ 85455 h 247640"/>
              <a:gd name="connsiteX612" fmla="*/ 21819 w 431932"/>
              <a:gd name="connsiteY612" fmla="*/ 83768 h 247640"/>
              <a:gd name="connsiteX613" fmla="*/ 22275 w 431932"/>
              <a:gd name="connsiteY613" fmla="*/ 82080 h 247640"/>
              <a:gd name="connsiteX614" fmla="*/ 22629 w 431932"/>
              <a:gd name="connsiteY614" fmla="*/ 80393 h 247640"/>
              <a:gd name="connsiteX615" fmla="*/ 23136 w 431932"/>
              <a:gd name="connsiteY615" fmla="*/ 78705 h 247640"/>
              <a:gd name="connsiteX616" fmla="*/ 23693 w 431932"/>
              <a:gd name="connsiteY616" fmla="*/ 77186 h 247640"/>
              <a:gd name="connsiteX617" fmla="*/ 24351 w 431932"/>
              <a:gd name="connsiteY617" fmla="*/ 75819 h 247640"/>
              <a:gd name="connsiteX618" fmla="*/ 25059 w 431932"/>
              <a:gd name="connsiteY618" fmla="*/ 74351 h 247640"/>
              <a:gd name="connsiteX619" fmla="*/ 25869 w 431932"/>
              <a:gd name="connsiteY619" fmla="*/ 73035 h 247640"/>
              <a:gd name="connsiteX620" fmla="*/ 26578 w 431932"/>
              <a:gd name="connsiteY620" fmla="*/ 71820 h 247640"/>
              <a:gd name="connsiteX621" fmla="*/ 27540 w 431932"/>
              <a:gd name="connsiteY621" fmla="*/ 70554 h 247640"/>
              <a:gd name="connsiteX622" fmla="*/ 28401 w 431932"/>
              <a:gd name="connsiteY622" fmla="*/ 69390 h 247640"/>
              <a:gd name="connsiteX623" fmla="*/ 29413 w 431932"/>
              <a:gd name="connsiteY623" fmla="*/ 68327 h 247640"/>
              <a:gd name="connsiteX624" fmla="*/ 30375 w 431932"/>
              <a:gd name="connsiteY624" fmla="*/ 67264 h 247640"/>
              <a:gd name="connsiteX625" fmla="*/ 31438 w 431932"/>
              <a:gd name="connsiteY625" fmla="*/ 66353 h 247640"/>
              <a:gd name="connsiteX626" fmla="*/ 32552 w 431932"/>
              <a:gd name="connsiteY626" fmla="*/ 65391 h 247640"/>
              <a:gd name="connsiteX627" fmla="*/ 33666 w 431932"/>
              <a:gd name="connsiteY627" fmla="*/ 64530 h 247640"/>
              <a:gd name="connsiteX628" fmla="*/ 34830 w 431932"/>
              <a:gd name="connsiteY628" fmla="*/ 63771 h 247640"/>
              <a:gd name="connsiteX629" fmla="*/ 36096 w 431932"/>
              <a:gd name="connsiteY629" fmla="*/ 62961 h 247640"/>
              <a:gd name="connsiteX630" fmla="*/ 37209 w 431932"/>
              <a:gd name="connsiteY630" fmla="*/ 62353 h 247640"/>
              <a:gd name="connsiteX631" fmla="*/ 38526 w 431932"/>
              <a:gd name="connsiteY631" fmla="*/ 61796 h 247640"/>
              <a:gd name="connsiteX632" fmla="*/ 39741 w 431932"/>
              <a:gd name="connsiteY632" fmla="*/ 61239 h 247640"/>
              <a:gd name="connsiteX633" fmla="*/ 41057 w 431932"/>
              <a:gd name="connsiteY633" fmla="*/ 60733 h 247640"/>
              <a:gd name="connsiteX634" fmla="*/ 42373 w 431932"/>
              <a:gd name="connsiteY634" fmla="*/ 60379 h 247640"/>
              <a:gd name="connsiteX635" fmla="*/ 43639 w 431932"/>
              <a:gd name="connsiteY635" fmla="*/ 59974 h 247640"/>
              <a:gd name="connsiteX636" fmla="*/ 45056 w 431932"/>
              <a:gd name="connsiteY636" fmla="*/ 59754 h 247640"/>
              <a:gd name="connsiteX637" fmla="*/ 46423 w 431932"/>
              <a:gd name="connsiteY637" fmla="*/ 59603 h 247640"/>
              <a:gd name="connsiteX638" fmla="*/ 47739 w 431932"/>
              <a:gd name="connsiteY638" fmla="*/ 59400 h 247640"/>
              <a:gd name="connsiteX639" fmla="*/ 380109 w 431932"/>
              <a:gd name="connsiteY639" fmla="*/ 57105 h 247640"/>
              <a:gd name="connsiteX640" fmla="*/ 382843 w 431932"/>
              <a:gd name="connsiteY640" fmla="*/ 57105 h 247640"/>
              <a:gd name="connsiteX641" fmla="*/ 384210 w 431932"/>
              <a:gd name="connsiteY641" fmla="*/ 57257 h 247640"/>
              <a:gd name="connsiteX642" fmla="*/ 385526 w 431932"/>
              <a:gd name="connsiteY642" fmla="*/ 57459 h 247640"/>
              <a:gd name="connsiteX643" fmla="*/ 386792 w 431932"/>
              <a:gd name="connsiteY643" fmla="*/ 57561 h 247640"/>
              <a:gd name="connsiteX644" fmla="*/ 388159 w 431932"/>
              <a:gd name="connsiteY644" fmla="*/ 57864 h 247640"/>
              <a:gd name="connsiteX645" fmla="*/ 389475 w 431932"/>
              <a:gd name="connsiteY645" fmla="*/ 58219 h 247640"/>
              <a:gd name="connsiteX646" fmla="*/ 390842 w 431932"/>
              <a:gd name="connsiteY646" fmla="*/ 58624 h 247640"/>
              <a:gd name="connsiteX647" fmla="*/ 392141 w 431932"/>
              <a:gd name="connsiteY647" fmla="*/ 59130 h 247640"/>
              <a:gd name="connsiteX648" fmla="*/ 393323 w 431932"/>
              <a:gd name="connsiteY648" fmla="*/ 59687 h 247640"/>
              <a:gd name="connsiteX649" fmla="*/ 394521 w 431932"/>
              <a:gd name="connsiteY649" fmla="*/ 60244 h 247640"/>
              <a:gd name="connsiteX650" fmla="*/ 395786 w 431932"/>
              <a:gd name="connsiteY650" fmla="*/ 60851 h 247640"/>
              <a:gd name="connsiteX651" fmla="*/ 397052 w 431932"/>
              <a:gd name="connsiteY651" fmla="*/ 61661 h 247640"/>
              <a:gd name="connsiteX652" fmla="*/ 398233 w 431932"/>
              <a:gd name="connsiteY652" fmla="*/ 62421 h 247640"/>
              <a:gd name="connsiteX653" fmla="*/ 399347 w 431932"/>
              <a:gd name="connsiteY653" fmla="*/ 63281 h 247640"/>
              <a:gd name="connsiteX654" fmla="*/ 400393 w 431932"/>
              <a:gd name="connsiteY654" fmla="*/ 64091 h 247640"/>
              <a:gd name="connsiteX655" fmla="*/ 401507 w 431932"/>
              <a:gd name="connsiteY655" fmla="*/ 65104 h 247640"/>
              <a:gd name="connsiteX656" fmla="*/ 402486 w 431932"/>
              <a:gd name="connsiteY656" fmla="*/ 66116 h 247640"/>
              <a:gd name="connsiteX657" fmla="*/ 403431 w 431932"/>
              <a:gd name="connsiteY657" fmla="*/ 67230 h 247640"/>
              <a:gd name="connsiteX658" fmla="*/ 404359 w 431932"/>
              <a:gd name="connsiteY658" fmla="*/ 68344 h 247640"/>
              <a:gd name="connsiteX659" fmla="*/ 405304 w 431932"/>
              <a:gd name="connsiteY659" fmla="*/ 69508 h 247640"/>
              <a:gd name="connsiteX660" fmla="*/ 406013 w 431932"/>
              <a:gd name="connsiteY660" fmla="*/ 70875 h 247640"/>
              <a:gd name="connsiteX661" fmla="*/ 406772 w 431932"/>
              <a:gd name="connsiteY661" fmla="*/ 72191 h 247640"/>
              <a:gd name="connsiteX662" fmla="*/ 407548 w 431932"/>
              <a:gd name="connsiteY662" fmla="*/ 73558 h 247640"/>
              <a:gd name="connsiteX663" fmla="*/ 408206 w 431932"/>
              <a:gd name="connsiteY663" fmla="*/ 75026 h 247640"/>
              <a:gd name="connsiteX664" fmla="*/ 408713 w 431932"/>
              <a:gd name="connsiteY664" fmla="*/ 76545 h 247640"/>
              <a:gd name="connsiteX665" fmla="*/ 409253 w 431932"/>
              <a:gd name="connsiteY665" fmla="*/ 78114 h 247640"/>
              <a:gd name="connsiteX666" fmla="*/ 409607 w 431932"/>
              <a:gd name="connsiteY666" fmla="*/ 79684 h 247640"/>
              <a:gd name="connsiteX667" fmla="*/ 410029 w 431932"/>
              <a:gd name="connsiteY667" fmla="*/ 81371 h 247640"/>
              <a:gd name="connsiteX668" fmla="*/ 410316 w 431932"/>
              <a:gd name="connsiteY668" fmla="*/ 83194 h 247640"/>
              <a:gd name="connsiteX669" fmla="*/ 410569 w 431932"/>
              <a:gd name="connsiteY669" fmla="*/ 85067 h 247640"/>
              <a:gd name="connsiteX670" fmla="*/ 410569 w 431932"/>
              <a:gd name="connsiteY670" fmla="*/ 86839 h 247640"/>
              <a:gd name="connsiteX671" fmla="*/ 410670 w 431932"/>
              <a:gd name="connsiteY671" fmla="*/ 88763 h 247640"/>
              <a:gd name="connsiteX672" fmla="*/ 410569 w 431932"/>
              <a:gd name="connsiteY672" fmla="*/ 90332 h 247640"/>
              <a:gd name="connsiteX673" fmla="*/ 410805 w 431932"/>
              <a:gd name="connsiteY673" fmla="*/ 90332 h 247640"/>
              <a:gd name="connsiteX674" fmla="*/ 411109 w 431932"/>
              <a:gd name="connsiteY674" fmla="*/ 90534 h 247640"/>
              <a:gd name="connsiteX675" fmla="*/ 411311 w 431932"/>
              <a:gd name="connsiteY675" fmla="*/ 90838 h 247640"/>
              <a:gd name="connsiteX676" fmla="*/ 411463 w 431932"/>
              <a:gd name="connsiteY676" fmla="*/ 91142 h 247640"/>
              <a:gd name="connsiteX677" fmla="*/ 411666 w 431932"/>
              <a:gd name="connsiteY677" fmla="*/ 91496 h 247640"/>
              <a:gd name="connsiteX678" fmla="*/ 411666 w 431932"/>
              <a:gd name="connsiteY678" fmla="*/ 91901 h 247640"/>
              <a:gd name="connsiteX679" fmla="*/ 411834 w 431932"/>
              <a:gd name="connsiteY679" fmla="*/ 93015 h 247640"/>
              <a:gd name="connsiteX680" fmla="*/ 411834 w 431932"/>
              <a:gd name="connsiteY680" fmla="*/ 94179 h 247640"/>
              <a:gd name="connsiteX681" fmla="*/ 411834 w 431932"/>
              <a:gd name="connsiteY681" fmla="*/ 95546 h 247640"/>
              <a:gd name="connsiteX682" fmla="*/ 411666 w 431932"/>
              <a:gd name="connsiteY682" fmla="*/ 96964 h 247640"/>
              <a:gd name="connsiteX683" fmla="*/ 411413 w 431932"/>
              <a:gd name="connsiteY683" fmla="*/ 98482 h 247640"/>
              <a:gd name="connsiteX684" fmla="*/ 411126 w 431932"/>
              <a:gd name="connsiteY684" fmla="*/ 99900 h 247640"/>
              <a:gd name="connsiteX685" fmla="*/ 410754 w 431932"/>
              <a:gd name="connsiteY685" fmla="*/ 101368 h 247640"/>
              <a:gd name="connsiteX686" fmla="*/ 410299 w 431932"/>
              <a:gd name="connsiteY686" fmla="*/ 102684 h 247640"/>
              <a:gd name="connsiteX687" fmla="*/ 409742 w 431932"/>
              <a:gd name="connsiteY687" fmla="*/ 103899 h 247640"/>
              <a:gd name="connsiteX688" fmla="*/ 409185 w 431932"/>
              <a:gd name="connsiteY688" fmla="*/ 104912 h 247640"/>
              <a:gd name="connsiteX689" fmla="*/ 408594 w 431932"/>
              <a:gd name="connsiteY689" fmla="*/ 105722 h 247640"/>
              <a:gd name="connsiteX690" fmla="*/ 408274 w 431932"/>
              <a:gd name="connsiteY690" fmla="*/ 106026 h 247640"/>
              <a:gd name="connsiteX691" fmla="*/ 407987 w 431932"/>
              <a:gd name="connsiteY691" fmla="*/ 106329 h 247640"/>
              <a:gd name="connsiteX692" fmla="*/ 407582 w 431932"/>
              <a:gd name="connsiteY692" fmla="*/ 106532 h 247640"/>
              <a:gd name="connsiteX693" fmla="*/ 407261 w 431932"/>
              <a:gd name="connsiteY693" fmla="*/ 106532 h 247640"/>
              <a:gd name="connsiteX694" fmla="*/ 406215 w 431932"/>
              <a:gd name="connsiteY694" fmla="*/ 109215 h 247640"/>
              <a:gd name="connsiteX695" fmla="*/ 405186 w 431932"/>
              <a:gd name="connsiteY695" fmla="*/ 111746 h 247640"/>
              <a:gd name="connsiteX696" fmla="*/ 403836 w 431932"/>
              <a:gd name="connsiteY696" fmla="*/ 114277 h 247640"/>
              <a:gd name="connsiteX697" fmla="*/ 402519 w 431932"/>
              <a:gd name="connsiteY697" fmla="*/ 116708 h 247640"/>
              <a:gd name="connsiteX698" fmla="*/ 401102 w 431932"/>
              <a:gd name="connsiteY698" fmla="*/ 118986 h 247640"/>
              <a:gd name="connsiteX699" fmla="*/ 399516 w 431932"/>
              <a:gd name="connsiteY699" fmla="*/ 121163 h 247640"/>
              <a:gd name="connsiteX700" fmla="*/ 397913 w 431932"/>
              <a:gd name="connsiteY700" fmla="*/ 123137 h 247640"/>
              <a:gd name="connsiteX701" fmla="*/ 396225 w 431932"/>
              <a:gd name="connsiteY701" fmla="*/ 125061 h 247640"/>
              <a:gd name="connsiteX702" fmla="*/ 394538 w 431932"/>
              <a:gd name="connsiteY702" fmla="*/ 126748 h 247640"/>
              <a:gd name="connsiteX703" fmla="*/ 392715 w 431932"/>
              <a:gd name="connsiteY703" fmla="*/ 128318 h 247640"/>
              <a:gd name="connsiteX704" fmla="*/ 391821 w 431932"/>
              <a:gd name="connsiteY704" fmla="*/ 128925 h 247640"/>
              <a:gd name="connsiteX705" fmla="*/ 390859 w 431932"/>
              <a:gd name="connsiteY705" fmla="*/ 129634 h 247640"/>
              <a:gd name="connsiteX706" fmla="*/ 389948 w 431932"/>
              <a:gd name="connsiteY706" fmla="*/ 130191 h 247640"/>
              <a:gd name="connsiteX707" fmla="*/ 389036 w 431932"/>
              <a:gd name="connsiteY707" fmla="*/ 130697 h 247640"/>
              <a:gd name="connsiteX708" fmla="*/ 388074 w 431932"/>
              <a:gd name="connsiteY708" fmla="*/ 131153 h 247640"/>
              <a:gd name="connsiteX709" fmla="*/ 387113 w 431932"/>
              <a:gd name="connsiteY709" fmla="*/ 131608 h 247640"/>
              <a:gd name="connsiteX710" fmla="*/ 386151 w 431932"/>
              <a:gd name="connsiteY710" fmla="*/ 131912 h 247640"/>
              <a:gd name="connsiteX711" fmla="*/ 385239 w 431932"/>
              <a:gd name="connsiteY711" fmla="*/ 132216 h 247640"/>
              <a:gd name="connsiteX712" fmla="*/ 384227 w 431932"/>
              <a:gd name="connsiteY712" fmla="*/ 132469 h 247640"/>
              <a:gd name="connsiteX713" fmla="*/ 383316 w 431932"/>
              <a:gd name="connsiteY713" fmla="*/ 132621 h 247640"/>
              <a:gd name="connsiteX714" fmla="*/ 382303 w 431932"/>
              <a:gd name="connsiteY714" fmla="*/ 132773 h 247640"/>
              <a:gd name="connsiteX715" fmla="*/ 380379 w 431932"/>
              <a:gd name="connsiteY715" fmla="*/ 132773 h 247640"/>
              <a:gd name="connsiteX716" fmla="*/ 379418 w 431932"/>
              <a:gd name="connsiteY716" fmla="*/ 132773 h 247640"/>
              <a:gd name="connsiteX717" fmla="*/ 378354 w 431932"/>
              <a:gd name="connsiteY717" fmla="*/ 132570 h 247640"/>
              <a:gd name="connsiteX718" fmla="*/ 377342 w 431932"/>
              <a:gd name="connsiteY718" fmla="*/ 132317 h 247640"/>
              <a:gd name="connsiteX719" fmla="*/ 376228 w 431932"/>
              <a:gd name="connsiteY719" fmla="*/ 132165 h 247640"/>
              <a:gd name="connsiteX720" fmla="*/ 375165 w 431932"/>
              <a:gd name="connsiteY720" fmla="*/ 131709 h 247640"/>
              <a:gd name="connsiteX721" fmla="*/ 374102 w 431932"/>
              <a:gd name="connsiteY721" fmla="*/ 131355 h 247640"/>
              <a:gd name="connsiteX722" fmla="*/ 372988 w 431932"/>
              <a:gd name="connsiteY722" fmla="*/ 130899 h 247640"/>
              <a:gd name="connsiteX723" fmla="*/ 371874 w 431932"/>
              <a:gd name="connsiteY723" fmla="*/ 130393 h 247640"/>
              <a:gd name="connsiteX724" fmla="*/ 370761 w 431932"/>
              <a:gd name="connsiteY724" fmla="*/ 129786 h 247640"/>
              <a:gd name="connsiteX725" fmla="*/ 369698 w 431932"/>
              <a:gd name="connsiteY725" fmla="*/ 129128 h 247640"/>
              <a:gd name="connsiteX726" fmla="*/ 368685 w 431932"/>
              <a:gd name="connsiteY726" fmla="*/ 128419 h 247640"/>
              <a:gd name="connsiteX727" fmla="*/ 367673 w 431932"/>
              <a:gd name="connsiteY727" fmla="*/ 127609 h 247640"/>
              <a:gd name="connsiteX728" fmla="*/ 366559 w 431932"/>
              <a:gd name="connsiteY728" fmla="*/ 126748 h 247640"/>
              <a:gd name="connsiteX729" fmla="*/ 365546 w 431932"/>
              <a:gd name="connsiteY729" fmla="*/ 125837 h 247640"/>
              <a:gd name="connsiteX730" fmla="*/ 364584 w 431932"/>
              <a:gd name="connsiteY730" fmla="*/ 124774 h 247640"/>
              <a:gd name="connsiteX731" fmla="*/ 363623 w 431932"/>
              <a:gd name="connsiteY731" fmla="*/ 123660 h 247640"/>
              <a:gd name="connsiteX732" fmla="*/ 362711 w 431932"/>
              <a:gd name="connsiteY732" fmla="*/ 122546 h 247640"/>
              <a:gd name="connsiteX733" fmla="*/ 361749 w 431932"/>
              <a:gd name="connsiteY733" fmla="*/ 121230 h 247640"/>
              <a:gd name="connsiteX734" fmla="*/ 360990 w 431932"/>
              <a:gd name="connsiteY734" fmla="*/ 119914 h 247640"/>
              <a:gd name="connsiteX735" fmla="*/ 360180 w 431932"/>
              <a:gd name="connsiteY735" fmla="*/ 118446 h 247640"/>
              <a:gd name="connsiteX736" fmla="*/ 359421 w 431932"/>
              <a:gd name="connsiteY736" fmla="*/ 116876 h 247640"/>
              <a:gd name="connsiteX737" fmla="*/ 358712 w 431932"/>
              <a:gd name="connsiteY737" fmla="*/ 115357 h 247640"/>
              <a:gd name="connsiteX738" fmla="*/ 358054 w 431932"/>
              <a:gd name="connsiteY738" fmla="*/ 113670 h 247640"/>
              <a:gd name="connsiteX739" fmla="*/ 357497 w 431932"/>
              <a:gd name="connsiteY739" fmla="*/ 111982 h 247640"/>
              <a:gd name="connsiteX740" fmla="*/ 356940 w 431932"/>
              <a:gd name="connsiteY740" fmla="*/ 110059 h 247640"/>
              <a:gd name="connsiteX741" fmla="*/ 356484 w 431932"/>
              <a:gd name="connsiteY741" fmla="*/ 108135 h 247640"/>
              <a:gd name="connsiteX742" fmla="*/ 356181 w 431932"/>
              <a:gd name="connsiteY742" fmla="*/ 106059 h 247640"/>
              <a:gd name="connsiteX743" fmla="*/ 355877 w 431932"/>
              <a:gd name="connsiteY743" fmla="*/ 103883 h 247640"/>
              <a:gd name="connsiteX744" fmla="*/ 355624 w 431932"/>
              <a:gd name="connsiteY744" fmla="*/ 101655 h 247640"/>
              <a:gd name="connsiteX745" fmla="*/ 355523 w 431932"/>
              <a:gd name="connsiteY745" fmla="*/ 99326 h 247640"/>
              <a:gd name="connsiteX746" fmla="*/ 355523 w 431932"/>
              <a:gd name="connsiteY746" fmla="*/ 94466 h 247640"/>
              <a:gd name="connsiteX747" fmla="*/ 355523 w 431932"/>
              <a:gd name="connsiteY747" fmla="*/ 92138 h 247640"/>
              <a:gd name="connsiteX748" fmla="*/ 355624 w 431932"/>
              <a:gd name="connsiteY748" fmla="*/ 89859 h 247640"/>
              <a:gd name="connsiteX749" fmla="*/ 355877 w 431932"/>
              <a:gd name="connsiteY749" fmla="*/ 87632 h 247640"/>
              <a:gd name="connsiteX750" fmla="*/ 356181 w 431932"/>
              <a:gd name="connsiteY750" fmla="*/ 85455 h 247640"/>
              <a:gd name="connsiteX751" fmla="*/ 356586 w 431932"/>
              <a:gd name="connsiteY751" fmla="*/ 83481 h 247640"/>
              <a:gd name="connsiteX752" fmla="*/ 356991 w 431932"/>
              <a:gd name="connsiteY752" fmla="*/ 81405 h 247640"/>
              <a:gd name="connsiteX753" fmla="*/ 357446 w 431932"/>
              <a:gd name="connsiteY753" fmla="*/ 79481 h 247640"/>
              <a:gd name="connsiteX754" fmla="*/ 358003 w 431932"/>
              <a:gd name="connsiteY754" fmla="*/ 77794 h 247640"/>
              <a:gd name="connsiteX755" fmla="*/ 358509 w 431932"/>
              <a:gd name="connsiteY755" fmla="*/ 76106 h 247640"/>
              <a:gd name="connsiteX756" fmla="*/ 359117 w 431932"/>
              <a:gd name="connsiteY756" fmla="*/ 74419 h 247640"/>
              <a:gd name="connsiteX757" fmla="*/ 359775 w 431932"/>
              <a:gd name="connsiteY757" fmla="*/ 72731 h 247640"/>
              <a:gd name="connsiteX758" fmla="*/ 360534 w 431932"/>
              <a:gd name="connsiteY758" fmla="*/ 71314 h 247640"/>
              <a:gd name="connsiteX759" fmla="*/ 361294 w 431932"/>
              <a:gd name="connsiteY759" fmla="*/ 69795 h 247640"/>
              <a:gd name="connsiteX760" fmla="*/ 362154 w 431932"/>
              <a:gd name="connsiteY760" fmla="*/ 68428 h 247640"/>
              <a:gd name="connsiteX761" fmla="*/ 362964 w 431932"/>
              <a:gd name="connsiteY761" fmla="*/ 67112 h 247640"/>
              <a:gd name="connsiteX762" fmla="*/ 363876 w 431932"/>
              <a:gd name="connsiteY762" fmla="*/ 65948 h 247640"/>
              <a:gd name="connsiteX763" fmla="*/ 364838 w 431932"/>
              <a:gd name="connsiteY763" fmla="*/ 64783 h 247640"/>
              <a:gd name="connsiteX764" fmla="*/ 365799 w 431932"/>
              <a:gd name="connsiteY764" fmla="*/ 63720 h 247640"/>
              <a:gd name="connsiteX765" fmla="*/ 366812 w 431932"/>
              <a:gd name="connsiteY765" fmla="*/ 62809 h 247640"/>
              <a:gd name="connsiteX766" fmla="*/ 367824 w 431932"/>
              <a:gd name="connsiteY766" fmla="*/ 61847 h 247640"/>
              <a:gd name="connsiteX767" fmla="*/ 368989 w 431932"/>
              <a:gd name="connsiteY767" fmla="*/ 61138 h 247640"/>
              <a:gd name="connsiteX768" fmla="*/ 370052 w 431932"/>
              <a:gd name="connsiteY768" fmla="*/ 60328 h 247640"/>
              <a:gd name="connsiteX769" fmla="*/ 371216 w 431932"/>
              <a:gd name="connsiteY769" fmla="*/ 59619 h 247640"/>
              <a:gd name="connsiteX770" fmla="*/ 372330 w 431932"/>
              <a:gd name="connsiteY770" fmla="*/ 59113 h 247640"/>
              <a:gd name="connsiteX771" fmla="*/ 373596 w 431932"/>
              <a:gd name="connsiteY771" fmla="*/ 58556 h 247640"/>
              <a:gd name="connsiteX772" fmla="*/ 374811 w 431932"/>
              <a:gd name="connsiteY772" fmla="*/ 58202 h 247640"/>
              <a:gd name="connsiteX773" fmla="*/ 376076 w 431932"/>
              <a:gd name="connsiteY773" fmla="*/ 57848 h 247640"/>
              <a:gd name="connsiteX774" fmla="*/ 377342 w 431932"/>
              <a:gd name="connsiteY774" fmla="*/ 57544 h 247640"/>
              <a:gd name="connsiteX775" fmla="*/ 378658 w 431932"/>
              <a:gd name="connsiteY775" fmla="*/ 57341 h 247640"/>
              <a:gd name="connsiteX776" fmla="*/ 216557 w 431932"/>
              <a:gd name="connsiteY776" fmla="*/ 0 h 247640"/>
              <a:gd name="connsiteX777" fmla="*/ 218244 w 431932"/>
              <a:gd name="connsiteY777" fmla="*/ 101 h 247640"/>
              <a:gd name="connsiteX778" fmla="*/ 220016 w 431932"/>
              <a:gd name="connsiteY778" fmla="*/ 101 h 247640"/>
              <a:gd name="connsiteX779" fmla="*/ 221704 w 431932"/>
              <a:gd name="connsiteY779" fmla="*/ 354 h 247640"/>
              <a:gd name="connsiteX780" fmla="*/ 223391 w 431932"/>
              <a:gd name="connsiteY780" fmla="*/ 658 h 247640"/>
              <a:gd name="connsiteX781" fmla="*/ 225079 w 431932"/>
              <a:gd name="connsiteY781" fmla="*/ 1012 h 247640"/>
              <a:gd name="connsiteX782" fmla="*/ 226766 w 431932"/>
              <a:gd name="connsiteY782" fmla="*/ 1519 h 247640"/>
              <a:gd name="connsiteX783" fmla="*/ 228454 w 431932"/>
              <a:gd name="connsiteY783" fmla="*/ 2076 h 247640"/>
              <a:gd name="connsiteX784" fmla="*/ 230141 w 431932"/>
              <a:gd name="connsiteY784" fmla="*/ 2683 h 247640"/>
              <a:gd name="connsiteX785" fmla="*/ 231829 w 431932"/>
              <a:gd name="connsiteY785" fmla="*/ 3443 h 247640"/>
              <a:gd name="connsiteX786" fmla="*/ 233516 w 431932"/>
              <a:gd name="connsiteY786" fmla="*/ 4253 h 247640"/>
              <a:gd name="connsiteX787" fmla="*/ 235204 w 431932"/>
              <a:gd name="connsiteY787" fmla="*/ 5164 h 247640"/>
              <a:gd name="connsiteX788" fmla="*/ 236773 w 431932"/>
              <a:gd name="connsiteY788" fmla="*/ 6126 h 247640"/>
              <a:gd name="connsiteX789" fmla="*/ 238174 w 431932"/>
              <a:gd name="connsiteY789" fmla="*/ 7189 h 247640"/>
              <a:gd name="connsiteX790" fmla="*/ 239659 w 431932"/>
              <a:gd name="connsiteY790" fmla="*/ 8353 h 247640"/>
              <a:gd name="connsiteX791" fmla="*/ 241026 w 431932"/>
              <a:gd name="connsiteY791" fmla="*/ 9619 h 247640"/>
              <a:gd name="connsiteX792" fmla="*/ 242426 w 431932"/>
              <a:gd name="connsiteY792" fmla="*/ 10884 h 247640"/>
              <a:gd name="connsiteX793" fmla="*/ 243743 w 431932"/>
              <a:gd name="connsiteY793" fmla="*/ 12302 h 247640"/>
              <a:gd name="connsiteX794" fmla="*/ 245008 w 431932"/>
              <a:gd name="connsiteY794" fmla="*/ 13821 h 247640"/>
              <a:gd name="connsiteX795" fmla="*/ 246189 w 431932"/>
              <a:gd name="connsiteY795" fmla="*/ 15390 h 247640"/>
              <a:gd name="connsiteX796" fmla="*/ 247303 w 431932"/>
              <a:gd name="connsiteY796" fmla="*/ 17077 h 247640"/>
              <a:gd name="connsiteX797" fmla="*/ 248349 w 431932"/>
              <a:gd name="connsiteY797" fmla="*/ 18765 h 247640"/>
              <a:gd name="connsiteX798" fmla="*/ 249379 w 431932"/>
              <a:gd name="connsiteY798" fmla="*/ 20638 h 247640"/>
              <a:gd name="connsiteX799" fmla="*/ 250223 w 431932"/>
              <a:gd name="connsiteY799" fmla="*/ 22562 h 247640"/>
              <a:gd name="connsiteX800" fmla="*/ 251049 w 431932"/>
              <a:gd name="connsiteY800" fmla="*/ 24486 h 247640"/>
              <a:gd name="connsiteX801" fmla="*/ 251859 w 431932"/>
              <a:gd name="connsiteY801" fmla="*/ 26511 h 247640"/>
              <a:gd name="connsiteX802" fmla="*/ 252467 w 431932"/>
              <a:gd name="connsiteY802" fmla="*/ 28687 h 247640"/>
              <a:gd name="connsiteX803" fmla="*/ 252973 w 431932"/>
              <a:gd name="connsiteY803" fmla="*/ 30915 h 247640"/>
              <a:gd name="connsiteX804" fmla="*/ 253513 w 431932"/>
              <a:gd name="connsiteY804" fmla="*/ 33193 h 247640"/>
              <a:gd name="connsiteX805" fmla="*/ 253817 w 431932"/>
              <a:gd name="connsiteY805" fmla="*/ 35623 h 247640"/>
              <a:gd name="connsiteX806" fmla="*/ 254121 w 431932"/>
              <a:gd name="connsiteY806" fmla="*/ 38053 h 247640"/>
              <a:gd name="connsiteX807" fmla="*/ 254323 w 431932"/>
              <a:gd name="connsiteY807" fmla="*/ 40584 h 247640"/>
              <a:gd name="connsiteX808" fmla="*/ 254323 w 431932"/>
              <a:gd name="connsiteY808" fmla="*/ 43268 h 247640"/>
              <a:gd name="connsiteX809" fmla="*/ 254323 w 431932"/>
              <a:gd name="connsiteY809" fmla="*/ 45191 h 247640"/>
              <a:gd name="connsiteX810" fmla="*/ 254323 w 431932"/>
              <a:gd name="connsiteY810" fmla="*/ 45191 h 247640"/>
              <a:gd name="connsiteX811" fmla="*/ 254678 w 431932"/>
              <a:gd name="connsiteY811" fmla="*/ 45191 h 247640"/>
              <a:gd name="connsiteX812" fmla="*/ 255083 w 431932"/>
              <a:gd name="connsiteY812" fmla="*/ 45343 h 247640"/>
              <a:gd name="connsiteX813" fmla="*/ 255403 w 431932"/>
              <a:gd name="connsiteY813" fmla="*/ 45647 h 247640"/>
              <a:gd name="connsiteX814" fmla="*/ 255639 w 431932"/>
              <a:gd name="connsiteY814" fmla="*/ 46001 h 247640"/>
              <a:gd name="connsiteX815" fmla="*/ 255893 w 431932"/>
              <a:gd name="connsiteY815" fmla="*/ 46558 h 247640"/>
              <a:gd name="connsiteX816" fmla="*/ 256044 w 431932"/>
              <a:gd name="connsiteY816" fmla="*/ 47216 h 247640"/>
              <a:gd name="connsiteX817" fmla="*/ 256196 w 431932"/>
              <a:gd name="connsiteY817" fmla="*/ 47874 h 247640"/>
              <a:gd name="connsiteX818" fmla="*/ 256298 w 431932"/>
              <a:gd name="connsiteY818" fmla="*/ 48684 h 247640"/>
              <a:gd name="connsiteX819" fmla="*/ 256298 w 431932"/>
              <a:gd name="connsiteY819" fmla="*/ 50372 h 247640"/>
              <a:gd name="connsiteX820" fmla="*/ 256298 w 431932"/>
              <a:gd name="connsiteY820" fmla="*/ 52296 h 247640"/>
              <a:gd name="connsiteX821" fmla="*/ 256095 w 431932"/>
              <a:gd name="connsiteY821" fmla="*/ 54270 h 247640"/>
              <a:gd name="connsiteX822" fmla="*/ 255741 w 431932"/>
              <a:gd name="connsiteY822" fmla="*/ 56447 h 247640"/>
              <a:gd name="connsiteX823" fmla="*/ 255285 w 431932"/>
              <a:gd name="connsiteY823" fmla="*/ 58522 h 247640"/>
              <a:gd name="connsiteX824" fmla="*/ 254728 w 431932"/>
              <a:gd name="connsiteY824" fmla="*/ 60497 h 247640"/>
              <a:gd name="connsiteX825" fmla="*/ 254121 w 431932"/>
              <a:gd name="connsiteY825" fmla="*/ 62421 h 247640"/>
              <a:gd name="connsiteX826" fmla="*/ 253463 w 431932"/>
              <a:gd name="connsiteY826" fmla="*/ 64108 h 247640"/>
              <a:gd name="connsiteX827" fmla="*/ 253074 w 431932"/>
              <a:gd name="connsiteY827" fmla="*/ 64867 h 247640"/>
              <a:gd name="connsiteX828" fmla="*/ 252703 w 431932"/>
              <a:gd name="connsiteY828" fmla="*/ 65526 h 247640"/>
              <a:gd name="connsiteX829" fmla="*/ 252248 w 431932"/>
              <a:gd name="connsiteY829" fmla="*/ 66184 h 247640"/>
              <a:gd name="connsiteX830" fmla="*/ 251893 w 431932"/>
              <a:gd name="connsiteY830" fmla="*/ 66741 h 247640"/>
              <a:gd name="connsiteX831" fmla="*/ 251438 w 431932"/>
              <a:gd name="connsiteY831" fmla="*/ 67095 h 247640"/>
              <a:gd name="connsiteX832" fmla="*/ 251049 w 431932"/>
              <a:gd name="connsiteY832" fmla="*/ 67399 h 247640"/>
              <a:gd name="connsiteX833" fmla="*/ 250594 w 431932"/>
              <a:gd name="connsiteY833" fmla="*/ 67601 h 247640"/>
              <a:gd name="connsiteX834" fmla="*/ 250223 w 431932"/>
              <a:gd name="connsiteY834" fmla="*/ 67601 h 247640"/>
              <a:gd name="connsiteX835" fmla="*/ 250020 w 431932"/>
              <a:gd name="connsiteY835" fmla="*/ 67601 h 247640"/>
              <a:gd name="connsiteX836" fmla="*/ 248721 w 431932"/>
              <a:gd name="connsiteY836" fmla="*/ 71196 h 247640"/>
              <a:gd name="connsiteX837" fmla="*/ 247185 w 431932"/>
              <a:gd name="connsiteY837" fmla="*/ 74739 h 247640"/>
              <a:gd name="connsiteX838" fmla="*/ 245582 w 431932"/>
              <a:gd name="connsiteY838" fmla="*/ 78114 h 247640"/>
              <a:gd name="connsiteX839" fmla="*/ 243894 w 431932"/>
              <a:gd name="connsiteY839" fmla="*/ 81304 h 247640"/>
              <a:gd name="connsiteX840" fmla="*/ 241971 w 431932"/>
              <a:gd name="connsiteY840" fmla="*/ 84442 h 247640"/>
              <a:gd name="connsiteX841" fmla="*/ 241026 w 431932"/>
              <a:gd name="connsiteY841" fmla="*/ 85911 h 247640"/>
              <a:gd name="connsiteX842" fmla="*/ 240047 w 431932"/>
              <a:gd name="connsiteY842" fmla="*/ 87379 h 247640"/>
              <a:gd name="connsiteX843" fmla="*/ 239001 w 431932"/>
              <a:gd name="connsiteY843" fmla="*/ 88746 h 247640"/>
              <a:gd name="connsiteX844" fmla="*/ 237988 w 431932"/>
              <a:gd name="connsiteY844" fmla="*/ 90113 h 247640"/>
              <a:gd name="connsiteX845" fmla="*/ 236858 w 431932"/>
              <a:gd name="connsiteY845" fmla="*/ 91429 h 247640"/>
              <a:gd name="connsiteX846" fmla="*/ 235811 w 431932"/>
              <a:gd name="connsiteY846" fmla="*/ 92694 h 247640"/>
              <a:gd name="connsiteX847" fmla="*/ 234647 w 431932"/>
              <a:gd name="connsiteY847" fmla="*/ 93859 h 247640"/>
              <a:gd name="connsiteX848" fmla="*/ 233584 w 431932"/>
              <a:gd name="connsiteY848" fmla="*/ 94973 h 247640"/>
              <a:gd name="connsiteX849" fmla="*/ 232419 w 431932"/>
              <a:gd name="connsiteY849" fmla="*/ 95985 h 247640"/>
              <a:gd name="connsiteX850" fmla="*/ 231306 w 431932"/>
              <a:gd name="connsiteY850" fmla="*/ 96998 h 247640"/>
              <a:gd name="connsiteX851" fmla="*/ 230091 w 431932"/>
              <a:gd name="connsiteY851" fmla="*/ 97909 h 247640"/>
              <a:gd name="connsiteX852" fmla="*/ 228876 w 431932"/>
              <a:gd name="connsiteY852" fmla="*/ 98820 h 247640"/>
              <a:gd name="connsiteX853" fmla="*/ 227762 w 431932"/>
              <a:gd name="connsiteY853" fmla="*/ 99630 h 247640"/>
              <a:gd name="connsiteX854" fmla="*/ 226496 w 431932"/>
              <a:gd name="connsiteY854" fmla="*/ 100288 h 247640"/>
              <a:gd name="connsiteX855" fmla="*/ 225281 w 431932"/>
              <a:gd name="connsiteY855" fmla="*/ 100997 h 247640"/>
              <a:gd name="connsiteX856" fmla="*/ 224016 w 431932"/>
              <a:gd name="connsiteY856" fmla="*/ 101554 h 247640"/>
              <a:gd name="connsiteX857" fmla="*/ 222851 w 431932"/>
              <a:gd name="connsiteY857" fmla="*/ 102009 h 247640"/>
              <a:gd name="connsiteX858" fmla="*/ 221586 w 431932"/>
              <a:gd name="connsiteY858" fmla="*/ 102364 h 247640"/>
              <a:gd name="connsiteX859" fmla="*/ 220371 w 431932"/>
              <a:gd name="connsiteY859" fmla="*/ 102668 h 247640"/>
              <a:gd name="connsiteX860" fmla="*/ 219105 w 431932"/>
              <a:gd name="connsiteY860" fmla="*/ 102921 h 247640"/>
              <a:gd name="connsiteX861" fmla="*/ 217890 w 431932"/>
              <a:gd name="connsiteY861" fmla="*/ 103123 h 247640"/>
              <a:gd name="connsiteX862" fmla="*/ 216624 w 431932"/>
              <a:gd name="connsiteY862" fmla="*/ 103123 h 247640"/>
              <a:gd name="connsiteX863" fmla="*/ 215409 w 431932"/>
              <a:gd name="connsiteY863" fmla="*/ 103123 h 247640"/>
              <a:gd name="connsiteX864" fmla="*/ 214194 w 431932"/>
              <a:gd name="connsiteY864" fmla="*/ 102921 h 247640"/>
              <a:gd name="connsiteX865" fmla="*/ 212979 w 431932"/>
              <a:gd name="connsiteY865" fmla="*/ 102668 h 247640"/>
              <a:gd name="connsiteX866" fmla="*/ 211663 w 431932"/>
              <a:gd name="connsiteY866" fmla="*/ 102364 h 247640"/>
              <a:gd name="connsiteX867" fmla="*/ 210398 w 431932"/>
              <a:gd name="connsiteY867" fmla="*/ 102009 h 247640"/>
              <a:gd name="connsiteX868" fmla="*/ 209183 w 431932"/>
              <a:gd name="connsiteY868" fmla="*/ 101554 h 247640"/>
              <a:gd name="connsiteX869" fmla="*/ 207917 w 431932"/>
              <a:gd name="connsiteY869" fmla="*/ 100946 h 247640"/>
              <a:gd name="connsiteX870" fmla="*/ 206803 w 431932"/>
              <a:gd name="connsiteY870" fmla="*/ 100288 h 247640"/>
              <a:gd name="connsiteX871" fmla="*/ 205588 w 431932"/>
              <a:gd name="connsiteY871" fmla="*/ 99630 h 247640"/>
              <a:gd name="connsiteX872" fmla="*/ 204323 w 431932"/>
              <a:gd name="connsiteY872" fmla="*/ 98769 h 247640"/>
              <a:gd name="connsiteX873" fmla="*/ 203158 w 431932"/>
              <a:gd name="connsiteY873" fmla="*/ 97909 h 247640"/>
              <a:gd name="connsiteX874" fmla="*/ 202044 w 431932"/>
              <a:gd name="connsiteY874" fmla="*/ 96998 h 247640"/>
              <a:gd name="connsiteX875" fmla="*/ 200880 w 431932"/>
              <a:gd name="connsiteY875" fmla="*/ 95985 h 247640"/>
              <a:gd name="connsiteX876" fmla="*/ 199716 w 431932"/>
              <a:gd name="connsiteY876" fmla="*/ 94922 h 247640"/>
              <a:gd name="connsiteX877" fmla="*/ 198551 w 431932"/>
              <a:gd name="connsiteY877" fmla="*/ 93758 h 247640"/>
              <a:gd name="connsiteX878" fmla="*/ 197488 w 431932"/>
              <a:gd name="connsiteY878" fmla="*/ 92593 h 247640"/>
              <a:gd name="connsiteX879" fmla="*/ 196324 w 431932"/>
              <a:gd name="connsiteY879" fmla="*/ 91378 h 247640"/>
              <a:gd name="connsiteX880" fmla="*/ 195261 w 431932"/>
              <a:gd name="connsiteY880" fmla="*/ 90062 h 247640"/>
              <a:gd name="connsiteX881" fmla="*/ 194248 w 431932"/>
              <a:gd name="connsiteY881" fmla="*/ 88695 h 247640"/>
              <a:gd name="connsiteX882" fmla="*/ 193134 w 431932"/>
              <a:gd name="connsiteY882" fmla="*/ 87277 h 247640"/>
              <a:gd name="connsiteX883" fmla="*/ 192173 w 431932"/>
              <a:gd name="connsiteY883" fmla="*/ 85860 h 247640"/>
              <a:gd name="connsiteX884" fmla="*/ 191211 w 431932"/>
              <a:gd name="connsiteY884" fmla="*/ 84341 h 247640"/>
              <a:gd name="connsiteX885" fmla="*/ 189388 w 431932"/>
              <a:gd name="connsiteY885" fmla="*/ 81203 h 247640"/>
              <a:gd name="connsiteX886" fmla="*/ 187701 w 431932"/>
              <a:gd name="connsiteY886" fmla="*/ 77963 h 247640"/>
              <a:gd name="connsiteX887" fmla="*/ 186013 w 431932"/>
              <a:gd name="connsiteY887" fmla="*/ 74588 h 247640"/>
              <a:gd name="connsiteX888" fmla="*/ 184545 w 431932"/>
              <a:gd name="connsiteY888" fmla="*/ 71044 h 247640"/>
              <a:gd name="connsiteX889" fmla="*/ 183229 w 431932"/>
              <a:gd name="connsiteY889" fmla="*/ 67348 h 247640"/>
              <a:gd name="connsiteX890" fmla="*/ 182773 w 431932"/>
              <a:gd name="connsiteY890" fmla="*/ 67247 h 247640"/>
              <a:gd name="connsiteX891" fmla="*/ 182250 w 431932"/>
              <a:gd name="connsiteY891" fmla="*/ 67179 h 247640"/>
              <a:gd name="connsiteX892" fmla="*/ 181845 w 431932"/>
              <a:gd name="connsiteY892" fmla="*/ 66876 h 247640"/>
              <a:gd name="connsiteX893" fmla="*/ 181440 w 431932"/>
              <a:gd name="connsiteY893" fmla="*/ 66420 h 247640"/>
              <a:gd name="connsiteX894" fmla="*/ 181035 w 431932"/>
              <a:gd name="connsiteY894" fmla="*/ 65964 h 247640"/>
              <a:gd name="connsiteX895" fmla="*/ 180630 w 431932"/>
              <a:gd name="connsiteY895" fmla="*/ 65306 h 247640"/>
              <a:gd name="connsiteX896" fmla="*/ 179921 w 431932"/>
              <a:gd name="connsiteY896" fmla="*/ 63889 h 247640"/>
              <a:gd name="connsiteX897" fmla="*/ 179263 w 431932"/>
              <a:gd name="connsiteY897" fmla="*/ 62201 h 247640"/>
              <a:gd name="connsiteX898" fmla="*/ 178656 w 431932"/>
              <a:gd name="connsiteY898" fmla="*/ 60328 h 247640"/>
              <a:gd name="connsiteX899" fmla="*/ 178200 w 431932"/>
              <a:gd name="connsiteY899" fmla="*/ 58404 h 247640"/>
              <a:gd name="connsiteX900" fmla="*/ 177694 w 431932"/>
              <a:gd name="connsiteY900" fmla="*/ 56430 h 247640"/>
              <a:gd name="connsiteX901" fmla="*/ 177390 w 431932"/>
              <a:gd name="connsiteY901" fmla="*/ 54456 h 247640"/>
              <a:gd name="connsiteX902" fmla="*/ 177289 w 431932"/>
              <a:gd name="connsiteY902" fmla="*/ 52380 h 247640"/>
              <a:gd name="connsiteX903" fmla="*/ 177188 w 431932"/>
              <a:gd name="connsiteY903" fmla="*/ 50692 h 247640"/>
              <a:gd name="connsiteX904" fmla="*/ 177289 w 431932"/>
              <a:gd name="connsiteY904" fmla="*/ 49005 h 247640"/>
              <a:gd name="connsiteX905" fmla="*/ 177390 w 431932"/>
              <a:gd name="connsiteY905" fmla="*/ 47638 h 247640"/>
              <a:gd name="connsiteX906" fmla="*/ 177593 w 431932"/>
              <a:gd name="connsiteY906" fmla="*/ 47031 h 247640"/>
              <a:gd name="connsiteX907" fmla="*/ 177846 w 431932"/>
              <a:gd name="connsiteY907" fmla="*/ 46524 h 247640"/>
              <a:gd name="connsiteX908" fmla="*/ 177998 w 431932"/>
              <a:gd name="connsiteY908" fmla="*/ 46018 h 247640"/>
              <a:gd name="connsiteX909" fmla="*/ 178251 w 431932"/>
              <a:gd name="connsiteY909" fmla="*/ 45714 h 247640"/>
              <a:gd name="connsiteX910" fmla="*/ 178554 w 431932"/>
              <a:gd name="connsiteY910" fmla="*/ 45461 h 247640"/>
              <a:gd name="connsiteX911" fmla="*/ 178959 w 431932"/>
              <a:gd name="connsiteY911" fmla="*/ 45309 h 247640"/>
              <a:gd name="connsiteX912" fmla="*/ 178858 w 431932"/>
              <a:gd name="connsiteY912" fmla="*/ 43284 h 247640"/>
              <a:gd name="connsiteX913" fmla="*/ 178959 w 431932"/>
              <a:gd name="connsiteY913" fmla="*/ 40601 h 247640"/>
              <a:gd name="connsiteX914" fmla="*/ 179111 w 431932"/>
              <a:gd name="connsiteY914" fmla="*/ 38070 h 247640"/>
              <a:gd name="connsiteX915" fmla="*/ 179314 w 431932"/>
              <a:gd name="connsiteY915" fmla="*/ 35640 h 247640"/>
              <a:gd name="connsiteX916" fmla="*/ 179769 w 431932"/>
              <a:gd name="connsiteY916" fmla="*/ 33210 h 247640"/>
              <a:gd name="connsiteX917" fmla="*/ 180174 w 431932"/>
              <a:gd name="connsiteY917" fmla="*/ 30932 h 247640"/>
              <a:gd name="connsiteX918" fmla="*/ 180782 w 431932"/>
              <a:gd name="connsiteY918" fmla="*/ 28704 h 247640"/>
              <a:gd name="connsiteX919" fmla="*/ 181440 w 431932"/>
              <a:gd name="connsiteY919" fmla="*/ 26527 h 247640"/>
              <a:gd name="connsiteX920" fmla="*/ 182149 w 431932"/>
              <a:gd name="connsiteY920" fmla="*/ 24503 h 247640"/>
              <a:gd name="connsiteX921" fmla="*/ 182959 w 431932"/>
              <a:gd name="connsiteY921" fmla="*/ 22579 h 247640"/>
              <a:gd name="connsiteX922" fmla="*/ 183870 w 431932"/>
              <a:gd name="connsiteY922" fmla="*/ 20655 h 247640"/>
              <a:gd name="connsiteX923" fmla="*/ 184883 w 431932"/>
              <a:gd name="connsiteY923" fmla="*/ 18782 h 247640"/>
              <a:gd name="connsiteX924" fmla="*/ 185946 w 431932"/>
              <a:gd name="connsiteY924" fmla="*/ 17094 h 247640"/>
              <a:gd name="connsiteX925" fmla="*/ 187009 w 431932"/>
              <a:gd name="connsiteY925" fmla="*/ 15407 h 247640"/>
              <a:gd name="connsiteX926" fmla="*/ 188274 w 431932"/>
              <a:gd name="connsiteY926" fmla="*/ 13838 h 247640"/>
              <a:gd name="connsiteX927" fmla="*/ 189489 w 431932"/>
              <a:gd name="connsiteY927" fmla="*/ 12319 h 247640"/>
              <a:gd name="connsiteX928" fmla="*/ 190806 w 431932"/>
              <a:gd name="connsiteY928" fmla="*/ 10901 h 247640"/>
              <a:gd name="connsiteX929" fmla="*/ 192122 w 431932"/>
              <a:gd name="connsiteY929" fmla="*/ 9636 h 247640"/>
              <a:gd name="connsiteX930" fmla="*/ 193590 w 431932"/>
              <a:gd name="connsiteY930" fmla="*/ 8370 h 247640"/>
              <a:gd name="connsiteX931" fmla="*/ 195008 w 431932"/>
              <a:gd name="connsiteY931" fmla="*/ 7206 h 247640"/>
              <a:gd name="connsiteX932" fmla="*/ 196526 w 431932"/>
              <a:gd name="connsiteY932" fmla="*/ 6142 h 247640"/>
              <a:gd name="connsiteX933" fmla="*/ 198096 w 431932"/>
              <a:gd name="connsiteY933" fmla="*/ 5181 h 247640"/>
              <a:gd name="connsiteX934" fmla="*/ 199665 w 431932"/>
              <a:gd name="connsiteY934" fmla="*/ 4269 h 247640"/>
              <a:gd name="connsiteX935" fmla="*/ 201353 w 431932"/>
              <a:gd name="connsiteY935" fmla="*/ 3459 h 247640"/>
              <a:gd name="connsiteX936" fmla="*/ 203040 w 431932"/>
              <a:gd name="connsiteY936" fmla="*/ 2700 h 247640"/>
              <a:gd name="connsiteX937" fmla="*/ 204728 w 431932"/>
              <a:gd name="connsiteY937" fmla="*/ 2093 h 247640"/>
              <a:gd name="connsiteX938" fmla="*/ 206415 w 431932"/>
              <a:gd name="connsiteY938" fmla="*/ 1536 h 247640"/>
              <a:gd name="connsiteX939" fmla="*/ 208103 w 431932"/>
              <a:gd name="connsiteY939" fmla="*/ 1029 h 247640"/>
              <a:gd name="connsiteX940" fmla="*/ 209925 w 431932"/>
              <a:gd name="connsiteY940" fmla="*/ 675 h 247640"/>
              <a:gd name="connsiteX941" fmla="*/ 211613 w 431932"/>
              <a:gd name="connsiteY941" fmla="*/ 371 h 247640"/>
              <a:gd name="connsiteX942" fmla="*/ 213435 w 431932"/>
              <a:gd name="connsiteY942" fmla="*/ 118 h 247640"/>
              <a:gd name="connsiteX943" fmla="*/ 215123 w 431932"/>
              <a:gd name="connsiteY943" fmla="*/ 118 h 24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</a:cxnLst>
            <a:rect l="l" t="t" r="r" b="b"/>
            <a:pathLst>
              <a:path w="431932" h="247640">
                <a:moveTo>
                  <a:pt x="139354" y="205166"/>
                </a:moveTo>
                <a:lnTo>
                  <a:pt x="294857" y="205166"/>
                </a:lnTo>
                <a:lnTo>
                  <a:pt x="354038" y="247641"/>
                </a:lnTo>
                <a:lnTo>
                  <a:pt x="80089" y="247641"/>
                </a:lnTo>
                <a:close/>
                <a:moveTo>
                  <a:pt x="58067" y="148686"/>
                </a:moveTo>
                <a:lnTo>
                  <a:pt x="58776" y="148787"/>
                </a:lnTo>
                <a:lnTo>
                  <a:pt x="59434" y="149023"/>
                </a:lnTo>
                <a:lnTo>
                  <a:pt x="60092" y="149394"/>
                </a:lnTo>
                <a:lnTo>
                  <a:pt x="60649" y="149884"/>
                </a:lnTo>
                <a:lnTo>
                  <a:pt x="61155" y="150441"/>
                </a:lnTo>
                <a:lnTo>
                  <a:pt x="61459" y="151217"/>
                </a:lnTo>
                <a:lnTo>
                  <a:pt x="61661" y="151976"/>
                </a:lnTo>
                <a:lnTo>
                  <a:pt x="61762" y="152685"/>
                </a:lnTo>
                <a:lnTo>
                  <a:pt x="61661" y="153478"/>
                </a:lnTo>
                <a:lnTo>
                  <a:pt x="61459" y="154187"/>
                </a:lnTo>
                <a:lnTo>
                  <a:pt x="61003" y="154794"/>
                </a:lnTo>
                <a:lnTo>
                  <a:pt x="60598" y="155301"/>
                </a:lnTo>
                <a:lnTo>
                  <a:pt x="59991" y="155807"/>
                </a:lnTo>
                <a:lnTo>
                  <a:pt x="59282" y="156111"/>
                </a:lnTo>
                <a:lnTo>
                  <a:pt x="56801" y="157191"/>
                </a:lnTo>
                <a:lnTo>
                  <a:pt x="54523" y="158085"/>
                </a:lnTo>
                <a:lnTo>
                  <a:pt x="53764" y="158237"/>
                </a:lnTo>
                <a:lnTo>
                  <a:pt x="52954" y="158237"/>
                </a:lnTo>
                <a:lnTo>
                  <a:pt x="52296" y="158237"/>
                </a:lnTo>
                <a:lnTo>
                  <a:pt x="51587" y="157984"/>
                </a:lnTo>
                <a:lnTo>
                  <a:pt x="50979" y="157579"/>
                </a:lnTo>
                <a:lnTo>
                  <a:pt x="50423" y="157123"/>
                </a:lnTo>
                <a:lnTo>
                  <a:pt x="49967" y="156516"/>
                </a:lnTo>
                <a:lnTo>
                  <a:pt x="49613" y="155807"/>
                </a:lnTo>
                <a:lnTo>
                  <a:pt x="49359" y="155098"/>
                </a:lnTo>
                <a:lnTo>
                  <a:pt x="49359" y="154254"/>
                </a:lnTo>
                <a:lnTo>
                  <a:pt x="49359" y="153546"/>
                </a:lnTo>
                <a:lnTo>
                  <a:pt x="49613" y="152888"/>
                </a:lnTo>
                <a:lnTo>
                  <a:pt x="50018" y="152229"/>
                </a:lnTo>
                <a:lnTo>
                  <a:pt x="50473" y="151673"/>
                </a:lnTo>
                <a:lnTo>
                  <a:pt x="50979" y="151234"/>
                </a:lnTo>
                <a:lnTo>
                  <a:pt x="51688" y="150863"/>
                </a:lnTo>
                <a:lnTo>
                  <a:pt x="56498" y="148956"/>
                </a:lnTo>
                <a:lnTo>
                  <a:pt x="57308" y="148703"/>
                </a:lnTo>
                <a:close/>
                <a:moveTo>
                  <a:pt x="373883" y="146492"/>
                </a:moveTo>
                <a:lnTo>
                  <a:pt x="374591" y="146492"/>
                </a:lnTo>
                <a:lnTo>
                  <a:pt x="375300" y="146745"/>
                </a:lnTo>
                <a:lnTo>
                  <a:pt x="380109" y="148551"/>
                </a:lnTo>
                <a:lnTo>
                  <a:pt x="380768" y="148871"/>
                </a:lnTo>
                <a:lnTo>
                  <a:pt x="381426" y="149327"/>
                </a:lnTo>
                <a:lnTo>
                  <a:pt x="381881" y="149884"/>
                </a:lnTo>
                <a:lnTo>
                  <a:pt x="382286" y="150542"/>
                </a:lnTo>
                <a:lnTo>
                  <a:pt x="382539" y="151200"/>
                </a:lnTo>
                <a:lnTo>
                  <a:pt x="382539" y="151909"/>
                </a:lnTo>
                <a:lnTo>
                  <a:pt x="382539" y="152651"/>
                </a:lnTo>
                <a:lnTo>
                  <a:pt x="382337" y="153360"/>
                </a:lnTo>
                <a:lnTo>
                  <a:pt x="381983" y="154018"/>
                </a:lnTo>
                <a:lnTo>
                  <a:pt x="381476" y="154626"/>
                </a:lnTo>
                <a:lnTo>
                  <a:pt x="380970" y="155081"/>
                </a:lnTo>
                <a:lnTo>
                  <a:pt x="380363" y="155486"/>
                </a:lnTo>
                <a:lnTo>
                  <a:pt x="379654" y="155604"/>
                </a:lnTo>
                <a:lnTo>
                  <a:pt x="378844" y="155739"/>
                </a:lnTo>
                <a:lnTo>
                  <a:pt x="378186" y="155739"/>
                </a:lnTo>
                <a:lnTo>
                  <a:pt x="377426" y="155537"/>
                </a:lnTo>
                <a:lnTo>
                  <a:pt x="372617" y="153731"/>
                </a:lnTo>
                <a:lnTo>
                  <a:pt x="371908" y="153411"/>
                </a:lnTo>
                <a:lnTo>
                  <a:pt x="371351" y="152904"/>
                </a:lnTo>
                <a:lnTo>
                  <a:pt x="370845" y="152297"/>
                </a:lnTo>
                <a:lnTo>
                  <a:pt x="370491" y="151740"/>
                </a:lnTo>
                <a:lnTo>
                  <a:pt x="370288" y="151031"/>
                </a:lnTo>
                <a:lnTo>
                  <a:pt x="370187" y="150323"/>
                </a:lnTo>
                <a:lnTo>
                  <a:pt x="370288" y="149614"/>
                </a:lnTo>
                <a:lnTo>
                  <a:pt x="370440" y="148821"/>
                </a:lnTo>
                <a:lnTo>
                  <a:pt x="370794" y="148264"/>
                </a:lnTo>
                <a:lnTo>
                  <a:pt x="371301" y="147656"/>
                </a:lnTo>
                <a:lnTo>
                  <a:pt x="371807" y="147133"/>
                </a:lnTo>
                <a:lnTo>
                  <a:pt x="372414" y="146796"/>
                </a:lnTo>
                <a:lnTo>
                  <a:pt x="373073" y="146542"/>
                </a:lnTo>
                <a:close/>
                <a:moveTo>
                  <a:pt x="75533" y="137194"/>
                </a:moveTo>
                <a:lnTo>
                  <a:pt x="77625" y="137194"/>
                </a:lnTo>
                <a:lnTo>
                  <a:pt x="78789" y="137194"/>
                </a:lnTo>
                <a:lnTo>
                  <a:pt x="79853" y="137396"/>
                </a:lnTo>
                <a:lnTo>
                  <a:pt x="80916" y="137599"/>
                </a:lnTo>
                <a:lnTo>
                  <a:pt x="82063" y="137852"/>
                </a:lnTo>
                <a:lnTo>
                  <a:pt x="83177" y="138189"/>
                </a:lnTo>
                <a:lnTo>
                  <a:pt x="84291" y="138611"/>
                </a:lnTo>
                <a:lnTo>
                  <a:pt x="85404" y="139067"/>
                </a:lnTo>
                <a:lnTo>
                  <a:pt x="86619" y="139506"/>
                </a:lnTo>
                <a:lnTo>
                  <a:pt x="87632" y="140063"/>
                </a:lnTo>
                <a:lnTo>
                  <a:pt x="88746" y="140687"/>
                </a:lnTo>
                <a:lnTo>
                  <a:pt x="89809" y="141345"/>
                </a:lnTo>
                <a:lnTo>
                  <a:pt x="90872" y="142037"/>
                </a:lnTo>
                <a:lnTo>
                  <a:pt x="91884" y="142864"/>
                </a:lnTo>
                <a:lnTo>
                  <a:pt x="92948" y="143573"/>
                </a:lnTo>
                <a:lnTo>
                  <a:pt x="93808" y="144484"/>
                </a:lnTo>
                <a:lnTo>
                  <a:pt x="94719" y="145294"/>
                </a:lnTo>
                <a:lnTo>
                  <a:pt x="95580" y="146205"/>
                </a:lnTo>
                <a:lnTo>
                  <a:pt x="96491" y="147099"/>
                </a:lnTo>
                <a:lnTo>
                  <a:pt x="97200" y="148078"/>
                </a:lnTo>
                <a:lnTo>
                  <a:pt x="97875" y="149192"/>
                </a:lnTo>
                <a:lnTo>
                  <a:pt x="98685" y="150356"/>
                </a:lnTo>
                <a:lnTo>
                  <a:pt x="99343" y="151673"/>
                </a:lnTo>
                <a:lnTo>
                  <a:pt x="100052" y="153039"/>
                </a:lnTo>
                <a:lnTo>
                  <a:pt x="100710" y="154558"/>
                </a:lnTo>
                <a:lnTo>
                  <a:pt x="101419" y="156128"/>
                </a:lnTo>
                <a:lnTo>
                  <a:pt x="102634" y="159503"/>
                </a:lnTo>
                <a:lnTo>
                  <a:pt x="103899" y="163046"/>
                </a:lnTo>
                <a:lnTo>
                  <a:pt x="105013" y="166742"/>
                </a:lnTo>
                <a:lnTo>
                  <a:pt x="106127" y="170387"/>
                </a:lnTo>
                <a:lnTo>
                  <a:pt x="107038" y="174133"/>
                </a:lnTo>
                <a:lnTo>
                  <a:pt x="108000" y="177677"/>
                </a:lnTo>
                <a:lnTo>
                  <a:pt x="108709" y="181052"/>
                </a:lnTo>
                <a:lnTo>
                  <a:pt x="109974" y="186773"/>
                </a:lnTo>
                <a:lnTo>
                  <a:pt x="110734" y="190671"/>
                </a:lnTo>
                <a:lnTo>
                  <a:pt x="111038" y="192139"/>
                </a:lnTo>
                <a:lnTo>
                  <a:pt x="55536" y="231238"/>
                </a:lnTo>
                <a:lnTo>
                  <a:pt x="1215" y="231238"/>
                </a:lnTo>
                <a:lnTo>
                  <a:pt x="1215" y="228808"/>
                </a:lnTo>
                <a:lnTo>
                  <a:pt x="1215" y="226024"/>
                </a:lnTo>
                <a:lnTo>
                  <a:pt x="861" y="219594"/>
                </a:lnTo>
                <a:lnTo>
                  <a:pt x="506" y="212254"/>
                </a:lnTo>
                <a:lnTo>
                  <a:pt x="203" y="204255"/>
                </a:lnTo>
                <a:lnTo>
                  <a:pt x="203" y="200003"/>
                </a:lnTo>
                <a:lnTo>
                  <a:pt x="0" y="195801"/>
                </a:lnTo>
                <a:lnTo>
                  <a:pt x="0" y="191379"/>
                </a:lnTo>
                <a:lnTo>
                  <a:pt x="152" y="187127"/>
                </a:lnTo>
                <a:lnTo>
                  <a:pt x="253" y="182942"/>
                </a:lnTo>
                <a:lnTo>
                  <a:pt x="405" y="178689"/>
                </a:lnTo>
                <a:lnTo>
                  <a:pt x="810" y="174639"/>
                </a:lnTo>
                <a:lnTo>
                  <a:pt x="1215" y="170589"/>
                </a:lnTo>
                <a:lnTo>
                  <a:pt x="1569" y="168007"/>
                </a:lnTo>
                <a:lnTo>
                  <a:pt x="2076" y="165476"/>
                </a:lnTo>
                <a:lnTo>
                  <a:pt x="2582" y="163148"/>
                </a:lnTo>
                <a:lnTo>
                  <a:pt x="3189" y="161004"/>
                </a:lnTo>
                <a:lnTo>
                  <a:pt x="3898" y="158962"/>
                </a:lnTo>
                <a:lnTo>
                  <a:pt x="4556" y="157039"/>
                </a:lnTo>
                <a:lnTo>
                  <a:pt x="5366" y="155166"/>
                </a:lnTo>
                <a:lnTo>
                  <a:pt x="6126" y="153478"/>
                </a:lnTo>
                <a:lnTo>
                  <a:pt x="6986" y="151926"/>
                </a:lnTo>
                <a:lnTo>
                  <a:pt x="7897" y="150441"/>
                </a:lnTo>
                <a:lnTo>
                  <a:pt x="8708" y="149074"/>
                </a:lnTo>
                <a:lnTo>
                  <a:pt x="9669" y="147859"/>
                </a:lnTo>
                <a:lnTo>
                  <a:pt x="10581" y="146644"/>
                </a:lnTo>
                <a:lnTo>
                  <a:pt x="11492" y="145699"/>
                </a:lnTo>
                <a:lnTo>
                  <a:pt x="12454" y="144669"/>
                </a:lnTo>
                <a:lnTo>
                  <a:pt x="13365" y="143876"/>
                </a:lnTo>
                <a:lnTo>
                  <a:pt x="14327" y="143066"/>
                </a:lnTo>
                <a:lnTo>
                  <a:pt x="15188" y="142442"/>
                </a:lnTo>
                <a:lnTo>
                  <a:pt x="15997" y="141834"/>
                </a:lnTo>
                <a:lnTo>
                  <a:pt x="16909" y="141227"/>
                </a:lnTo>
                <a:lnTo>
                  <a:pt x="18478" y="140349"/>
                </a:lnTo>
                <a:lnTo>
                  <a:pt x="19845" y="139641"/>
                </a:lnTo>
                <a:lnTo>
                  <a:pt x="21060" y="139202"/>
                </a:lnTo>
                <a:lnTo>
                  <a:pt x="21971" y="138949"/>
                </a:lnTo>
                <a:lnTo>
                  <a:pt x="22680" y="138746"/>
                </a:lnTo>
                <a:lnTo>
                  <a:pt x="23996" y="139084"/>
                </a:lnTo>
                <a:lnTo>
                  <a:pt x="25262" y="139253"/>
                </a:lnTo>
                <a:lnTo>
                  <a:pt x="27591" y="139961"/>
                </a:lnTo>
                <a:lnTo>
                  <a:pt x="29818" y="140822"/>
                </a:lnTo>
                <a:lnTo>
                  <a:pt x="31944" y="141834"/>
                </a:lnTo>
                <a:lnTo>
                  <a:pt x="33919" y="142830"/>
                </a:lnTo>
                <a:lnTo>
                  <a:pt x="35843" y="144045"/>
                </a:lnTo>
                <a:lnTo>
                  <a:pt x="37614" y="145311"/>
                </a:lnTo>
                <a:lnTo>
                  <a:pt x="39302" y="146677"/>
                </a:lnTo>
                <a:lnTo>
                  <a:pt x="40871" y="148213"/>
                </a:lnTo>
                <a:lnTo>
                  <a:pt x="42289" y="149715"/>
                </a:lnTo>
                <a:lnTo>
                  <a:pt x="43656" y="151301"/>
                </a:lnTo>
                <a:lnTo>
                  <a:pt x="45023" y="152989"/>
                </a:lnTo>
                <a:lnTo>
                  <a:pt x="46187" y="154676"/>
                </a:lnTo>
                <a:lnTo>
                  <a:pt x="47402" y="156279"/>
                </a:lnTo>
                <a:lnTo>
                  <a:pt x="48414" y="157967"/>
                </a:lnTo>
                <a:lnTo>
                  <a:pt x="49528" y="159536"/>
                </a:lnTo>
                <a:lnTo>
                  <a:pt x="51351" y="162726"/>
                </a:lnTo>
                <a:lnTo>
                  <a:pt x="53038" y="165712"/>
                </a:lnTo>
                <a:lnTo>
                  <a:pt x="54557" y="168446"/>
                </a:lnTo>
                <a:lnTo>
                  <a:pt x="55974" y="170724"/>
                </a:lnTo>
                <a:lnTo>
                  <a:pt x="56683" y="171737"/>
                </a:lnTo>
                <a:lnTo>
                  <a:pt x="57341" y="172597"/>
                </a:lnTo>
                <a:lnTo>
                  <a:pt x="57949" y="173256"/>
                </a:lnTo>
                <a:lnTo>
                  <a:pt x="58657" y="173762"/>
                </a:lnTo>
                <a:lnTo>
                  <a:pt x="59265" y="174218"/>
                </a:lnTo>
                <a:lnTo>
                  <a:pt x="59974" y="174369"/>
                </a:lnTo>
                <a:lnTo>
                  <a:pt x="60750" y="174369"/>
                </a:lnTo>
                <a:lnTo>
                  <a:pt x="61104" y="174369"/>
                </a:lnTo>
                <a:lnTo>
                  <a:pt x="61408" y="174268"/>
                </a:lnTo>
                <a:lnTo>
                  <a:pt x="62117" y="173964"/>
                </a:lnTo>
                <a:lnTo>
                  <a:pt x="62471" y="173610"/>
                </a:lnTo>
                <a:lnTo>
                  <a:pt x="62674" y="173458"/>
                </a:lnTo>
                <a:lnTo>
                  <a:pt x="63231" y="173003"/>
                </a:lnTo>
                <a:lnTo>
                  <a:pt x="63585" y="172395"/>
                </a:lnTo>
                <a:lnTo>
                  <a:pt x="63990" y="171788"/>
                </a:lnTo>
                <a:lnTo>
                  <a:pt x="64294" y="171079"/>
                </a:lnTo>
                <a:lnTo>
                  <a:pt x="64547" y="170269"/>
                </a:lnTo>
                <a:lnTo>
                  <a:pt x="64648" y="169459"/>
                </a:lnTo>
                <a:lnTo>
                  <a:pt x="64851" y="168598"/>
                </a:lnTo>
                <a:lnTo>
                  <a:pt x="64851" y="167687"/>
                </a:lnTo>
                <a:lnTo>
                  <a:pt x="64851" y="165763"/>
                </a:lnTo>
                <a:lnTo>
                  <a:pt x="64851" y="163637"/>
                </a:lnTo>
                <a:lnTo>
                  <a:pt x="64851" y="161460"/>
                </a:lnTo>
                <a:lnTo>
                  <a:pt x="64597" y="156752"/>
                </a:lnTo>
                <a:lnTo>
                  <a:pt x="64597" y="154423"/>
                </a:lnTo>
                <a:lnTo>
                  <a:pt x="64749" y="151993"/>
                </a:lnTo>
                <a:lnTo>
                  <a:pt x="64851" y="149681"/>
                </a:lnTo>
                <a:lnTo>
                  <a:pt x="65053" y="148568"/>
                </a:lnTo>
                <a:lnTo>
                  <a:pt x="65205" y="147386"/>
                </a:lnTo>
                <a:lnTo>
                  <a:pt x="65509" y="146323"/>
                </a:lnTo>
                <a:lnTo>
                  <a:pt x="65863" y="145226"/>
                </a:lnTo>
                <a:lnTo>
                  <a:pt x="66218" y="144163"/>
                </a:lnTo>
                <a:lnTo>
                  <a:pt x="66724" y="143201"/>
                </a:lnTo>
                <a:lnTo>
                  <a:pt x="67281" y="142239"/>
                </a:lnTo>
                <a:lnTo>
                  <a:pt x="67787" y="141379"/>
                </a:lnTo>
                <a:lnTo>
                  <a:pt x="68445" y="140670"/>
                </a:lnTo>
                <a:lnTo>
                  <a:pt x="69204" y="139961"/>
                </a:lnTo>
                <a:lnTo>
                  <a:pt x="69964" y="139404"/>
                </a:lnTo>
                <a:lnTo>
                  <a:pt x="70824" y="138847"/>
                </a:lnTo>
                <a:lnTo>
                  <a:pt x="71634" y="138392"/>
                </a:lnTo>
                <a:lnTo>
                  <a:pt x="72546" y="138088"/>
                </a:lnTo>
                <a:lnTo>
                  <a:pt x="73558" y="137784"/>
                </a:lnTo>
                <a:lnTo>
                  <a:pt x="74520" y="137632"/>
                </a:lnTo>
                <a:close/>
                <a:moveTo>
                  <a:pt x="354240" y="135017"/>
                </a:moveTo>
                <a:lnTo>
                  <a:pt x="355303" y="135017"/>
                </a:lnTo>
                <a:lnTo>
                  <a:pt x="356366" y="135017"/>
                </a:lnTo>
                <a:lnTo>
                  <a:pt x="357328" y="135118"/>
                </a:lnTo>
                <a:lnTo>
                  <a:pt x="358391" y="135371"/>
                </a:lnTo>
                <a:lnTo>
                  <a:pt x="359404" y="135574"/>
                </a:lnTo>
                <a:lnTo>
                  <a:pt x="360214" y="135979"/>
                </a:lnTo>
                <a:lnTo>
                  <a:pt x="361125" y="136333"/>
                </a:lnTo>
                <a:lnTo>
                  <a:pt x="361935" y="136890"/>
                </a:lnTo>
                <a:lnTo>
                  <a:pt x="362745" y="137498"/>
                </a:lnTo>
                <a:lnTo>
                  <a:pt x="363454" y="138189"/>
                </a:lnTo>
                <a:lnTo>
                  <a:pt x="364061" y="138847"/>
                </a:lnTo>
                <a:lnTo>
                  <a:pt x="364669" y="139725"/>
                </a:lnTo>
                <a:lnTo>
                  <a:pt x="365226" y="140721"/>
                </a:lnTo>
                <a:lnTo>
                  <a:pt x="365681" y="141750"/>
                </a:lnTo>
                <a:lnTo>
                  <a:pt x="366086" y="142695"/>
                </a:lnTo>
                <a:lnTo>
                  <a:pt x="366390" y="143775"/>
                </a:lnTo>
                <a:lnTo>
                  <a:pt x="366643" y="144939"/>
                </a:lnTo>
                <a:lnTo>
                  <a:pt x="366846" y="145986"/>
                </a:lnTo>
                <a:lnTo>
                  <a:pt x="366998" y="147150"/>
                </a:lnTo>
                <a:lnTo>
                  <a:pt x="367200" y="149546"/>
                </a:lnTo>
                <a:lnTo>
                  <a:pt x="367301" y="151976"/>
                </a:lnTo>
                <a:lnTo>
                  <a:pt x="367200" y="154288"/>
                </a:lnTo>
                <a:lnTo>
                  <a:pt x="367099" y="158946"/>
                </a:lnTo>
                <a:lnTo>
                  <a:pt x="366998" y="161173"/>
                </a:lnTo>
                <a:lnTo>
                  <a:pt x="366896" y="163249"/>
                </a:lnTo>
                <a:lnTo>
                  <a:pt x="367099" y="165223"/>
                </a:lnTo>
                <a:lnTo>
                  <a:pt x="367099" y="166134"/>
                </a:lnTo>
                <a:lnTo>
                  <a:pt x="367251" y="166995"/>
                </a:lnTo>
                <a:lnTo>
                  <a:pt x="367403" y="167805"/>
                </a:lnTo>
                <a:lnTo>
                  <a:pt x="367656" y="168564"/>
                </a:lnTo>
                <a:lnTo>
                  <a:pt x="367959" y="169324"/>
                </a:lnTo>
                <a:lnTo>
                  <a:pt x="368364" y="169931"/>
                </a:lnTo>
                <a:lnTo>
                  <a:pt x="368719" y="170488"/>
                </a:lnTo>
                <a:lnTo>
                  <a:pt x="369174" y="170994"/>
                </a:lnTo>
                <a:lnTo>
                  <a:pt x="369529" y="171197"/>
                </a:lnTo>
                <a:lnTo>
                  <a:pt x="369782" y="171349"/>
                </a:lnTo>
                <a:lnTo>
                  <a:pt x="370389" y="171754"/>
                </a:lnTo>
                <a:lnTo>
                  <a:pt x="370794" y="171855"/>
                </a:lnTo>
                <a:lnTo>
                  <a:pt x="371098" y="171855"/>
                </a:lnTo>
                <a:lnTo>
                  <a:pt x="371503" y="171855"/>
                </a:lnTo>
                <a:lnTo>
                  <a:pt x="371807" y="171855"/>
                </a:lnTo>
                <a:lnTo>
                  <a:pt x="372516" y="171703"/>
                </a:lnTo>
                <a:lnTo>
                  <a:pt x="373123" y="171298"/>
                </a:lnTo>
                <a:lnTo>
                  <a:pt x="373832" y="170792"/>
                </a:lnTo>
                <a:lnTo>
                  <a:pt x="374439" y="169982"/>
                </a:lnTo>
                <a:lnTo>
                  <a:pt x="375098" y="169172"/>
                </a:lnTo>
                <a:lnTo>
                  <a:pt x="375806" y="168261"/>
                </a:lnTo>
                <a:lnTo>
                  <a:pt x="377173" y="165983"/>
                </a:lnTo>
                <a:lnTo>
                  <a:pt x="378743" y="163249"/>
                </a:lnTo>
                <a:lnTo>
                  <a:pt x="380430" y="160262"/>
                </a:lnTo>
                <a:lnTo>
                  <a:pt x="382253" y="157123"/>
                </a:lnTo>
                <a:lnTo>
                  <a:pt x="383265" y="155436"/>
                </a:lnTo>
                <a:lnTo>
                  <a:pt x="384429" y="153748"/>
                </a:lnTo>
                <a:lnTo>
                  <a:pt x="385543" y="152061"/>
                </a:lnTo>
                <a:lnTo>
                  <a:pt x="386809" y="150458"/>
                </a:lnTo>
                <a:lnTo>
                  <a:pt x="388074" y="148770"/>
                </a:lnTo>
                <a:lnTo>
                  <a:pt x="389543" y="147218"/>
                </a:lnTo>
                <a:lnTo>
                  <a:pt x="390960" y="145682"/>
                </a:lnTo>
                <a:lnTo>
                  <a:pt x="392529" y="144264"/>
                </a:lnTo>
                <a:lnTo>
                  <a:pt x="394217" y="142864"/>
                </a:lnTo>
                <a:lnTo>
                  <a:pt x="396039" y="141548"/>
                </a:lnTo>
                <a:lnTo>
                  <a:pt x="397845" y="140434"/>
                </a:lnTo>
                <a:lnTo>
                  <a:pt x="399887" y="139303"/>
                </a:lnTo>
                <a:lnTo>
                  <a:pt x="401963" y="138308"/>
                </a:lnTo>
                <a:lnTo>
                  <a:pt x="404173" y="137430"/>
                </a:lnTo>
                <a:lnTo>
                  <a:pt x="406603" y="136772"/>
                </a:lnTo>
                <a:lnTo>
                  <a:pt x="407869" y="136434"/>
                </a:lnTo>
                <a:lnTo>
                  <a:pt x="409084" y="136283"/>
                </a:lnTo>
                <a:lnTo>
                  <a:pt x="409843" y="136434"/>
                </a:lnTo>
                <a:lnTo>
                  <a:pt x="410754" y="136688"/>
                </a:lnTo>
                <a:lnTo>
                  <a:pt x="411936" y="137143"/>
                </a:lnTo>
                <a:lnTo>
                  <a:pt x="413336" y="137903"/>
                </a:lnTo>
                <a:lnTo>
                  <a:pt x="415024" y="138696"/>
                </a:lnTo>
                <a:lnTo>
                  <a:pt x="415834" y="139303"/>
                </a:lnTo>
                <a:lnTo>
                  <a:pt x="416745" y="139911"/>
                </a:lnTo>
                <a:lnTo>
                  <a:pt x="417606" y="140569"/>
                </a:lnTo>
                <a:lnTo>
                  <a:pt x="418568" y="141396"/>
                </a:lnTo>
                <a:lnTo>
                  <a:pt x="419479" y="142206"/>
                </a:lnTo>
                <a:lnTo>
                  <a:pt x="420390" y="143167"/>
                </a:lnTo>
                <a:lnTo>
                  <a:pt x="421403" y="144264"/>
                </a:lnTo>
                <a:lnTo>
                  <a:pt x="422314" y="145395"/>
                </a:lnTo>
                <a:lnTo>
                  <a:pt x="423225" y="146610"/>
                </a:lnTo>
                <a:lnTo>
                  <a:pt x="424086" y="147977"/>
                </a:lnTo>
                <a:lnTo>
                  <a:pt x="424946" y="149378"/>
                </a:lnTo>
                <a:lnTo>
                  <a:pt x="425756" y="151065"/>
                </a:lnTo>
                <a:lnTo>
                  <a:pt x="426617" y="152753"/>
                </a:lnTo>
                <a:lnTo>
                  <a:pt x="427376" y="154626"/>
                </a:lnTo>
                <a:lnTo>
                  <a:pt x="428085" y="156549"/>
                </a:lnTo>
                <a:lnTo>
                  <a:pt x="428794" y="158574"/>
                </a:lnTo>
                <a:lnTo>
                  <a:pt x="429300" y="160768"/>
                </a:lnTo>
                <a:lnTo>
                  <a:pt x="429857" y="163131"/>
                </a:lnTo>
                <a:lnTo>
                  <a:pt x="430262" y="165611"/>
                </a:lnTo>
                <a:lnTo>
                  <a:pt x="430718" y="168193"/>
                </a:lnTo>
                <a:lnTo>
                  <a:pt x="431173" y="172243"/>
                </a:lnTo>
                <a:lnTo>
                  <a:pt x="431477" y="176344"/>
                </a:lnTo>
                <a:lnTo>
                  <a:pt x="431730" y="180495"/>
                </a:lnTo>
                <a:lnTo>
                  <a:pt x="431831" y="184798"/>
                </a:lnTo>
                <a:lnTo>
                  <a:pt x="431933" y="189101"/>
                </a:lnTo>
                <a:lnTo>
                  <a:pt x="431933" y="193404"/>
                </a:lnTo>
                <a:lnTo>
                  <a:pt x="431831" y="197657"/>
                </a:lnTo>
                <a:lnTo>
                  <a:pt x="431730" y="201808"/>
                </a:lnTo>
                <a:lnTo>
                  <a:pt x="431477" y="209858"/>
                </a:lnTo>
                <a:lnTo>
                  <a:pt x="431072" y="217249"/>
                </a:lnTo>
                <a:lnTo>
                  <a:pt x="430819" y="223628"/>
                </a:lnTo>
                <a:lnTo>
                  <a:pt x="430819" y="226412"/>
                </a:lnTo>
                <a:lnTo>
                  <a:pt x="430819" y="228842"/>
                </a:lnTo>
                <a:lnTo>
                  <a:pt x="376313" y="228842"/>
                </a:lnTo>
                <a:lnTo>
                  <a:pt x="320878" y="189658"/>
                </a:lnTo>
                <a:lnTo>
                  <a:pt x="321081" y="188139"/>
                </a:lnTo>
                <a:lnTo>
                  <a:pt x="321941" y="184241"/>
                </a:lnTo>
                <a:lnTo>
                  <a:pt x="323207" y="178470"/>
                </a:lnTo>
                <a:lnTo>
                  <a:pt x="323916" y="175230"/>
                </a:lnTo>
                <a:lnTo>
                  <a:pt x="324878" y="171686"/>
                </a:lnTo>
                <a:lnTo>
                  <a:pt x="325789" y="167940"/>
                </a:lnTo>
                <a:lnTo>
                  <a:pt x="326852" y="164295"/>
                </a:lnTo>
                <a:lnTo>
                  <a:pt x="328016" y="160599"/>
                </a:lnTo>
                <a:lnTo>
                  <a:pt x="329282" y="157056"/>
                </a:lnTo>
                <a:lnTo>
                  <a:pt x="330497" y="153765"/>
                </a:lnTo>
                <a:lnTo>
                  <a:pt x="331206" y="152078"/>
                </a:lnTo>
                <a:lnTo>
                  <a:pt x="331864" y="150609"/>
                </a:lnTo>
                <a:lnTo>
                  <a:pt x="332573" y="149259"/>
                </a:lnTo>
                <a:lnTo>
                  <a:pt x="333231" y="147943"/>
                </a:lnTo>
                <a:lnTo>
                  <a:pt x="333939" y="146779"/>
                </a:lnTo>
                <a:lnTo>
                  <a:pt x="334749" y="145699"/>
                </a:lnTo>
                <a:lnTo>
                  <a:pt x="335458" y="144804"/>
                </a:lnTo>
                <a:lnTo>
                  <a:pt x="336369" y="143792"/>
                </a:lnTo>
                <a:lnTo>
                  <a:pt x="337179" y="142931"/>
                </a:lnTo>
                <a:lnTo>
                  <a:pt x="338091" y="142071"/>
                </a:lnTo>
                <a:lnTo>
                  <a:pt x="339002" y="141261"/>
                </a:lnTo>
                <a:lnTo>
                  <a:pt x="340014" y="140451"/>
                </a:lnTo>
                <a:lnTo>
                  <a:pt x="341027" y="139691"/>
                </a:lnTo>
                <a:lnTo>
                  <a:pt x="342141" y="139033"/>
                </a:lnTo>
                <a:lnTo>
                  <a:pt x="343204" y="138324"/>
                </a:lnTo>
                <a:lnTo>
                  <a:pt x="344216" y="137717"/>
                </a:lnTo>
                <a:lnTo>
                  <a:pt x="345330" y="137160"/>
                </a:lnTo>
                <a:lnTo>
                  <a:pt x="346494" y="136654"/>
                </a:lnTo>
                <a:lnTo>
                  <a:pt x="347608" y="136299"/>
                </a:lnTo>
                <a:lnTo>
                  <a:pt x="348722" y="135793"/>
                </a:lnTo>
                <a:lnTo>
                  <a:pt x="349886" y="135489"/>
                </a:lnTo>
                <a:lnTo>
                  <a:pt x="350949" y="135186"/>
                </a:lnTo>
                <a:lnTo>
                  <a:pt x="352114" y="135034"/>
                </a:lnTo>
                <a:lnTo>
                  <a:pt x="353177" y="134882"/>
                </a:lnTo>
                <a:close/>
                <a:moveTo>
                  <a:pt x="185625" y="102414"/>
                </a:moveTo>
                <a:lnTo>
                  <a:pt x="187701" y="106920"/>
                </a:lnTo>
                <a:lnTo>
                  <a:pt x="190333" y="112084"/>
                </a:lnTo>
                <a:lnTo>
                  <a:pt x="193168" y="117754"/>
                </a:lnTo>
                <a:lnTo>
                  <a:pt x="196307" y="123677"/>
                </a:lnTo>
                <a:lnTo>
                  <a:pt x="199395" y="129499"/>
                </a:lnTo>
                <a:lnTo>
                  <a:pt x="201083" y="132233"/>
                </a:lnTo>
                <a:lnTo>
                  <a:pt x="202601" y="134916"/>
                </a:lnTo>
                <a:lnTo>
                  <a:pt x="204120" y="137244"/>
                </a:lnTo>
                <a:lnTo>
                  <a:pt x="205538" y="139472"/>
                </a:lnTo>
                <a:lnTo>
                  <a:pt x="206955" y="141429"/>
                </a:lnTo>
                <a:lnTo>
                  <a:pt x="208170" y="143117"/>
                </a:lnTo>
                <a:lnTo>
                  <a:pt x="208170" y="135472"/>
                </a:lnTo>
                <a:lnTo>
                  <a:pt x="208271" y="134561"/>
                </a:lnTo>
                <a:lnTo>
                  <a:pt x="208271" y="133701"/>
                </a:lnTo>
                <a:lnTo>
                  <a:pt x="208524" y="132739"/>
                </a:lnTo>
                <a:lnTo>
                  <a:pt x="208727" y="131777"/>
                </a:lnTo>
                <a:lnTo>
                  <a:pt x="209284" y="129904"/>
                </a:lnTo>
                <a:lnTo>
                  <a:pt x="209942" y="128031"/>
                </a:lnTo>
                <a:lnTo>
                  <a:pt x="210651" y="126343"/>
                </a:lnTo>
                <a:lnTo>
                  <a:pt x="211208" y="124656"/>
                </a:lnTo>
                <a:lnTo>
                  <a:pt x="211663" y="123137"/>
                </a:lnTo>
                <a:lnTo>
                  <a:pt x="211764" y="122479"/>
                </a:lnTo>
                <a:lnTo>
                  <a:pt x="211764" y="121871"/>
                </a:lnTo>
                <a:lnTo>
                  <a:pt x="211764" y="121314"/>
                </a:lnTo>
                <a:lnTo>
                  <a:pt x="211663" y="120808"/>
                </a:lnTo>
                <a:lnTo>
                  <a:pt x="211461" y="120302"/>
                </a:lnTo>
                <a:lnTo>
                  <a:pt x="211208" y="119846"/>
                </a:lnTo>
                <a:lnTo>
                  <a:pt x="210600" y="118986"/>
                </a:lnTo>
                <a:lnTo>
                  <a:pt x="209841" y="118226"/>
                </a:lnTo>
                <a:lnTo>
                  <a:pt x="209183" y="117366"/>
                </a:lnTo>
                <a:lnTo>
                  <a:pt x="208828" y="116961"/>
                </a:lnTo>
                <a:lnTo>
                  <a:pt x="208524" y="116454"/>
                </a:lnTo>
                <a:lnTo>
                  <a:pt x="208221" y="115948"/>
                </a:lnTo>
                <a:lnTo>
                  <a:pt x="208018" y="115341"/>
                </a:lnTo>
                <a:lnTo>
                  <a:pt x="207917" y="114683"/>
                </a:lnTo>
                <a:lnTo>
                  <a:pt x="207917" y="113265"/>
                </a:lnTo>
                <a:lnTo>
                  <a:pt x="207917" y="112708"/>
                </a:lnTo>
                <a:lnTo>
                  <a:pt x="208069" y="112151"/>
                </a:lnTo>
                <a:lnTo>
                  <a:pt x="208221" y="111797"/>
                </a:lnTo>
                <a:lnTo>
                  <a:pt x="208524" y="111341"/>
                </a:lnTo>
                <a:lnTo>
                  <a:pt x="208879" y="110987"/>
                </a:lnTo>
                <a:lnTo>
                  <a:pt x="209233" y="110784"/>
                </a:lnTo>
                <a:lnTo>
                  <a:pt x="209689" y="110531"/>
                </a:lnTo>
                <a:lnTo>
                  <a:pt x="210246" y="110329"/>
                </a:lnTo>
                <a:lnTo>
                  <a:pt x="210853" y="110329"/>
                </a:lnTo>
                <a:lnTo>
                  <a:pt x="212423" y="110228"/>
                </a:lnTo>
                <a:lnTo>
                  <a:pt x="214110" y="110076"/>
                </a:lnTo>
                <a:lnTo>
                  <a:pt x="221349" y="110076"/>
                </a:lnTo>
                <a:lnTo>
                  <a:pt x="223223" y="110228"/>
                </a:lnTo>
                <a:lnTo>
                  <a:pt x="224640" y="110329"/>
                </a:lnTo>
                <a:lnTo>
                  <a:pt x="225298" y="110329"/>
                </a:lnTo>
                <a:lnTo>
                  <a:pt x="225855" y="110531"/>
                </a:lnTo>
                <a:lnTo>
                  <a:pt x="226260" y="110784"/>
                </a:lnTo>
                <a:lnTo>
                  <a:pt x="226665" y="110987"/>
                </a:lnTo>
                <a:lnTo>
                  <a:pt x="227070" y="111341"/>
                </a:lnTo>
                <a:lnTo>
                  <a:pt x="227272" y="111797"/>
                </a:lnTo>
                <a:lnTo>
                  <a:pt x="227526" y="112151"/>
                </a:lnTo>
                <a:lnTo>
                  <a:pt x="227526" y="112708"/>
                </a:lnTo>
                <a:lnTo>
                  <a:pt x="227678" y="113265"/>
                </a:lnTo>
                <a:lnTo>
                  <a:pt x="227678" y="114024"/>
                </a:lnTo>
                <a:lnTo>
                  <a:pt x="227678" y="114683"/>
                </a:lnTo>
                <a:lnTo>
                  <a:pt x="227526" y="115341"/>
                </a:lnTo>
                <a:lnTo>
                  <a:pt x="227323" y="115948"/>
                </a:lnTo>
                <a:lnTo>
                  <a:pt x="227121" y="116454"/>
                </a:lnTo>
                <a:lnTo>
                  <a:pt x="226766" y="116961"/>
                </a:lnTo>
                <a:lnTo>
                  <a:pt x="226463" y="117366"/>
                </a:lnTo>
                <a:lnTo>
                  <a:pt x="225754" y="118226"/>
                </a:lnTo>
                <a:lnTo>
                  <a:pt x="224994" y="118986"/>
                </a:lnTo>
                <a:lnTo>
                  <a:pt x="224438" y="119846"/>
                </a:lnTo>
                <a:lnTo>
                  <a:pt x="224184" y="120302"/>
                </a:lnTo>
                <a:lnTo>
                  <a:pt x="223931" y="120808"/>
                </a:lnTo>
                <a:lnTo>
                  <a:pt x="223931" y="121314"/>
                </a:lnTo>
                <a:lnTo>
                  <a:pt x="223931" y="121871"/>
                </a:lnTo>
                <a:lnTo>
                  <a:pt x="223931" y="122479"/>
                </a:lnTo>
                <a:lnTo>
                  <a:pt x="223931" y="123137"/>
                </a:lnTo>
                <a:lnTo>
                  <a:pt x="224286" y="124656"/>
                </a:lnTo>
                <a:lnTo>
                  <a:pt x="224944" y="126343"/>
                </a:lnTo>
                <a:lnTo>
                  <a:pt x="225602" y="128031"/>
                </a:lnTo>
                <a:lnTo>
                  <a:pt x="226209" y="129904"/>
                </a:lnTo>
                <a:lnTo>
                  <a:pt x="226868" y="131777"/>
                </a:lnTo>
                <a:lnTo>
                  <a:pt x="227121" y="132739"/>
                </a:lnTo>
                <a:lnTo>
                  <a:pt x="227222" y="133701"/>
                </a:lnTo>
                <a:lnTo>
                  <a:pt x="227424" y="134561"/>
                </a:lnTo>
                <a:lnTo>
                  <a:pt x="227424" y="143117"/>
                </a:lnTo>
                <a:lnTo>
                  <a:pt x="228690" y="141429"/>
                </a:lnTo>
                <a:lnTo>
                  <a:pt x="230006" y="139506"/>
                </a:lnTo>
                <a:lnTo>
                  <a:pt x="231373" y="137346"/>
                </a:lnTo>
                <a:lnTo>
                  <a:pt x="232892" y="134966"/>
                </a:lnTo>
                <a:lnTo>
                  <a:pt x="234411" y="132435"/>
                </a:lnTo>
                <a:lnTo>
                  <a:pt x="235929" y="129752"/>
                </a:lnTo>
                <a:lnTo>
                  <a:pt x="239018" y="124082"/>
                </a:lnTo>
                <a:lnTo>
                  <a:pt x="242106" y="118311"/>
                </a:lnTo>
                <a:lnTo>
                  <a:pt x="244974" y="112641"/>
                </a:lnTo>
                <a:lnTo>
                  <a:pt x="247455" y="107426"/>
                </a:lnTo>
                <a:lnTo>
                  <a:pt x="249699" y="103022"/>
                </a:lnTo>
                <a:lnTo>
                  <a:pt x="252568" y="103731"/>
                </a:lnTo>
                <a:lnTo>
                  <a:pt x="255302" y="104642"/>
                </a:lnTo>
                <a:lnTo>
                  <a:pt x="257884" y="105503"/>
                </a:lnTo>
                <a:lnTo>
                  <a:pt x="260314" y="106414"/>
                </a:lnTo>
                <a:lnTo>
                  <a:pt x="262744" y="107376"/>
                </a:lnTo>
                <a:lnTo>
                  <a:pt x="264971" y="108338"/>
                </a:lnTo>
                <a:lnTo>
                  <a:pt x="266996" y="109350"/>
                </a:lnTo>
                <a:lnTo>
                  <a:pt x="269072" y="110413"/>
                </a:lnTo>
                <a:lnTo>
                  <a:pt x="270894" y="111426"/>
                </a:lnTo>
                <a:lnTo>
                  <a:pt x="272666" y="112388"/>
                </a:lnTo>
                <a:lnTo>
                  <a:pt x="274354" y="113451"/>
                </a:lnTo>
                <a:lnTo>
                  <a:pt x="275923" y="114463"/>
                </a:lnTo>
                <a:lnTo>
                  <a:pt x="277341" y="115577"/>
                </a:lnTo>
                <a:lnTo>
                  <a:pt x="278657" y="116539"/>
                </a:lnTo>
                <a:lnTo>
                  <a:pt x="279872" y="117551"/>
                </a:lnTo>
                <a:lnTo>
                  <a:pt x="281036" y="118564"/>
                </a:lnTo>
                <a:lnTo>
                  <a:pt x="283061" y="120437"/>
                </a:lnTo>
                <a:lnTo>
                  <a:pt x="284749" y="122124"/>
                </a:lnTo>
                <a:lnTo>
                  <a:pt x="286166" y="123694"/>
                </a:lnTo>
                <a:lnTo>
                  <a:pt x="287179" y="125061"/>
                </a:lnTo>
                <a:lnTo>
                  <a:pt x="287888" y="126225"/>
                </a:lnTo>
                <a:lnTo>
                  <a:pt x="288444" y="127086"/>
                </a:lnTo>
                <a:lnTo>
                  <a:pt x="288849" y="127845"/>
                </a:lnTo>
                <a:lnTo>
                  <a:pt x="288849" y="176529"/>
                </a:lnTo>
                <a:lnTo>
                  <a:pt x="143961" y="176529"/>
                </a:lnTo>
                <a:lnTo>
                  <a:pt x="143961" y="127929"/>
                </a:lnTo>
                <a:lnTo>
                  <a:pt x="144416" y="127170"/>
                </a:lnTo>
                <a:lnTo>
                  <a:pt x="144973" y="126259"/>
                </a:lnTo>
                <a:lnTo>
                  <a:pt x="145935" y="125094"/>
                </a:lnTo>
                <a:lnTo>
                  <a:pt x="147049" y="123626"/>
                </a:lnTo>
                <a:lnTo>
                  <a:pt x="148517" y="121939"/>
                </a:lnTo>
                <a:lnTo>
                  <a:pt x="150390" y="120066"/>
                </a:lnTo>
                <a:lnTo>
                  <a:pt x="152516" y="118091"/>
                </a:lnTo>
                <a:lnTo>
                  <a:pt x="153731" y="117028"/>
                </a:lnTo>
                <a:lnTo>
                  <a:pt x="155149" y="116066"/>
                </a:lnTo>
                <a:lnTo>
                  <a:pt x="156516" y="115003"/>
                </a:lnTo>
                <a:lnTo>
                  <a:pt x="158085" y="113940"/>
                </a:lnTo>
                <a:lnTo>
                  <a:pt x="159773" y="112877"/>
                </a:lnTo>
                <a:lnTo>
                  <a:pt x="161460" y="111814"/>
                </a:lnTo>
                <a:lnTo>
                  <a:pt x="163384" y="110751"/>
                </a:lnTo>
                <a:lnTo>
                  <a:pt x="165308" y="109789"/>
                </a:lnTo>
                <a:lnTo>
                  <a:pt x="167400" y="108692"/>
                </a:lnTo>
                <a:lnTo>
                  <a:pt x="169628" y="107679"/>
                </a:lnTo>
                <a:lnTo>
                  <a:pt x="172007" y="106718"/>
                </a:lnTo>
                <a:lnTo>
                  <a:pt x="174488" y="105756"/>
                </a:lnTo>
                <a:lnTo>
                  <a:pt x="177019" y="104794"/>
                </a:lnTo>
                <a:lnTo>
                  <a:pt x="179753" y="103984"/>
                </a:lnTo>
                <a:lnTo>
                  <a:pt x="182638" y="103123"/>
                </a:lnTo>
                <a:close/>
                <a:moveTo>
                  <a:pt x="49106" y="59282"/>
                </a:moveTo>
                <a:lnTo>
                  <a:pt x="51840" y="59282"/>
                </a:lnTo>
                <a:lnTo>
                  <a:pt x="53156" y="59434"/>
                </a:lnTo>
                <a:lnTo>
                  <a:pt x="54472" y="59687"/>
                </a:lnTo>
                <a:lnTo>
                  <a:pt x="55688" y="59940"/>
                </a:lnTo>
                <a:lnTo>
                  <a:pt x="57004" y="60294"/>
                </a:lnTo>
                <a:lnTo>
                  <a:pt x="58168" y="60649"/>
                </a:lnTo>
                <a:lnTo>
                  <a:pt x="59333" y="61206"/>
                </a:lnTo>
                <a:lnTo>
                  <a:pt x="60598" y="61712"/>
                </a:lnTo>
                <a:lnTo>
                  <a:pt x="61762" y="62421"/>
                </a:lnTo>
                <a:lnTo>
                  <a:pt x="62826" y="63231"/>
                </a:lnTo>
                <a:lnTo>
                  <a:pt x="63889" y="63990"/>
                </a:lnTo>
                <a:lnTo>
                  <a:pt x="65003" y="64901"/>
                </a:lnTo>
                <a:lnTo>
                  <a:pt x="66015" y="65914"/>
                </a:lnTo>
                <a:lnTo>
                  <a:pt x="66977" y="66876"/>
                </a:lnTo>
                <a:lnTo>
                  <a:pt x="67939" y="68091"/>
                </a:lnTo>
                <a:lnTo>
                  <a:pt x="68850" y="69306"/>
                </a:lnTo>
                <a:lnTo>
                  <a:pt x="69660" y="70571"/>
                </a:lnTo>
                <a:lnTo>
                  <a:pt x="70470" y="71938"/>
                </a:lnTo>
                <a:lnTo>
                  <a:pt x="71229" y="73356"/>
                </a:lnTo>
                <a:lnTo>
                  <a:pt x="71938" y="74874"/>
                </a:lnTo>
                <a:lnTo>
                  <a:pt x="72596" y="76562"/>
                </a:lnTo>
                <a:lnTo>
                  <a:pt x="73254" y="78249"/>
                </a:lnTo>
                <a:lnTo>
                  <a:pt x="73811" y="80072"/>
                </a:lnTo>
                <a:lnTo>
                  <a:pt x="74368" y="81759"/>
                </a:lnTo>
                <a:lnTo>
                  <a:pt x="74824" y="83683"/>
                </a:lnTo>
                <a:lnTo>
                  <a:pt x="75178" y="85759"/>
                </a:lnTo>
                <a:lnTo>
                  <a:pt x="75482" y="87834"/>
                </a:lnTo>
                <a:lnTo>
                  <a:pt x="75786" y="90011"/>
                </a:lnTo>
                <a:lnTo>
                  <a:pt x="76039" y="92188"/>
                </a:lnTo>
                <a:lnTo>
                  <a:pt x="76241" y="94466"/>
                </a:lnTo>
                <a:lnTo>
                  <a:pt x="76343" y="96846"/>
                </a:lnTo>
                <a:lnTo>
                  <a:pt x="76343" y="99326"/>
                </a:lnTo>
                <a:lnTo>
                  <a:pt x="76343" y="101706"/>
                </a:lnTo>
                <a:lnTo>
                  <a:pt x="76343" y="104136"/>
                </a:lnTo>
                <a:lnTo>
                  <a:pt x="75938" y="106312"/>
                </a:lnTo>
                <a:lnTo>
                  <a:pt x="75634" y="108439"/>
                </a:lnTo>
                <a:lnTo>
                  <a:pt x="75229" y="110464"/>
                </a:lnTo>
                <a:lnTo>
                  <a:pt x="74773" y="112489"/>
                </a:lnTo>
                <a:lnTo>
                  <a:pt x="74318" y="114362"/>
                </a:lnTo>
                <a:lnTo>
                  <a:pt x="73710" y="116049"/>
                </a:lnTo>
                <a:lnTo>
                  <a:pt x="73103" y="117737"/>
                </a:lnTo>
                <a:lnTo>
                  <a:pt x="72394" y="119424"/>
                </a:lnTo>
                <a:lnTo>
                  <a:pt x="71584" y="120943"/>
                </a:lnTo>
                <a:lnTo>
                  <a:pt x="70824" y="122361"/>
                </a:lnTo>
                <a:lnTo>
                  <a:pt x="69964" y="123728"/>
                </a:lnTo>
                <a:lnTo>
                  <a:pt x="69103" y="125044"/>
                </a:lnTo>
                <a:lnTo>
                  <a:pt x="68192" y="126158"/>
                </a:lnTo>
                <a:lnTo>
                  <a:pt x="67230" y="127373"/>
                </a:lnTo>
                <a:lnTo>
                  <a:pt x="66268" y="128334"/>
                </a:lnTo>
                <a:lnTo>
                  <a:pt x="65256" y="129296"/>
                </a:lnTo>
                <a:lnTo>
                  <a:pt x="64142" y="130208"/>
                </a:lnTo>
                <a:lnTo>
                  <a:pt x="63079" y="130967"/>
                </a:lnTo>
                <a:lnTo>
                  <a:pt x="61965" y="131726"/>
                </a:lnTo>
                <a:lnTo>
                  <a:pt x="60902" y="132334"/>
                </a:lnTo>
                <a:lnTo>
                  <a:pt x="59839" y="132941"/>
                </a:lnTo>
                <a:lnTo>
                  <a:pt x="58725" y="133498"/>
                </a:lnTo>
                <a:lnTo>
                  <a:pt x="57713" y="133954"/>
                </a:lnTo>
                <a:lnTo>
                  <a:pt x="56649" y="134409"/>
                </a:lnTo>
                <a:lnTo>
                  <a:pt x="55536" y="134713"/>
                </a:lnTo>
                <a:lnTo>
                  <a:pt x="54472" y="134865"/>
                </a:lnTo>
                <a:lnTo>
                  <a:pt x="53409" y="135118"/>
                </a:lnTo>
                <a:lnTo>
                  <a:pt x="52397" y="135321"/>
                </a:lnTo>
                <a:lnTo>
                  <a:pt x="51334" y="135321"/>
                </a:lnTo>
                <a:lnTo>
                  <a:pt x="49461" y="135321"/>
                </a:lnTo>
                <a:lnTo>
                  <a:pt x="48499" y="135169"/>
                </a:lnTo>
                <a:lnTo>
                  <a:pt x="47537" y="135017"/>
                </a:lnTo>
                <a:lnTo>
                  <a:pt x="46575" y="134764"/>
                </a:lnTo>
                <a:lnTo>
                  <a:pt x="45613" y="134460"/>
                </a:lnTo>
                <a:lnTo>
                  <a:pt x="44651" y="134156"/>
                </a:lnTo>
                <a:lnTo>
                  <a:pt x="43689" y="133701"/>
                </a:lnTo>
                <a:lnTo>
                  <a:pt x="42829" y="133194"/>
                </a:lnTo>
                <a:lnTo>
                  <a:pt x="41918" y="132739"/>
                </a:lnTo>
                <a:lnTo>
                  <a:pt x="40905" y="132182"/>
                </a:lnTo>
                <a:lnTo>
                  <a:pt x="40044" y="131524"/>
                </a:lnTo>
                <a:lnTo>
                  <a:pt x="39133" y="130866"/>
                </a:lnTo>
                <a:lnTo>
                  <a:pt x="37260" y="129296"/>
                </a:lnTo>
                <a:lnTo>
                  <a:pt x="35573" y="127609"/>
                </a:lnTo>
                <a:lnTo>
                  <a:pt x="33885" y="125736"/>
                </a:lnTo>
                <a:lnTo>
                  <a:pt x="32198" y="123660"/>
                </a:lnTo>
                <a:lnTo>
                  <a:pt x="30628" y="121483"/>
                </a:lnTo>
                <a:lnTo>
                  <a:pt x="29160" y="119256"/>
                </a:lnTo>
                <a:lnTo>
                  <a:pt x="27844" y="116775"/>
                </a:lnTo>
                <a:lnTo>
                  <a:pt x="26528" y="114345"/>
                </a:lnTo>
                <a:lnTo>
                  <a:pt x="25414" y="111662"/>
                </a:lnTo>
                <a:lnTo>
                  <a:pt x="24452" y="109029"/>
                </a:lnTo>
                <a:lnTo>
                  <a:pt x="24148" y="108928"/>
                </a:lnTo>
                <a:lnTo>
                  <a:pt x="23794" y="108692"/>
                </a:lnTo>
                <a:lnTo>
                  <a:pt x="23490" y="108489"/>
                </a:lnTo>
                <a:lnTo>
                  <a:pt x="23186" y="108186"/>
                </a:lnTo>
                <a:lnTo>
                  <a:pt x="22629" y="107325"/>
                </a:lnTo>
                <a:lnTo>
                  <a:pt x="22073" y="106262"/>
                </a:lnTo>
                <a:lnTo>
                  <a:pt x="21516" y="105098"/>
                </a:lnTo>
                <a:lnTo>
                  <a:pt x="21060" y="103731"/>
                </a:lnTo>
                <a:lnTo>
                  <a:pt x="20706" y="102263"/>
                </a:lnTo>
                <a:lnTo>
                  <a:pt x="20402" y="100794"/>
                </a:lnTo>
                <a:lnTo>
                  <a:pt x="20149" y="99276"/>
                </a:lnTo>
                <a:lnTo>
                  <a:pt x="19946" y="97909"/>
                </a:lnTo>
                <a:lnTo>
                  <a:pt x="19946" y="96491"/>
                </a:lnTo>
                <a:lnTo>
                  <a:pt x="19946" y="95378"/>
                </a:lnTo>
                <a:lnTo>
                  <a:pt x="20149" y="94264"/>
                </a:lnTo>
                <a:lnTo>
                  <a:pt x="20149" y="93808"/>
                </a:lnTo>
                <a:lnTo>
                  <a:pt x="20351" y="93454"/>
                </a:lnTo>
                <a:lnTo>
                  <a:pt x="20453" y="93150"/>
                </a:lnTo>
                <a:lnTo>
                  <a:pt x="20706" y="92897"/>
                </a:lnTo>
                <a:lnTo>
                  <a:pt x="20908" y="92644"/>
                </a:lnTo>
                <a:lnTo>
                  <a:pt x="21212" y="92543"/>
                </a:lnTo>
                <a:lnTo>
                  <a:pt x="21111" y="91125"/>
                </a:lnTo>
                <a:lnTo>
                  <a:pt x="21212" y="89201"/>
                </a:lnTo>
                <a:lnTo>
                  <a:pt x="21313" y="87277"/>
                </a:lnTo>
                <a:lnTo>
                  <a:pt x="21516" y="85455"/>
                </a:lnTo>
                <a:lnTo>
                  <a:pt x="21819" y="83768"/>
                </a:lnTo>
                <a:lnTo>
                  <a:pt x="22275" y="82080"/>
                </a:lnTo>
                <a:lnTo>
                  <a:pt x="22629" y="80393"/>
                </a:lnTo>
                <a:lnTo>
                  <a:pt x="23136" y="78705"/>
                </a:lnTo>
                <a:lnTo>
                  <a:pt x="23693" y="77186"/>
                </a:lnTo>
                <a:lnTo>
                  <a:pt x="24351" y="75819"/>
                </a:lnTo>
                <a:lnTo>
                  <a:pt x="25059" y="74351"/>
                </a:lnTo>
                <a:lnTo>
                  <a:pt x="25869" y="73035"/>
                </a:lnTo>
                <a:lnTo>
                  <a:pt x="26578" y="71820"/>
                </a:lnTo>
                <a:lnTo>
                  <a:pt x="27540" y="70554"/>
                </a:lnTo>
                <a:lnTo>
                  <a:pt x="28401" y="69390"/>
                </a:lnTo>
                <a:lnTo>
                  <a:pt x="29413" y="68327"/>
                </a:lnTo>
                <a:lnTo>
                  <a:pt x="30375" y="67264"/>
                </a:lnTo>
                <a:lnTo>
                  <a:pt x="31438" y="66353"/>
                </a:lnTo>
                <a:lnTo>
                  <a:pt x="32552" y="65391"/>
                </a:lnTo>
                <a:lnTo>
                  <a:pt x="33666" y="64530"/>
                </a:lnTo>
                <a:lnTo>
                  <a:pt x="34830" y="63771"/>
                </a:lnTo>
                <a:lnTo>
                  <a:pt x="36096" y="62961"/>
                </a:lnTo>
                <a:lnTo>
                  <a:pt x="37209" y="62353"/>
                </a:lnTo>
                <a:lnTo>
                  <a:pt x="38526" y="61796"/>
                </a:lnTo>
                <a:lnTo>
                  <a:pt x="39741" y="61239"/>
                </a:lnTo>
                <a:lnTo>
                  <a:pt x="41057" y="60733"/>
                </a:lnTo>
                <a:lnTo>
                  <a:pt x="42373" y="60379"/>
                </a:lnTo>
                <a:lnTo>
                  <a:pt x="43639" y="59974"/>
                </a:lnTo>
                <a:lnTo>
                  <a:pt x="45056" y="59754"/>
                </a:lnTo>
                <a:lnTo>
                  <a:pt x="46423" y="59603"/>
                </a:lnTo>
                <a:lnTo>
                  <a:pt x="47739" y="59400"/>
                </a:lnTo>
                <a:close/>
                <a:moveTo>
                  <a:pt x="380109" y="57105"/>
                </a:moveTo>
                <a:lnTo>
                  <a:pt x="382843" y="57105"/>
                </a:lnTo>
                <a:lnTo>
                  <a:pt x="384210" y="57257"/>
                </a:lnTo>
                <a:lnTo>
                  <a:pt x="385526" y="57459"/>
                </a:lnTo>
                <a:lnTo>
                  <a:pt x="386792" y="57561"/>
                </a:lnTo>
                <a:lnTo>
                  <a:pt x="388159" y="57864"/>
                </a:lnTo>
                <a:lnTo>
                  <a:pt x="389475" y="58219"/>
                </a:lnTo>
                <a:lnTo>
                  <a:pt x="390842" y="58624"/>
                </a:lnTo>
                <a:lnTo>
                  <a:pt x="392141" y="59130"/>
                </a:lnTo>
                <a:lnTo>
                  <a:pt x="393323" y="59687"/>
                </a:lnTo>
                <a:lnTo>
                  <a:pt x="394521" y="60244"/>
                </a:lnTo>
                <a:lnTo>
                  <a:pt x="395786" y="60851"/>
                </a:lnTo>
                <a:lnTo>
                  <a:pt x="397052" y="61661"/>
                </a:lnTo>
                <a:lnTo>
                  <a:pt x="398233" y="62421"/>
                </a:lnTo>
                <a:lnTo>
                  <a:pt x="399347" y="63281"/>
                </a:lnTo>
                <a:lnTo>
                  <a:pt x="400393" y="64091"/>
                </a:lnTo>
                <a:lnTo>
                  <a:pt x="401507" y="65104"/>
                </a:lnTo>
                <a:lnTo>
                  <a:pt x="402486" y="66116"/>
                </a:lnTo>
                <a:lnTo>
                  <a:pt x="403431" y="67230"/>
                </a:lnTo>
                <a:lnTo>
                  <a:pt x="404359" y="68344"/>
                </a:lnTo>
                <a:lnTo>
                  <a:pt x="405304" y="69508"/>
                </a:lnTo>
                <a:lnTo>
                  <a:pt x="406013" y="70875"/>
                </a:lnTo>
                <a:lnTo>
                  <a:pt x="406772" y="72191"/>
                </a:lnTo>
                <a:lnTo>
                  <a:pt x="407548" y="73558"/>
                </a:lnTo>
                <a:lnTo>
                  <a:pt x="408206" y="75026"/>
                </a:lnTo>
                <a:lnTo>
                  <a:pt x="408713" y="76545"/>
                </a:lnTo>
                <a:lnTo>
                  <a:pt x="409253" y="78114"/>
                </a:lnTo>
                <a:lnTo>
                  <a:pt x="409607" y="79684"/>
                </a:lnTo>
                <a:lnTo>
                  <a:pt x="410029" y="81371"/>
                </a:lnTo>
                <a:lnTo>
                  <a:pt x="410316" y="83194"/>
                </a:lnTo>
                <a:lnTo>
                  <a:pt x="410569" y="85067"/>
                </a:lnTo>
                <a:lnTo>
                  <a:pt x="410569" y="86839"/>
                </a:lnTo>
                <a:lnTo>
                  <a:pt x="410670" y="88763"/>
                </a:lnTo>
                <a:lnTo>
                  <a:pt x="410569" y="90332"/>
                </a:lnTo>
                <a:lnTo>
                  <a:pt x="410805" y="90332"/>
                </a:lnTo>
                <a:lnTo>
                  <a:pt x="411109" y="90534"/>
                </a:lnTo>
                <a:lnTo>
                  <a:pt x="411311" y="90838"/>
                </a:lnTo>
                <a:lnTo>
                  <a:pt x="411463" y="91142"/>
                </a:lnTo>
                <a:lnTo>
                  <a:pt x="411666" y="91496"/>
                </a:lnTo>
                <a:lnTo>
                  <a:pt x="411666" y="91901"/>
                </a:lnTo>
                <a:lnTo>
                  <a:pt x="411834" y="93015"/>
                </a:lnTo>
                <a:lnTo>
                  <a:pt x="411834" y="94179"/>
                </a:lnTo>
                <a:lnTo>
                  <a:pt x="411834" y="95546"/>
                </a:lnTo>
                <a:lnTo>
                  <a:pt x="411666" y="96964"/>
                </a:lnTo>
                <a:lnTo>
                  <a:pt x="411413" y="98482"/>
                </a:lnTo>
                <a:lnTo>
                  <a:pt x="411126" y="99900"/>
                </a:lnTo>
                <a:lnTo>
                  <a:pt x="410754" y="101368"/>
                </a:lnTo>
                <a:lnTo>
                  <a:pt x="410299" y="102684"/>
                </a:lnTo>
                <a:lnTo>
                  <a:pt x="409742" y="103899"/>
                </a:lnTo>
                <a:lnTo>
                  <a:pt x="409185" y="104912"/>
                </a:lnTo>
                <a:lnTo>
                  <a:pt x="408594" y="105722"/>
                </a:lnTo>
                <a:lnTo>
                  <a:pt x="408274" y="106026"/>
                </a:lnTo>
                <a:lnTo>
                  <a:pt x="407987" y="106329"/>
                </a:lnTo>
                <a:lnTo>
                  <a:pt x="407582" y="106532"/>
                </a:lnTo>
                <a:lnTo>
                  <a:pt x="407261" y="106532"/>
                </a:lnTo>
                <a:lnTo>
                  <a:pt x="406215" y="109215"/>
                </a:lnTo>
                <a:lnTo>
                  <a:pt x="405186" y="111746"/>
                </a:lnTo>
                <a:lnTo>
                  <a:pt x="403836" y="114277"/>
                </a:lnTo>
                <a:lnTo>
                  <a:pt x="402519" y="116708"/>
                </a:lnTo>
                <a:lnTo>
                  <a:pt x="401102" y="118986"/>
                </a:lnTo>
                <a:lnTo>
                  <a:pt x="399516" y="121163"/>
                </a:lnTo>
                <a:lnTo>
                  <a:pt x="397913" y="123137"/>
                </a:lnTo>
                <a:lnTo>
                  <a:pt x="396225" y="125061"/>
                </a:lnTo>
                <a:lnTo>
                  <a:pt x="394538" y="126748"/>
                </a:lnTo>
                <a:lnTo>
                  <a:pt x="392715" y="128318"/>
                </a:lnTo>
                <a:lnTo>
                  <a:pt x="391821" y="128925"/>
                </a:lnTo>
                <a:lnTo>
                  <a:pt x="390859" y="129634"/>
                </a:lnTo>
                <a:lnTo>
                  <a:pt x="389948" y="130191"/>
                </a:lnTo>
                <a:lnTo>
                  <a:pt x="389036" y="130697"/>
                </a:lnTo>
                <a:lnTo>
                  <a:pt x="388074" y="131153"/>
                </a:lnTo>
                <a:lnTo>
                  <a:pt x="387113" y="131608"/>
                </a:lnTo>
                <a:lnTo>
                  <a:pt x="386151" y="131912"/>
                </a:lnTo>
                <a:lnTo>
                  <a:pt x="385239" y="132216"/>
                </a:lnTo>
                <a:lnTo>
                  <a:pt x="384227" y="132469"/>
                </a:lnTo>
                <a:lnTo>
                  <a:pt x="383316" y="132621"/>
                </a:lnTo>
                <a:lnTo>
                  <a:pt x="382303" y="132773"/>
                </a:lnTo>
                <a:lnTo>
                  <a:pt x="380379" y="132773"/>
                </a:lnTo>
                <a:lnTo>
                  <a:pt x="379418" y="132773"/>
                </a:lnTo>
                <a:lnTo>
                  <a:pt x="378354" y="132570"/>
                </a:lnTo>
                <a:lnTo>
                  <a:pt x="377342" y="132317"/>
                </a:lnTo>
                <a:lnTo>
                  <a:pt x="376228" y="132165"/>
                </a:lnTo>
                <a:lnTo>
                  <a:pt x="375165" y="131709"/>
                </a:lnTo>
                <a:lnTo>
                  <a:pt x="374102" y="131355"/>
                </a:lnTo>
                <a:lnTo>
                  <a:pt x="372988" y="130899"/>
                </a:lnTo>
                <a:lnTo>
                  <a:pt x="371874" y="130393"/>
                </a:lnTo>
                <a:lnTo>
                  <a:pt x="370761" y="129786"/>
                </a:lnTo>
                <a:lnTo>
                  <a:pt x="369698" y="129128"/>
                </a:lnTo>
                <a:lnTo>
                  <a:pt x="368685" y="128419"/>
                </a:lnTo>
                <a:lnTo>
                  <a:pt x="367673" y="127609"/>
                </a:lnTo>
                <a:lnTo>
                  <a:pt x="366559" y="126748"/>
                </a:lnTo>
                <a:lnTo>
                  <a:pt x="365546" y="125837"/>
                </a:lnTo>
                <a:lnTo>
                  <a:pt x="364584" y="124774"/>
                </a:lnTo>
                <a:lnTo>
                  <a:pt x="363623" y="123660"/>
                </a:lnTo>
                <a:lnTo>
                  <a:pt x="362711" y="122546"/>
                </a:lnTo>
                <a:lnTo>
                  <a:pt x="361749" y="121230"/>
                </a:lnTo>
                <a:lnTo>
                  <a:pt x="360990" y="119914"/>
                </a:lnTo>
                <a:lnTo>
                  <a:pt x="360180" y="118446"/>
                </a:lnTo>
                <a:lnTo>
                  <a:pt x="359421" y="116876"/>
                </a:lnTo>
                <a:lnTo>
                  <a:pt x="358712" y="115357"/>
                </a:lnTo>
                <a:lnTo>
                  <a:pt x="358054" y="113670"/>
                </a:lnTo>
                <a:lnTo>
                  <a:pt x="357497" y="111982"/>
                </a:lnTo>
                <a:lnTo>
                  <a:pt x="356940" y="110059"/>
                </a:lnTo>
                <a:lnTo>
                  <a:pt x="356484" y="108135"/>
                </a:lnTo>
                <a:lnTo>
                  <a:pt x="356181" y="106059"/>
                </a:lnTo>
                <a:lnTo>
                  <a:pt x="355877" y="103883"/>
                </a:lnTo>
                <a:lnTo>
                  <a:pt x="355624" y="101655"/>
                </a:lnTo>
                <a:lnTo>
                  <a:pt x="355523" y="99326"/>
                </a:lnTo>
                <a:lnTo>
                  <a:pt x="355523" y="94466"/>
                </a:lnTo>
                <a:lnTo>
                  <a:pt x="355523" y="92138"/>
                </a:lnTo>
                <a:lnTo>
                  <a:pt x="355624" y="89859"/>
                </a:lnTo>
                <a:lnTo>
                  <a:pt x="355877" y="87632"/>
                </a:lnTo>
                <a:lnTo>
                  <a:pt x="356181" y="85455"/>
                </a:lnTo>
                <a:lnTo>
                  <a:pt x="356586" y="83481"/>
                </a:lnTo>
                <a:lnTo>
                  <a:pt x="356991" y="81405"/>
                </a:lnTo>
                <a:lnTo>
                  <a:pt x="357446" y="79481"/>
                </a:lnTo>
                <a:lnTo>
                  <a:pt x="358003" y="77794"/>
                </a:lnTo>
                <a:lnTo>
                  <a:pt x="358509" y="76106"/>
                </a:lnTo>
                <a:lnTo>
                  <a:pt x="359117" y="74419"/>
                </a:lnTo>
                <a:lnTo>
                  <a:pt x="359775" y="72731"/>
                </a:lnTo>
                <a:lnTo>
                  <a:pt x="360534" y="71314"/>
                </a:lnTo>
                <a:lnTo>
                  <a:pt x="361294" y="69795"/>
                </a:lnTo>
                <a:lnTo>
                  <a:pt x="362154" y="68428"/>
                </a:lnTo>
                <a:lnTo>
                  <a:pt x="362964" y="67112"/>
                </a:lnTo>
                <a:lnTo>
                  <a:pt x="363876" y="65948"/>
                </a:lnTo>
                <a:lnTo>
                  <a:pt x="364838" y="64783"/>
                </a:lnTo>
                <a:lnTo>
                  <a:pt x="365799" y="63720"/>
                </a:lnTo>
                <a:lnTo>
                  <a:pt x="366812" y="62809"/>
                </a:lnTo>
                <a:lnTo>
                  <a:pt x="367824" y="61847"/>
                </a:lnTo>
                <a:lnTo>
                  <a:pt x="368989" y="61138"/>
                </a:lnTo>
                <a:lnTo>
                  <a:pt x="370052" y="60328"/>
                </a:lnTo>
                <a:lnTo>
                  <a:pt x="371216" y="59619"/>
                </a:lnTo>
                <a:lnTo>
                  <a:pt x="372330" y="59113"/>
                </a:lnTo>
                <a:lnTo>
                  <a:pt x="373596" y="58556"/>
                </a:lnTo>
                <a:lnTo>
                  <a:pt x="374811" y="58202"/>
                </a:lnTo>
                <a:lnTo>
                  <a:pt x="376076" y="57848"/>
                </a:lnTo>
                <a:lnTo>
                  <a:pt x="377342" y="57544"/>
                </a:lnTo>
                <a:lnTo>
                  <a:pt x="378658" y="57341"/>
                </a:lnTo>
                <a:close/>
                <a:moveTo>
                  <a:pt x="216557" y="0"/>
                </a:moveTo>
                <a:lnTo>
                  <a:pt x="218244" y="101"/>
                </a:lnTo>
                <a:lnTo>
                  <a:pt x="220016" y="101"/>
                </a:lnTo>
                <a:lnTo>
                  <a:pt x="221704" y="354"/>
                </a:lnTo>
                <a:lnTo>
                  <a:pt x="223391" y="658"/>
                </a:lnTo>
                <a:lnTo>
                  <a:pt x="225079" y="1012"/>
                </a:lnTo>
                <a:lnTo>
                  <a:pt x="226766" y="1519"/>
                </a:lnTo>
                <a:lnTo>
                  <a:pt x="228454" y="2076"/>
                </a:lnTo>
                <a:lnTo>
                  <a:pt x="230141" y="2683"/>
                </a:lnTo>
                <a:lnTo>
                  <a:pt x="231829" y="3443"/>
                </a:lnTo>
                <a:lnTo>
                  <a:pt x="233516" y="4253"/>
                </a:lnTo>
                <a:lnTo>
                  <a:pt x="235204" y="5164"/>
                </a:lnTo>
                <a:lnTo>
                  <a:pt x="236773" y="6126"/>
                </a:lnTo>
                <a:lnTo>
                  <a:pt x="238174" y="7189"/>
                </a:lnTo>
                <a:lnTo>
                  <a:pt x="239659" y="8353"/>
                </a:lnTo>
                <a:lnTo>
                  <a:pt x="241026" y="9619"/>
                </a:lnTo>
                <a:lnTo>
                  <a:pt x="242426" y="10884"/>
                </a:lnTo>
                <a:lnTo>
                  <a:pt x="243743" y="12302"/>
                </a:lnTo>
                <a:lnTo>
                  <a:pt x="245008" y="13821"/>
                </a:lnTo>
                <a:lnTo>
                  <a:pt x="246189" y="15390"/>
                </a:lnTo>
                <a:lnTo>
                  <a:pt x="247303" y="17077"/>
                </a:lnTo>
                <a:lnTo>
                  <a:pt x="248349" y="18765"/>
                </a:lnTo>
                <a:lnTo>
                  <a:pt x="249379" y="20638"/>
                </a:lnTo>
                <a:lnTo>
                  <a:pt x="250223" y="22562"/>
                </a:lnTo>
                <a:lnTo>
                  <a:pt x="251049" y="24486"/>
                </a:lnTo>
                <a:lnTo>
                  <a:pt x="251859" y="26511"/>
                </a:lnTo>
                <a:lnTo>
                  <a:pt x="252467" y="28687"/>
                </a:lnTo>
                <a:lnTo>
                  <a:pt x="252973" y="30915"/>
                </a:lnTo>
                <a:lnTo>
                  <a:pt x="253513" y="33193"/>
                </a:lnTo>
                <a:lnTo>
                  <a:pt x="253817" y="35623"/>
                </a:lnTo>
                <a:lnTo>
                  <a:pt x="254121" y="38053"/>
                </a:lnTo>
                <a:lnTo>
                  <a:pt x="254323" y="40584"/>
                </a:lnTo>
                <a:lnTo>
                  <a:pt x="254323" y="43268"/>
                </a:lnTo>
                <a:lnTo>
                  <a:pt x="254323" y="45191"/>
                </a:lnTo>
                <a:lnTo>
                  <a:pt x="254323" y="45191"/>
                </a:lnTo>
                <a:lnTo>
                  <a:pt x="254678" y="45191"/>
                </a:lnTo>
                <a:lnTo>
                  <a:pt x="255083" y="45343"/>
                </a:lnTo>
                <a:lnTo>
                  <a:pt x="255403" y="45647"/>
                </a:lnTo>
                <a:lnTo>
                  <a:pt x="255639" y="46001"/>
                </a:lnTo>
                <a:lnTo>
                  <a:pt x="255893" y="46558"/>
                </a:lnTo>
                <a:lnTo>
                  <a:pt x="256044" y="47216"/>
                </a:lnTo>
                <a:lnTo>
                  <a:pt x="256196" y="47874"/>
                </a:lnTo>
                <a:lnTo>
                  <a:pt x="256298" y="48684"/>
                </a:lnTo>
                <a:lnTo>
                  <a:pt x="256298" y="50372"/>
                </a:lnTo>
                <a:lnTo>
                  <a:pt x="256298" y="52296"/>
                </a:lnTo>
                <a:lnTo>
                  <a:pt x="256095" y="54270"/>
                </a:lnTo>
                <a:lnTo>
                  <a:pt x="255741" y="56447"/>
                </a:lnTo>
                <a:lnTo>
                  <a:pt x="255285" y="58522"/>
                </a:lnTo>
                <a:lnTo>
                  <a:pt x="254728" y="60497"/>
                </a:lnTo>
                <a:lnTo>
                  <a:pt x="254121" y="62421"/>
                </a:lnTo>
                <a:lnTo>
                  <a:pt x="253463" y="64108"/>
                </a:lnTo>
                <a:lnTo>
                  <a:pt x="253074" y="64867"/>
                </a:lnTo>
                <a:lnTo>
                  <a:pt x="252703" y="65526"/>
                </a:lnTo>
                <a:lnTo>
                  <a:pt x="252248" y="66184"/>
                </a:lnTo>
                <a:lnTo>
                  <a:pt x="251893" y="66741"/>
                </a:lnTo>
                <a:lnTo>
                  <a:pt x="251438" y="67095"/>
                </a:lnTo>
                <a:lnTo>
                  <a:pt x="251049" y="67399"/>
                </a:lnTo>
                <a:lnTo>
                  <a:pt x="250594" y="67601"/>
                </a:lnTo>
                <a:lnTo>
                  <a:pt x="250223" y="67601"/>
                </a:lnTo>
                <a:lnTo>
                  <a:pt x="250020" y="67601"/>
                </a:lnTo>
                <a:lnTo>
                  <a:pt x="248721" y="71196"/>
                </a:lnTo>
                <a:lnTo>
                  <a:pt x="247185" y="74739"/>
                </a:lnTo>
                <a:lnTo>
                  <a:pt x="245582" y="78114"/>
                </a:lnTo>
                <a:lnTo>
                  <a:pt x="243894" y="81304"/>
                </a:lnTo>
                <a:lnTo>
                  <a:pt x="241971" y="84442"/>
                </a:lnTo>
                <a:lnTo>
                  <a:pt x="241026" y="85911"/>
                </a:lnTo>
                <a:lnTo>
                  <a:pt x="240047" y="87379"/>
                </a:lnTo>
                <a:lnTo>
                  <a:pt x="239001" y="88746"/>
                </a:lnTo>
                <a:lnTo>
                  <a:pt x="237988" y="90113"/>
                </a:lnTo>
                <a:lnTo>
                  <a:pt x="236858" y="91429"/>
                </a:lnTo>
                <a:lnTo>
                  <a:pt x="235811" y="92694"/>
                </a:lnTo>
                <a:lnTo>
                  <a:pt x="234647" y="93859"/>
                </a:lnTo>
                <a:lnTo>
                  <a:pt x="233584" y="94973"/>
                </a:lnTo>
                <a:lnTo>
                  <a:pt x="232419" y="95985"/>
                </a:lnTo>
                <a:lnTo>
                  <a:pt x="231306" y="96998"/>
                </a:lnTo>
                <a:lnTo>
                  <a:pt x="230091" y="97909"/>
                </a:lnTo>
                <a:lnTo>
                  <a:pt x="228876" y="98820"/>
                </a:lnTo>
                <a:lnTo>
                  <a:pt x="227762" y="99630"/>
                </a:lnTo>
                <a:lnTo>
                  <a:pt x="226496" y="100288"/>
                </a:lnTo>
                <a:lnTo>
                  <a:pt x="225281" y="100997"/>
                </a:lnTo>
                <a:lnTo>
                  <a:pt x="224016" y="101554"/>
                </a:lnTo>
                <a:lnTo>
                  <a:pt x="222851" y="102009"/>
                </a:lnTo>
                <a:lnTo>
                  <a:pt x="221586" y="102364"/>
                </a:lnTo>
                <a:lnTo>
                  <a:pt x="220371" y="102668"/>
                </a:lnTo>
                <a:lnTo>
                  <a:pt x="219105" y="102921"/>
                </a:lnTo>
                <a:lnTo>
                  <a:pt x="217890" y="103123"/>
                </a:lnTo>
                <a:lnTo>
                  <a:pt x="216624" y="103123"/>
                </a:lnTo>
                <a:lnTo>
                  <a:pt x="215409" y="103123"/>
                </a:lnTo>
                <a:lnTo>
                  <a:pt x="214194" y="102921"/>
                </a:lnTo>
                <a:lnTo>
                  <a:pt x="212979" y="102668"/>
                </a:lnTo>
                <a:lnTo>
                  <a:pt x="211663" y="102364"/>
                </a:lnTo>
                <a:lnTo>
                  <a:pt x="210398" y="102009"/>
                </a:lnTo>
                <a:lnTo>
                  <a:pt x="209183" y="101554"/>
                </a:lnTo>
                <a:lnTo>
                  <a:pt x="207917" y="100946"/>
                </a:lnTo>
                <a:lnTo>
                  <a:pt x="206803" y="100288"/>
                </a:lnTo>
                <a:lnTo>
                  <a:pt x="205588" y="99630"/>
                </a:lnTo>
                <a:lnTo>
                  <a:pt x="204323" y="98769"/>
                </a:lnTo>
                <a:lnTo>
                  <a:pt x="203158" y="97909"/>
                </a:lnTo>
                <a:lnTo>
                  <a:pt x="202044" y="96998"/>
                </a:lnTo>
                <a:lnTo>
                  <a:pt x="200880" y="95985"/>
                </a:lnTo>
                <a:lnTo>
                  <a:pt x="199716" y="94922"/>
                </a:lnTo>
                <a:lnTo>
                  <a:pt x="198551" y="93758"/>
                </a:lnTo>
                <a:lnTo>
                  <a:pt x="197488" y="92593"/>
                </a:lnTo>
                <a:lnTo>
                  <a:pt x="196324" y="91378"/>
                </a:lnTo>
                <a:lnTo>
                  <a:pt x="195261" y="90062"/>
                </a:lnTo>
                <a:lnTo>
                  <a:pt x="194248" y="88695"/>
                </a:lnTo>
                <a:lnTo>
                  <a:pt x="193134" y="87277"/>
                </a:lnTo>
                <a:lnTo>
                  <a:pt x="192173" y="85860"/>
                </a:lnTo>
                <a:lnTo>
                  <a:pt x="191211" y="84341"/>
                </a:lnTo>
                <a:lnTo>
                  <a:pt x="189388" y="81203"/>
                </a:lnTo>
                <a:lnTo>
                  <a:pt x="187701" y="77963"/>
                </a:lnTo>
                <a:lnTo>
                  <a:pt x="186013" y="74588"/>
                </a:lnTo>
                <a:lnTo>
                  <a:pt x="184545" y="71044"/>
                </a:lnTo>
                <a:lnTo>
                  <a:pt x="183229" y="67348"/>
                </a:lnTo>
                <a:lnTo>
                  <a:pt x="182773" y="67247"/>
                </a:lnTo>
                <a:lnTo>
                  <a:pt x="182250" y="67179"/>
                </a:lnTo>
                <a:lnTo>
                  <a:pt x="181845" y="66876"/>
                </a:lnTo>
                <a:lnTo>
                  <a:pt x="181440" y="66420"/>
                </a:lnTo>
                <a:lnTo>
                  <a:pt x="181035" y="65964"/>
                </a:lnTo>
                <a:lnTo>
                  <a:pt x="180630" y="65306"/>
                </a:lnTo>
                <a:lnTo>
                  <a:pt x="179921" y="63889"/>
                </a:lnTo>
                <a:lnTo>
                  <a:pt x="179263" y="62201"/>
                </a:lnTo>
                <a:lnTo>
                  <a:pt x="178656" y="60328"/>
                </a:lnTo>
                <a:lnTo>
                  <a:pt x="178200" y="58404"/>
                </a:lnTo>
                <a:lnTo>
                  <a:pt x="177694" y="56430"/>
                </a:lnTo>
                <a:lnTo>
                  <a:pt x="177390" y="54456"/>
                </a:lnTo>
                <a:lnTo>
                  <a:pt x="177289" y="52380"/>
                </a:lnTo>
                <a:lnTo>
                  <a:pt x="177188" y="50692"/>
                </a:lnTo>
                <a:lnTo>
                  <a:pt x="177289" y="49005"/>
                </a:lnTo>
                <a:lnTo>
                  <a:pt x="177390" y="47638"/>
                </a:lnTo>
                <a:lnTo>
                  <a:pt x="177593" y="47031"/>
                </a:lnTo>
                <a:lnTo>
                  <a:pt x="177846" y="46524"/>
                </a:lnTo>
                <a:lnTo>
                  <a:pt x="177998" y="46018"/>
                </a:lnTo>
                <a:lnTo>
                  <a:pt x="178251" y="45714"/>
                </a:lnTo>
                <a:lnTo>
                  <a:pt x="178554" y="45461"/>
                </a:lnTo>
                <a:lnTo>
                  <a:pt x="178959" y="45309"/>
                </a:lnTo>
                <a:lnTo>
                  <a:pt x="178858" y="43284"/>
                </a:lnTo>
                <a:lnTo>
                  <a:pt x="178959" y="40601"/>
                </a:lnTo>
                <a:lnTo>
                  <a:pt x="179111" y="38070"/>
                </a:lnTo>
                <a:lnTo>
                  <a:pt x="179314" y="35640"/>
                </a:lnTo>
                <a:lnTo>
                  <a:pt x="179769" y="33210"/>
                </a:lnTo>
                <a:lnTo>
                  <a:pt x="180174" y="30932"/>
                </a:lnTo>
                <a:lnTo>
                  <a:pt x="180782" y="28704"/>
                </a:lnTo>
                <a:lnTo>
                  <a:pt x="181440" y="26527"/>
                </a:lnTo>
                <a:lnTo>
                  <a:pt x="182149" y="24503"/>
                </a:lnTo>
                <a:lnTo>
                  <a:pt x="182959" y="22579"/>
                </a:lnTo>
                <a:lnTo>
                  <a:pt x="183870" y="20655"/>
                </a:lnTo>
                <a:lnTo>
                  <a:pt x="184883" y="18782"/>
                </a:lnTo>
                <a:lnTo>
                  <a:pt x="185946" y="17094"/>
                </a:lnTo>
                <a:lnTo>
                  <a:pt x="187009" y="15407"/>
                </a:lnTo>
                <a:lnTo>
                  <a:pt x="188274" y="13838"/>
                </a:lnTo>
                <a:lnTo>
                  <a:pt x="189489" y="12319"/>
                </a:lnTo>
                <a:lnTo>
                  <a:pt x="190806" y="10901"/>
                </a:lnTo>
                <a:lnTo>
                  <a:pt x="192122" y="9636"/>
                </a:lnTo>
                <a:lnTo>
                  <a:pt x="193590" y="8370"/>
                </a:lnTo>
                <a:lnTo>
                  <a:pt x="195008" y="7206"/>
                </a:lnTo>
                <a:lnTo>
                  <a:pt x="196526" y="6142"/>
                </a:lnTo>
                <a:lnTo>
                  <a:pt x="198096" y="5181"/>
                </a:lnTo>
                <a:lnTo>
                  <a:pt x="199665" y="4269"/>
                </a:lnTo>
                <a:lnTo>
                  <a:pt x="201353" y="3459"/>
                </a:lnTo>
                <a:lnTo>
                  <a:pt x="203040" y="2700"/>
                </a:lnTo>
                <a:lnTo>
                  <a:pt x="204728" y="2093"/>
                </a:lnTo>
                <a:lnTo>
                  <a:pt x="206415" y="1536"/>
                </a:lnTo>
                <a:lnTo>
                  <a:pt x="208103" y="1029"/>
                </a:lnTo>
                <a:lnTo>
                  <a:pt x="209925" y="675"/>
                </a:lnTo>
                <a:lnTo>
                  <a:pt x="211613" y="371"/>
                </a:lnTo>
                <a:lnTo>
                  <a:pt x="213435" y="118"/>
                </a:lnTo>
                <a:lnTo>
                  <a:pt x="215123" y="118"/>
                </a:lnTo>
                <a:close/>
              </a:path>
            </a:pathLst>
          </a:custGeom>
          <a:solidFill>
            <a:srgbClr val="FFFFFF"/>
          </a:solidFill>
          <a:ln w="16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图形 60" descr="333639373231343b343435313030353b6267884c529b"/>
          <p:cNvSpPr/>
          <p:nvPr>
            <p:custDataLst>
              <p:tags r:id="rId18"/>
            </p:custDataLst>
          </p:nvPr>
        </p:nvSpPr>
        <p:spPr>
          <a:xfrm>
            <a:off x="5923398" y="4393800"/>
            <a:ext cx="360000" cy="360000"/>
          </a:xfrm>
          <a:custGeom>
            <a:avLst/>
            <a:gdLst>
              <a:gd name="connsiteX0" fmla="*/ 180000 w 360000"/>
              <a:gd name="connsiteY0" fmla="*/ 360000 h 360000"/>
              <a:gd name="connsiteX1" fmla="*/ 0 w 360000"/>
              <a:gd name="connsiteY1" fmla="*/ 180000 h 360000"/>
              <a:gd name="connsiteX2" fmla="*/ 180000 w 360000"/>
              <a:gd name="connsiteY2" fmla="*/ 0 h 360000"/>
              <a:gd name="connsiteX3" fmla="*/ 360000 w 360000"/>
              <a:gd name="connsiteY3" fmla="*/ 180000 h 360000"/>
              <a:gd name="connsiteX4" fmla="*/ 180000 w 360000"/>
              <a:gd name="connsiteY4" fmla="*/ 360000 h 360000"/>
              <a:gd name="connsiteX5" fmla="*/ 162114 w 360000"/>
              <a:gd name="connsiteY5" fmla="*/ 223048 h 360000"/>
              <a:gd name="connsiteX6" fmla="*/ 162114 w 360000"/>
              <a:gd name="connsiteY6" fmla="*/ 186488 h 360000"/>
              <a:gd name="connsiteX7" fmla="*/ 165128 w 360000"/>
              <a:gd name="connsiteY7" fmla="*/ 183443 h 360000"/>
              <a:gd name="connsiteX8" fmla="*/ 168141 w 360000"/>
              <a:gd name="connsiteY8" fmla="*/ 186488 h 360000"/>
              <a:gd name="connsiteX9" fmla="*/ 168141 w 360000"/>
              <a:gd name="connsiteY9" fmla="*/ 223048 h 360000"/>
              <a:gd name="connsiteX10" fmla="*/ 204304 w 360000"/>
              <a:gd name="connsiteY10" fmla="*/ 220001 h 360000"/>
              <a:gd name="connsiteX11" fmla="*/ 204304 w 360000"/>
              <a:gd name="connsiteY11" fmla="*/ 186488 h 360000"/>
              <a:gd name="connsiteX12" fmla="*/ 207318 w 360000"/>
              <a:gd name="connsiteY12" fmla="*/ 183443 h 360000"/>
              <a:gd name="connsiteX13" fmla="*/ 210331 w 360000"/>
              <a:gd name="connsiteY13" fmla="*/ 186488 h 360000"/>
              <a:gd name="connsiteX14" fmla="*/ 210331 w 360000"/>
              <a:gd name="connsiteY14" fmla="*/ 220610 h 360000"/>
              <a:gd name="connsiteX15" fmla="*/ 235042 w 360000"/>
              <a:gd name="connsiteY15" fmla="*/ 224266 h 360000"/>
              <a:gd name="connsiteX16" fmla="*/ 252520 w 360000"/>
              <a:gd name="connsiteY16" fmla="*/ 150540 h 360000"/>
              <a:gd name="connsiteX17" fmla="*/ 252520 w 360000"/>
              <a:gd name="connsiteY17" fmla="*/ 132870 h 360000"/>
              <a:gd name="connsiteX18" fmla="*/ 252520 w 360000"/>
              <a:gd name="connsiteY18" fmla="*/ 122512 h 360000"/>
              <a:gd name="connsiteX19" fmla="*/ 245288 w 360000"/>
              <a:gd name="connsiteY19" fmla="*/ 112154 h 360000"/>
              <a:gd name="connsiteX20" fmla="*/ 234439 w 360000"/>
              <a:gd name="connsiteY20" fmla="*/ 104842 h 360000"/>
              <a:gd name="connsiteX21" fmla="*/ 216962 w 360000"/>
              <a:gd name="connsiteY21" fmla="*/ 115200 h 360000"/>
              <a:gd name="connsiteX22" fmla="*/ 203099 w 360000"/>
              <a:gd name="connsiteY22" fmla="*/ 101187 h 360000"/>
              <a:gd name="connsiteX23" fmla="*/ 195865 w 360000"/>
              <a:gd name="connsiteY23" fmla="*/ 97530 h 360000"/>
              <a:gd name="connsiteX24" fmla="*/ 185017 w 360000"/>
              <a:gd name="connsiteY24" fmla="*/ 101187 h 360000"/>
              <a:gd name="connsiteX25" fmla="*/ 161512 w 360000"/>
              <a:gd name="connsiteY25" fmla="*/ 118856 h 360000"/>
              <a:gd name="connsiteX26" fmla="*/ 144032 w 360000"/>
              <a:gd name="connsiteY26" fmla="*/ 111545 h 360000"/>
              <a:gd name="connsiteX27" fmla="*/ 119322 w 360000"/>
              <a:gd name="connsiteY27" fmla="*/ 129214 h 360000"/>
              <a:gd name="connsiteX28" fmla="*/ 108473 w 360000"/>
              <a:gd name="connsiteY28" fmla="*/ 126167 h 360000"/>
              <a:gd name="connsiteX29" fmla="*/ 90995 w 360000"/>
              <a:gd name="connsiteY29" fmla="*/ 154195 h 360000"/>
              <a:gd name="connsiteX30" fmla="*/ 104857 w 360000"/>
              <a:gd name="connsiteY30" fmla="*/ 227921 h 360000"/>
              <a:gd name="connsiteX31" fmla="*/ 125952 w 360000"/>
              <a:gd name="connsiteY31" fmla="*/ 227312 h 360000"/>
              <a:gd name="connsiteX32" fmla="*/ 125952 w 360000"/>
              <a:gd name="connsiteY32" fmla="*/ 192583 h 360000"/>
              <a:gd name="connsiteX33" fmla="*/ 128965 w 360000"/>
              <a:gd name="connsiteY33" fmla="*/ 189536 h 360000"/>
              <a:gd name="connsiteX34" fmla="*/ 131979 w 360000"/>
              <a:gd name="connsiteY34" fmla="*/ 192583 h 360000"/>
              <a:gd name="connsiteX35" fmla="*/ 131979 w 360000"/>
              <a:gd name="connsiteY35" fmla="*/ 228531 h 360000"/>
              <a:gd name="connsiteX36" fmla="*/ 162114 w 360000"/>
              <a:gd name="connsiteY36" fmla="*/ 223048 h 360000"/>
              <a:gd name="connsiteX37" fmla="*/ 266986 w 360000"/>
              <a:gd name="connsiteY37" fmla="*/ 178568 h 360000"/>
              <a:gd name="connsiteX38" fmla="*/ 256137 w 360000"/>
              <a:gd name="connsiteY38" fmla="*/ 150540 h 360000"/>
              <a:gd name="connsiteX39" fmla="*/ 255534 w 360000"/>
              <a:gd name="connsiteY39" fmla="*/ 154804 h 360000"/>
              <a:gd name="connsiteX40" fmla="*/ 255534 w 360000"/>
              <a:gd name="connsiteY40" fmla="*/ 157852 h 360000"/>
              <a:gd name="connsiteX41" fmla="*/ 247698 w 360000"/>
              <a:gd name="connsiteY41" fmla="*/ 226094 h 360000"/>
              <a:gd name="connsiteX42" fmla="*/ 206715 w 360000"/>
              <a:gd name="connsiteY42" fmla="*/ 229749 h 360000"/>
              <a:gd name="connsiteX43" fmla="*/ 164526 w 360000"/>
              <a:gd name="connsiteY43" fmla="*/ 230968 h 360000"/>
              <a:gd name="connsiteX44" fmla="*/ 156690 w 360000"/>
              <a:gd name="connsiteY44" fmla="*/ 235233 h 360000"/>
              <a:gd name="connsiteX45" fmla="*/ 156690 w 360000"/>
              <a:gd name="connsiteY45" fmla="*/ 238281 h 360000"/>
              <a:gd name="connsiteX46" fmla="*/ 158498 w 360000"/>
              <a:gd name="connsiteY46" fmla="*/ 252294 h 360000"/>
              <a:gd name="connsiteX47" fmla="*/ 167538 w 360000"/>
              <a:gd name="connsiteY47" fmla="*/ 255950 h 360000"/>
              <a:gd name="connsiteX48" fmla="*/ 183812 w 360000"/>
              <a:gd name="connsiteY48" fmla="*/ 255950 h 360000"/>
              <a:gd name="connsiteX49" fmla="*/ 187428 w 360000"/>
              <a:gd name="connsiteY49" fmla="*/ 262043 h 360000"/>
              <a:gd name="connsiteX50" fmla="*/ 220577 w 360000"/>
              <a:gd name="connsiteY50" fmla="*/ 262043 h 360000"/>
              <a:gd name="connsiteX51" fmla="*/ 256137 w 360000"/>
              <a:gd name="connsiteY51" fmla="*/ 227921 h 360000"/>
              <a:gd name="connsiteX52" fmla="*/ 270000 w 360000"/>
              <a:gd name="connsiteY52" fmla="*/ 199894 h 360000"/>
              <a:gd name="connsiteX53" fmla="*/ 266986 w 360000"/>
              <a:gd name="connsiteY53" fmla="*/ 178568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0000" h="360000">
                <a:moveTo>
                  <a:pt x="180000" y="360000"/>
                </a:moveTo>
                <a:cubicBezTo>
                  <a:pt x="80589" y="360000"/>
                  <a:pt x="0" y="279411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ubicBezTo>
                  <a:pt x="279411" y="0"/>
                  <a:pt x="360000" y="80589"/>
                  <a:pt x="360000" y="180000"/>
                </a:cubicBezTo>
                <a:cubicBezTo>
                  <a:pt x="360000" y="279411"/>
                  <a:pt x="279411" y="360000"/>
                  <a:pt x="180000" y="360000"/>
                </a:cubicBezTo>
                <a:close/>
                <a:moveTo>
                  <a:pt x="162114" y="223048"/>
                </a:moveTo>
                <a:lnTo>
                  <a:pt x="162114" y="186488"/>
                </a:lnTo>
                <a:cubicBezTo>
                  <a:pt x="162114" y="184662"/>
                  <a:pt x="163320" y="183443"/>
                  <a:pt x="165128" y="183443"/>
                </a:cubicBezTo>
                <a:cubicBezTo>
                  <a:pt x="166936" y="183443"/>
                  <a:pt x="168141" y="184662"/>
                  <a:pt x="168141" y="186488"/>
                </a:cubicBezTo>
                <a:lnTo>
                  <a:pt x="168141" y="223048"/>
                </a:lnTo>
                <a:cubicBezTo>
                  <a:pt x="182606" y="235233"/>
                  <a:pt x="198277" y="224876"/>
                  <a:pt x="204304" y="220001"/>
                </a:cubicBezTo>
                <a:lnTo>
                  <a:pt x="204304" y="186488"/>
                </a:lnTo>
                <a:cubicBezTo>
                  <a:pt x="204304" y="184662"/>
                  <a:pt x="205509" y="183443"/>
                  <a:pt x="207318" y="183443"/>
                </a:cubicBezTo>
                <a:cubicBezTo>
                  <a:pt x="209125" y="183443"/>
                  <a:pt x="210331" y="184662"/>
                  <a:pt x="210331" y="186488"/>
                </a:cubicBezTo>
                <a:lnTo>
                  <a:pt x="210331" y="220610"/>
                </a:lnTo>
                <a:cubicBezTo>
                  <a:pt x="226001" y="234624"/>
                  <a:pt x="235042" y="224266"/>
                  <a:pt x="235042" y="224266"/>
                </a:cubicBezTo>
                <a:cubicBezTo>
                  <a:pt x="254329" y="215736"/>
                  <a:pt x="252520" y="150540"/>
                  <a:pt x="252520" y="150540"/>
                </a:cubicBezTo>
                <a:cubicBezTo>
                  <a:pt x="252520" y="150540"/>
                  <a:pt x="253727" y="141400"/>
                  <a:pt x="252520" y="132870"/>
                </a:cubicBezTo>
                <a:cubicBezTo>
                  <a:pt x="251918" y="127386"/>
                  <a:pt x="252520" y="122512"/>
                  <a:pt x="252520" y="122512"/>
                </a:cubicBezTo>
                <a:cubicBezTo>
                  <a:pt x="252520" y="122512"/>
                  <a:pt x="249507" y="115809"/>
                  <a:pt x="245288" y="112154"/>
                </a:cubicBezTo>
                <a:cubicBezTo>
                  <a:pt x="240467" y="107279"/>
                  <a:pt x="234439" y="104842"/>
                  <a:pt x="234439" y="104842"/>
                </a:cubicBezTo>
                <a:cubicBezTo>
                  <a:pt x="222386" y="103623"/>
                  <a:pt x="217564" y="116419"/>
                  <a:pt x="216962" y="115200"/>
                </a:cubicBezTo>
                <a:cubicBezTo>
                  <a:pt x="216359" y="114590"/>
                  <a:pt x="209125" y="104842"/>
                  <a:pt x="203099" y="101187"/>
                </a:cubicBezTo>
                <a:cubicBezTo>
                  <a:pt x="197073" y="97531"/>
                  <a:pt x="195865" y="97530"/>
                  <a:pt x="195865" y="97530"/>
                </a:cubicBezTo>
                <a:cubicBezTo>
                  <a:pt x="195865" y="97530"/>
                  <a:pt x="191648" y="96921"/>
                  <a:pt x="185017" y="101187"/>
                </a:cubicBezTo>
                <a:cubicBezTo>
                  <a:pt x="177182" y="107279"/>
                  <a:pt x="165128" y="118856"/>
                  <a:pt x="161512" y="118856"/>
                </a:cubicBezTo>
                <a:cubicBezTo>
                  <a:pt x="158498" y="119465"/>
                  <a:pt x="148854" y="113982"/>
                  <a:pt x="144032" y="111545"/>
                </a:cubicBezTo>
                <a:cubicBezTo>
                  <a:pt x="139211" y="109107"/>
                  <a:pt x="119322" y="129214"/>
                  <a:pt x="119322" y="129214"/>
                </a:cubicBezTo>
                <a:cubicBezTo>
                  <a:pt x="119322" y="129214"/>
                  <a:pt x="115103" y="124950"/>
                  <a:pt x="108473" y="126167"/>
                </a:cubicBezTo>
                <a:cubicBezTo>
                  <a:pt x="100035" y="128605"/>
                  <a:pt x="90995" y="154195"/>
                  <a:pt x="90995" y="154195"/>
                </a:cubicBezTo>
                <a:cubicBezTo>
                  <a:pt x="89187" y="156632"/>
                  <a:pt x="87981" y="218173"/>
                  <a:pt x="104857" y="227921"/>
                </a:cubicBezTo>
                <a:cubicBezTo>
                  <a:pt x="115705" y="234015"/>
                  <a:pt x="122335" y="230968"/>
                  <a:pt x="125952" y="227312"/>
                </a:cubicBezTo>
                <a:lnTo>
                  <a:pt x="125952" y="192583"/>
                </a:lnTo>
                <a:cubicBezTo>
                  <a:pt x="125952" y="190754"/>
                  <a:pt x="127157" y="189536"/>
                  <a:pt x="128965" y="189536"/>
                </a:cubicBezTo>
                <a:cubicBezTo>
                  <a:pt x="130773" y="189536"/>
                  <a:pt x="131979" y="190754"/>
                  <a:pt x="131979" y="192583"/>
                </a:cubicBezTo>
                <a:lnTo>
                  <a:pt x="131979" y="228531"/>
                </a:lnTo>
                <a:cubicBezTo>
                  <a:pt x="142224" y="240109"/>
                  <a:pt x="156088" y="229140"/>
                  <a:pt x="162114" y="223048"/>
                </a:cubicBezTo>
                <a:close/>
                <a:moveTo>
                  <a:pt x="266986" y="178568"/>
                </a:moveTo>
                <a:cubicBezTo>
                  <a:pt x="263973" y="165163"/>
                  <a:pt x="256137" y="150540"/>
                  <a:pt x="256137" y="150540"/>
                </a:cubicBezTo>
                <a:cubicBezTo>
                  <a:pt x="256137" y="152978"/>
                  <a:pt x="255534" y="154804"/>
                  <a:pt x="255534" y="154804"/>
                </a:cubicBezTo>
                <a:lnTo>
                  <a:pt x="255534" y="157852"/>
                </a:lnTo>
                <a:cubicBezTo>
                  <a:pt x="255534" y="157852"/>
                  <a:pt x="265178" y="199894"/>
                  <a:pt x="247698" y="226094"/>
                </a:cubicBezTo>
                <a:cubicBezTo>
                  <a:pt x="247698" y="226094"/>
                  <a:pt x="229617" y="251076"/>
                  <a:pt x="206715" y="229749"/>
                </a:cubicBezTo>
                <a:cubicBezTo>
                  <a:pt x="206715" y="229749"/>
                  <a:pt x="188031" y="251076"/>
                  <a:pt x="164526" y="230968"/>
                </a:cubicBezTo>
                <a:cubicBezTo>
                  <a:pt x="164526" y="230968"/>
                  <a:pt x="161512" y="233405"/>
                  <a:pt x="156690" y="235233"/>
                </a:cubicBezTo>
                <a:lnTo>
                  <a:pt x="156690" y="238281"/>
                </a:lnTo>
                <a:cubicBezTo>
                  <a:pt x="156690" y="238281"/>
                  <a:pt x="155485" y="249248"/>
                  <a:pt x="158498" y="252294"/>
                </a:cubicBezTo>
                <a:cubicBezTo>
                  <a:pt x="160909" y="255950"/>
                  <a:pt x="167538" y="255950"/>
                  <a:pt x="167538" y="255950"/>
                </a:cubicBezTo>
                <a:lnTo>
                  <a:pt x="183812" y="255950"/>
                </a:lnTo>
                <a:cubicBezTo>
                  <a:pt x="183812" y="255950"/>
                  <a:pt x="185017" y="261433"/>
                  <a:pt x="187428" y="262043"/>
                </a:cubicBezTo>
                <a:cubicBezTo>
                  <a:pt x="189840" y="262652"/>
                  <a:pt x="218167" y="262652"/>
                  <a:pt x="220577" y="262043"/>
                </a:cubicBezTo>
                <a:cubicBezTo>
                  <a:pt x="231427" y="258996"/>
                  <a:pt x="246495" y="240109"/>
                  <a:pt x="256137" y="227921"/>
                </a:cubicBezTo>
                <a:cubicBezTo>
                  <a:pt x="266986" y="213908"/>
                  <a:pt x="270000" y="199894"/>
                  <a:pt x="270000" y="199894"/>
                </a:cubicBezTo>
                <a:cubicBezTo>
                  <a:pt x="270000" y="199894"/>
                  <a:pt x="269397" y="190145"/>
                  <a:pt x="266986" y="178568"/>
                </a:cubicBezTo>
                <a:close/>
              </a:path>
            </a:pathLst>
          </a:custGeom>
          <a:solidFill>
            <a:srgbClr val="FFFFFF"/>
          </a:solidFill>
          <a:ln w="137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图形 62" descr="343435383039363b343532313236333b78147a76521b65b0"/>
          <p:cNvSpPr/>
          <p:nvPr>
            <p:custDataLst>
              <p:tags r:id="rId19"/>
            </p:custDataLst>
          </p:nvPr>
        </p:nvSpPr>
        <p:spPr>
          <a:xfrm>
            <a:off x="7681392" y="4356064"/>
            <a:ext cx="431901" cy="432000"/>
          </a:xfrm>
          <a:custGeom>
            <a:avLst/>
            <a:gdLst>
              <a:gd name="connsiteX0" fmla="*/ 92247 w 431901"/>
              <a:gd name="connsiteY0" fmla="*/ 214662 h 432000"/>
              <a:gd name="connsiteX1" fmla="*/ 154051 w 431901"/>
              <a:gd name="connsiteY1" fmla="*/ 107373 h 432000"/>
              <a:gd name="connsiteX2" fmla="*/ 277632 w 431901"/>
              <a:gd name="connsiteY2" fmla="*/ 107373 h 432000"/>
              <a:gd name="connsiteX3" fmla="*/ 339410 w 431901"/>
              <a:gd name="connsiteY3" fmla="*/ 214662 h 432000"/>
              <a:gd name="connsiteX4" fmla="*/ 277632 w 431901"/>
              <a:gd name="connsiteY4" fmla="*/ 321951 h 432000"/>
              <a:gd name="connsiteX5" fmla="*/ 154051 w 431901"/>
              <a:gd name="connsiteY5" fmla="*/ 321951 h 432000"/>
              <a:gd name="connsiteX6" fmla="*/ 92247 w 431901"/>
              <a:gd name="connsiteY6" fmla="*/ 214662 h 432000"/>
              <a:gd name="connsiteX7" fmla="*/ 239005 w 431901"/>
              <a:gd name="connsiteY7" fmla="*/ 400850 h 432000"/>
              <a:gd name="connsiteX8" fmla="*/ 254564 w 431901"/>
              <a:gd name="connsiteY8" fmla="*/ 416426 h 432000"/>
              <a:gd name="connsiteX9" fmla="*/ 239005 w 431901"/>
              <a:gd name="connsiteY9" fmla="*/ 432000 h 432000"/>
              <a:gd name="connsiteX10" fmla="*/ 192678 w 431901"/>
              <a:gd name="connsiteY10" fmla="*/ 432000 h 432000"/>
              <a:gd name="connsiteX11" fmla="*/ 177121 w 431901"/>
              <a:gd name="connsiteY11" fmla="*/ 416426 h 432000"/>
              <a:gd name="connsiteX12" fmla="*/ 192678 w 431901"/>
              <a:gd name="connsiteY12" fmla="*/ 400850 h 432000"/>
              <a:gd name="connsiteX13" fmla="*/ 239005 w 431901"/>
              <a:gd name="connsiteY13" fmla="*/ 400850 h 432000"/>
              <a:gd name="connsiteX14" fmla="*/ 215829 w 431901"/>
              <a:gd name="connsiteY14" fmla="*/ 76684 h 432000"/>
              <a:gd name="connsiteX15" fmla="*/ 204837 w 431901"/>
              <a:gd name="connsiteY15" fmla="*/ 72121 h 432000"/>
              <a:gd name="connsiteX16" fmla="*/ 200297 w 431901"/>
              <a:gd name="connsiteY16" fmla="*/ 61109 h 432000"/>
              <a:gd name="connsiteX17" fmla="*/ 200297 w 431901"/>
              <a:gd name="connsiteY17" fmla="*/ 14657 h 432000"/>
              <a:gd name="connsiteX18" fmla="*/ 215829 w 431901"/>
              <a:gd name="connsiteY18" fmla="*/ 0 h 432000"/>
              <a:gd name="connsiteX19" fmla="*/ 231359 w 431901"/>
              <a:gd name="connsiteY19" fmla="*/ 14657 h 432000"/>
              <a:gd name="connsiteX20" fmla="*/ 231359 w 431901"/>
              <a:gd name="connsiteY20" fmla="*/ 61109 h 432000"/>
              <a:gd name="connsiteX21" fmla="*/ 215829 w 431901"/>
              <a:gd name="connsiteY21" fmla="*/ 76684 h 432000"/>
              <a:gd name="connsiteX22" fmla="*/ 95948 w 431901"/>
              <a:gd name="connsiteY22" fmla="*/ 117458 h 432000"/>
              <a:gd name="connsiteX23" fmla="*/ 63155 w 431901"/>
              <a:gd name="connsiteY23" fmla="*/ 84606 h 432000"/>
              <a:gd name="connsiteX24" fmla="*/ 63873 w 431901"/>
              <a:gd name="connsiteY24" fmla="*/ 63341 h 432000"/>
              <a:gd name="connsiteX25" fmla="*/ 85116 w 431901"/>
              <a:gd name="connsiteY25" fmla="*/ 62570 h 432000"/>
              <a:gd name="connsiteX26" fmla="*/ 117909 w 431901"/>
              <a:gd name="connsiteY26" fmla="*/ 95449 h 432000"/>
              <a:gd name="connsiteX27" fmla="*/ 117093 w 431901"/>
              <a:gd name="connsiteY27" fmla="*/ 116616 h 432000"/>
              <a:gd name="connsiteX28" fmla="*/ 95948 w 431901"/>
              <a:gd name="connsiteY28" fmla="*/ 117458 h 432000"/>
              <a:gd name="connsiteX29" fmla="*/ 61885 w 431901"/>
              <a:gd name="connsiteY29" fmla="*/ 200116 h 432000"/>
              <a:gd name="connsiteX30" fmla="*/ 77444 w 431901"/>
              <a:gd name="connsiteY30" fmla="*/ 215690 h 432000"/>
              <a:gd name="connsiteX31" fmla="*/ 61885 w 431901"/>
              <a:gd name="connsiteY31" fmla="*/ 231265 h 432000"/>
              <a:gd name="connsiteX32" fmla="*/ 15559 w 431901"/>
              <a:gd name="connsiteY32" fmla="*/ 231265 h 432000"/>
              <a:gd name="connsiteX33" fmla="*/ 0 w 431901"/>
              <a:gd name="connsiteY33" fmla="*/ 215690 h 432000"/>
              <a:gd name="connsiteX34" fmla="*/ 15559 w 431901"/>
              <a:gd name="connsiteY34" fmla="*/ 200116 h 432000"/>
              <a:gd name="connsiteX35" fmla="*/ 61912 w 431901"/>
              <a:gd name="connsiteY35" fmla="*/ 200116 h 432000"/>
              <a:gd name="connsiteX36" fmla="*/ 61885 w 431901"/>
              <a:gd name="connsiteY36" fmla="*/ 200116 h 432000"/>
              <a:gd name="connsiteX37" fmla="*/ 416341 w 431901"/>
              <a:gd name="connsiteY37" fmla="*/ 199846 h 432000"/>
              <a:gd name="connsiteX38" fmla="*/ 431902 w 431901"/>
              <a:gd name="connsiteY38" fmla="*/ 215420 h 432000"/>
              <a:gd name="connsiteX39" fmla="*/ 416341 w 431901"/>
              <a:gd name="connsiteY39" fmla="*/ 230993 h 432000"/>
              <a:gd name="connsiteX40" fmla="*/ 370014 w 431901"/>
              <a:gd name="connsiteY40" fmla="*/ 230993 h 432000"/>
              <a:gd name="connsiteX41" fmla="*/ 354456 w 431901"/>
              <a:gd name="connsiteY41" fmla="*/ 215420 h 432000"/>
              <a:gd name="connsiteX42" fmla="*/ 370014 w 431901"/>
              <a:gd name="connsiteY42" fmla="*/ 199846 h 432000"/>
              <a:gd name="connsiteX43" fmla="*/ 416341 w 431901"/>
              <a:gd name="connsiteY43" fmla="*/ 199846 h 432000"/>
              <a:gd name="connsiteX44" fmla="*/ 335790 w 431901"/>
              <a:gd name="connsiteY44" fmla="*/ 117242 h 432000"/>
              <a:gd name="connsiteX45" fmla="*/ 313789 w 431901"/>
              <a:gd name="connsiteY45" fmla="*/ 117228 h 432000"/>
              <a:gd name="connsiteX46" fmla="*/ 313804 w 431901"/>
              <a:gd name="connsiteY46" fmla="*/ 95205 h 432000"/>
              <a:gd name="connsiteX47" fmla="*/ 346595 w 431901"/>
              <a:gd name="connsiteY47" fmla="*/ 62380 h 432000"/>
              <a:gd name="connsiteX48" fmla="*/ 361626 w 431901"/>
              <a:gd name="connsiteY48" fmla="*/ 58359 h 432000"/>
              <a:gd name="connsiteX49" fmla="*/ 372620 w 431901"/>
              <a:gd name="connsiteY49" fmla="*/ 69377 h 432000"/>
              <a:gd name="connsiteX50" fmla="*/ 368583 w 431901"/>
              <a:gd name="connsiteY50" fmla="*/ 84417 h 432000"/>
              <a:gd name="connsiteX51" fmla="*/ 335817 w 431901"/>
              <a:gd name="connsiteY51" fmla="*/ 117242 h 432000"/>
              <a:gd name="connsiteX52" fmla="*/ 335790 w 431901"/>
              <a:gd name="connsiteY52" fmla="*/ 117242 h 432000"/>
              <a:gd name="connsiteX53" fmla="*/ 266260 w 431901"/>
              <a:gd name="connsiteY53" fmla="*/ 354075 h 432000"/>
              <a:gd name="connsiteX54" fmla="*/ 281821 w 431901"/>
              <a:gd name="connsiteY54" fmla="*/ 369649 h 432000"/>
              <a:gd name="connsiteX55" fmla="*/ 266260 w 431901"/>
              <a:gd name="connsiteY55" fmla="*/ 385223 h 432000"/>
              <a:gd name="connsiteX56" fmla="*/ 165370 w 431901"/>
              <a:gd name="connsiteY56" fmla="*/ 385223 h 432000"/>
              <a:gd name="connsiteX57" fmla="*/ 149810 w 431901"/>
              <a:gd name="connsiteY57" fmla="*/ 369649 h 432000"/>
              <a:gd name="connsiteX58" fmla="*/ 165370 w 431901"/>
              <a:gd name="connsiteY58" fmla="*/ 354075 h 432000"/>
              <a:gd name="connsiteX59" fmla="*/ 266287 w 431901"/>
              <a:gd name="connsiteY59" fmla="*/ 354075 h 432000"/>
              <a:gd name="connsiteX60" fmla="*/ 266260 w 431901"/>
              <a:gd name="connsiteY60" fmla="*/ 354075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31901" h="432000">
                <a:moveTo>
                  <a:pt x="92247" y="214662"/>
                </a:moveTo>
                <a:cubicBezTo>
                  <a:pt x="92247" y="170400"/>
                  <a:pt x="115802" y="129490"/>
                  <a:pt x="154051" y="107373"/>
                </a:cubicBezTo>
                <a:cubicBezTo>
                  <a:pt x="192278" y="85242"/>
                  <a:pt x="239405" y="85242"/>
                  <a:pt x="277632" y="107373"/>
                </a:cubicBezTo>
                <a:cubicBezTo>
                  <a:pt x="315881" y="129535"/>
                  <a:pt x="339427" y="170426"/>
                  <a:pt x="339410" y="214662"/>
                </a:cubicBezTo>
                <a:cubicBezTo>
                  <a:pt x="339410" y="258898"/>
                  <a:pt x="315854" y="299808"/>
                  <a:pt x="277632" y="321951"/>
                </a:cubicBezTo>
                <a:cubicBezTo>
                  <a:pt x="239405" y="344083"/>
                  <a:pt x="192278" y="344083"/>
                  <a:pt x="154051" y="321951"/>
                </a:cubicBezTo>
                <a:cubicBezTo>
                  <a:pt x="115793" y="299796"/>
                  <a:pt x="92237" y="258905"/>
                  <a:pt x="92247" y="214662"/>
                </a:cubicBezTo>
                <a:close/>
                <a:moveTo>
                  <a:pt x="239005" y="400850"/>
                </a:moveTo>
                <a:cubicBezTo>
                  <a:pt x="247598" y="400850"/>
                  <a:pt x="254564" y="407825"/>
                  <a:pt x="254564" y="416426"/>
                </a:cubicBezTo>
                <a:cubicBezTo>
                  <a:pt x="254564" y="425027"/>
                  <a:pt x="247598" y="432000"/>
                  <a:pt x="239005" y="432000"/>
                </a:cubicBezTo>
                <a:lnTo>
                  <a:pt x="192678" y="432000"/>
                </a:lnTo>
                <a:cubicBezTo>
                  <a:pt x="184086" y="432000"/>
                  <a:pt x="177121" y="425027"/>
                  <a:pt x="177121" y="416426"/>
                </a:cubicBezTo>
                <a:cubicBezTo>
                  <a:pt x="177121" y="407825"/>
                  <a:pt x="184086" y="400850"/>
                  <a:pt x="192678" y="400850"/>
                </a:cubicBezTo>
                <a:lnTo>
                  <a:pt x="239005" y="400850"/>
                </a:lnTo>
                <a:close/>
                <a:moveTo>
                  <a:pt x="215829" y="76684"/>
                </a:moveTo>
                <a:cubicBezTo>
                  <a:pt x="211705" y="76684"/>
                  <a:pt x="207749" y="75042"/>
                  <a:pt x="204837" y="72121"/>
                </a:cubicBezTo>
                <a:cubicBezTo>
                  <a:pt x="201922" y="69199"/>
                  <a:pt x="200289" y="65238"/>
                  <a:pt x="200297" y="61109"/>
                </a:cubicBezTo>
                <a:lnTo>
                  <a:pt x="200297" y="14657"/>
                </a:lnTo>
                <a:cubicBezTo>
                  <a:pt x="200782" y="6426"/>
                  <a:pt x="207592" y="0"/>
                  <a:pt x="215829" y="0"/>
                </a:cubicBezTo>
                <a:cubicBezTo>
                  <a:pt x="224066" y="0"/>
                  <a:pt x="230875" y="6426"/>
                  <a:pt x="231359" y="14657"/>
                </a:cubicBezTo>
                <a:lnTo>
                  <a:pt x="231359" y="61109"/>
                </a:lnTo>
                <a:cubicBezTo>
                  <a:pt x="231361" y="69701"/>
                  <a:pt x="224410" y="76669"/>
                  <a:pt x="215829" y="76684"/>
                </a:cubicBezTo>
                <a:close/>
                <a:moveTo>
                  <a:pt x="95948" y="117458"/>
                </a:moveTo>
                <a:lnTo>
                  <a:pt x="63155" y="84606"/>
                </a:lnTo>
                <a:cubicBezTo>
                  <a:pt x="57779" y="78429"/>
                  <a:pt x="58093" y="69141"/>
                  <a:pt x="63873" y="63341"/>
                </a:cubicBezTo>
                <a:cubicBezTo>
                  <a:pt x="69653" y="57540"/>
                  <a:pt x="78931" y="57204"/>
                  <a:pt x="85116" y="62570"/>
                </a:cubicBezTo>
                <a:lnTo>
                  <a:pt x="117909" y="95449"/>
                </a:lnTo>
                <a:cubicBezTo>
                  <a:pt x="123197" y="101636"/>
                  <a:pt x="122842" y="110854"/>
                  <a:pt x="117093" y="116616"/>
                </a:cubicBezTo>
                <a:cubicBezTo>
                  <a:pt x="111345" y="122377"/>
                  <a:pt x="102136" y="122744"/>
                  <a:pt x="95948" y="117458"/>
                </a:cubicBezTo>
                <a:close/>
                <a:moveTo>
                  <a:pt x="61885" y="200116"/>
                </a:moveTo>
                <a:cubicBezTo>
                  <a:pt x="70478" y="200116"/>
                  <a:pt x="77444" y="207088"/>
                  <a:pt x="77444" y="215690"/>
                </a:cubicBezTo>
                <a:cubicBezTo>
                  <a:pt x="77444" y="224292"/>
                  <a:pt x="70478" y="231265"/>
                  <a:pt x="61885" y="231265"/>
                </a:cubicBezTo>
                <a:lnTo>
                  <a:pt x="15559" y="231265"/>
                </a:lnTo>
                <a:cubicBezTo>
                  <a:pt x="6966" y="231265"/>
                  <a:pt x="0" y="224292"/>
                  <a:pt x="0" y="215690"/>
                </a:cubicBezTo>
                <a:cubicBezTo>
                  <a:pt x="0" y="207088"/>
                  <a:pt x="6966" y="200116"/>
                  <a:pt x="15559" y="200116"/>
                </a:cubicBezTo>
                <a:lnTo>
                  <a:pt x="61912" y="200116"/>
                </a:lnTo>
                <a:lnTo>
                  <a:pt x="61885" y="200116"/>
                </a:lnTo>
                <a:close/>
                <a:moveTo>
                  <a:pt x="416341" y="199846"/>
                </a:moveTo>
                <a:cubicBezTo>
                  <a:pt x="424936" y="199846"/>
                  <a:pt x="431902" y="206818"/>
                  <a:pt x="431902" y="215420"/>
                </a:cubicBezTo>
                <a:cubicBezTo>
                  <a:pt x="431902" y="224021"/>
                  <a:pt x="424936" y="230993"/>
                  <a:pt x="416341" y="230993"/>
                </a:cubicBezTo>
                <a:lnTo>
                  <a:pt x="370014" y="230993"/>
                </a:lnTo>
                <a:cubicBezTo>
                  <a:pt x="361422" y="230993"/>
                  <a:pt x="354456" y="224021"/>
                  <a:pt x="354456" y="215420"/>
                </a:cubicBezTo>
                <a:cubicBezTo>
                  <a:pt x="354456" y="206818"/>
                  <a:pt x="361422" y="199846"/>
                  <a:pt x="370014" y="199846"/>
                </a:cubicBezTo>
                <a:lnTo>
                  <a:pt x="416341" y="199846"/>
                </a:lnTo>
                <a:close/>
                <a:moveTo>
                  <a:pt x="335790" y="117242"/>
                </a:moveTo>
                <a:cubicBezTo>
                  <a:pt x="329712" y="123320"/>
                  <a:pt x="319860" y="123314"/>
                  <a:pt x="313789" y="117228"/>
                </a:cubicBezTo>
                <a:cubicBezTo>
                  <a:pt x="307717" y="111143"/>
                  <a:pt x="307724" y="101283"/>
                  <a:pt x="313804" y="95205"/>
                </a:cubicBezTo>
                <a:lnTo>
                  <a:pt x="346595" y="62380"/>
                </a:lnTo>
                <a:cubicBezTo>
                  <a:pt x="350527" y="58449"/>
                  <a:pt x="356258" y="56916"/>
                  <a:pt x="361626" y="58359"/>
                </a:cubicBezTo>
                <a:cubicBezTo>
                  <a:pt x="366992" y="59802"/>
                  <a:pt x="371184" y="64003"/>
                  <a:pt x="372620" y="69377"/>
                </a:cubicBezTo>
                <a:cubicBezTo>
                  <a:pt x="374054" y="74752"/>
                  <a:pt x="372515" y="80485"/>
                  <a:pt x="368583" y="84417"/>
                </a:cubicBezTo>
                <a:lnTo>
                  <a:pt x="335817" y="117242"/>
                </a:lnTo>
                <a:lnTo>
                  <a:pt x="335790" y="117242"/>
                </a:lnTo>
                <a:close/>
                <a:moveTo>
                  <a:pt x="266260" y="354075"/>
                </a:moveTo>
                <a:cubicBezTo>
                  <a:pt x="274855" y="354075"/>
                  <a:pt x="281821" y="361047"/>
                  <a:pt x="281821" y="369649"/>
                </a:cubicBezTo>
                <a:cubicBezTo>
                  <a:pt x="281821" y="378250"/>
                  <a:pt x="274855" y="385223"/>
                  <a:pt x="266260" y="385223"/>
                </a:cubicBezTo>
                <a:lnTo>
                  <a:pt x="165370" y="385223"/>
                </a:lnTo>
                <a:cubicBezTo>
                  <a:pt x="156777" y="385223"/>
                  <a:pt x="149810" y="378250"/>
                  <a:pt x="149810" y="369649"/>
                </a:cubicBezTo>
                <a:cubicBezTo>
                  <a:pt x="149810" y="361047"/>
                  <a:pt x="156777" y="354075"/>
                  <a:pt x="165370" y="354075"/>
                </a:cubicBezTo>
                <a:lnTo>
                  <a:pt x="266287" y="354075"/>
                </a:lnTo>
                <a:lnTo>
                  <a:pt x="266260" y="354075"/>
                </a:lnTo>
                <a:close/>
              </a:path>
            </a:pathLst>
          </a:custGeom>
          <a:solidFill>
            <a:srgbClr val="FFFFFF"/>
          </a:solidFill>
          <a:ln w="16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6" name="图形 64" descr="343435383132323b343532303237383b5e7f544a4f2064ad"/>
          <p:cNvSpPr/>
          <p:nvPr>
            <p:custDataLst>
              <p:tags r:id="rId20"/>
            </p:custDataLst>
          </p:nvPr>
        </p:nvSpPr>
        <p:spPr>
          <a:xfrm>
            <a:off x="9491642" y="4517265"/>
            <a:ext cx="432000" cy="338704"/>
          </a:xfrm>
          <a:custGeom>
            <a:avLst/>
            <a:gdLst>
              <a:gd name="connsiteX0" fmla="*/ 340026 w 432000"/>
              <a:gd name="connsiteY0" fmla="*/ 76978 h 338704"/>
              <a:gd name="connsiteX1" fmla="*/ 320515 w 432000"/>
              <a:gd name="connsiteY1" fmla="*/ 74179 h 338704"/>
              <a:gd name="connsiteX2" fmla="*/ 317729 w 432000"/>
              <a:gd name="connsiteY2" fmla="*/ 93774 h 338704"/>
              <a:gd name="connsiteX3" fmla="*/ 342812 w 432000"/>
              <a:gd name="connsiteY3" fmla="*/ 169353 h 338704"/>
              <a:gd name="connsiteX4" fmla="*/ 317729 w 432000"/>
              <a:gd name="connsiteY4" fmla="*/ 244931 h 338704"/>
              <a:gd name="connsiteX5" fmla="*/ 314942 w 432000"/>
              <a:gd name="connsiteY5" fmla="*/ 258927 h 338704"/>
              <a:gd name="connsiteX6" fmla="*/ 326091 w 432000"/>
              <a:gd name="connsiteY6" fmla="*/ 267326 h 338704"/>
              <a:gd name="connsiteX7" fmla="*/ 340026 w 432000"/>
              <a:gd name="connsiteY7" fmla="*/ 261727 h 338704"/>
              <a:gd name="connsiteX8" fmla="*/ 370683 w 432000"/>
              <a:gd name="connsiteY8" fmla="*/ 169353 h 338704"/>
              <a:gd name="connsiteX9" fmla="*/ 340026 w 432000"/>
              <a:gd name="connsiteY9" fmla="*/ 76978 h 338704"/>
              <a:gd name="connsiteX10" fmla="*/ 214606 w 432000"/>
              <a:gd name="connsiteY10" fmla="*/ 71380 h 338704"/>
              <a:gd name="connsiteX11" fmla="*/ 114271 w 432000"/>
              <a:gd name="connsiteY11" fmla="*/ 169353 h 338704"/>
              <a:gd name="connsiteX12" fmla="*/ 214606 w 432000"/>
              <a:gd name="connsiteY12" fmla="*/ 267326 h 338704"/>
              <a:gd name="connsiteX13" fmla="*/ 314942 w 432000"/>
              <a:gd name="connsiteY13" fmla="*/ 169353 h 338704"/>
              <a:gd name="connsiteX14" fmla="*/ 214606 w 432000"/>
              <a:gd name="connsiteY14" fmla="*/ 71380 h 338704"/>
              <a:gd name="connsiteX15" fmla="*/ 365109 w 432000"/>
              <a:gd name="connsiteY15" fmla="*/ 4199 h 338704"/>
              <a:gd name="connsiteX16" fmla="*/ 345600 w 432000"/>
              <a:gd name="connsiteY16" fmla="*/ 4199 h 338704"/>
              <a:gd name="connsiteX17" fmla="*/ 345600 w 432000"/>
              <a:gd name="connsiteY17" fmla="*/ 23793 h 338704"/>
              <a:gd name="connsiteX18" fmla="*/ 401342 w 432000"/>
              <a:gd name="connsiteY18" fmla="*/ 169353 h 338704"/>
              <a:gd name="connsiteX19" fmla="*/ 345600 w 432000"/>
              <a:gd name="connsiteY19" fmla="*/ 314912 h 338704"/>
              <a:gd name="connsiteX20" fmla="*/ 348388 w 432000"/>
              <a:gd name="connsiteY20" fmla="*/ 334505 h 338704"/>
              <a:gd name="connsiteX21" fmla="*/ 367897 w 432000"/>
              <a:gd name="connsiteY21" fmla="*/ 334505 h 338704"/>
              <a:gd name="connsiteX22" fmla="*/ 432000 w 432000"/>
              <a:gd name="connsiteY22" fmla="*/ 169353 h 338704"/>
              <a:gd name="connsiteX23" fmla="*/ 365109 w 432000"/>
              <a:gd name="connsiteY23" fmla="*/ 4199 h 338704"/>
              <a:gd name="connsiteX24" fmla="*/ 105910 w 432000"/>
              <a:gd name="connsiteY24" fmla="*/ 74179 h 338704"/>
              <a:gd name="connsiteX25" fmla="*/ 94761 w 432000"/>
              <a:gd name="connsiteY25" fmla="*/ 71380 h 338704"/>
              <a:gd name="connsiteX26" fmla="*/ 86400 w 432000"/>
              <a:gd name="connsiteY26" fmla="*/ 76978 h 338704"/>
              <a:gd name="connsiteX27" fmla="*/ 55742 w 432000"/>
              <a:gd name="connsiteY27" fmla="*/ 169353 h 338704"/>
              <a:gd name="connsiteX28" fmla="*/ 86400 w 432000"/>
              <a:gd name="connsiteY28" fmla="*/ 261727 h 338704"/>
              <a:gd name="connsiteX29" fmla="*/ 100335 w 432000"/>
              <a:gd name="connsiteY29" fmla="*/ 267326 h 338704"/>
              <a:gd name="connsiteX30" fmla="*/ 111484 w 432000"/>
              <a:gd name="connsiteY30" fmla="*/ 258927 h 338704"/>
              <a:gd name="connsiteX31" fmla="*/ 108697 w 432000"/>
              <a:gd name="connsiteY31" fmla="*/ 244931 h 338704"/>
              <a:gd name="connsiteX32" fmla="*/ 83613 w 432000"/>
              <a:gd name="connsiteY32" fmla="*/ 169353 h 338704"/>
              <a:gd name="connsiteX33" fmla="*/ 108697 w 432000"/>
              <a:gd name="connsiteY33" fmla="*/ 93774 h 338704"/>
              <a:gd name="connsiteX34" fmla="*/ 111484 w 432000"/>
              <a:gd name="connsiteY34" fmla="*/ 82577 h 338704"/>
              <a:gd name="connsiteX35" fmla="*/ 105910 w 432000"/>
              <a:gd name="connsiteY35" fmla="*/ 74179 h 338704"/>
              <a:gd name="connsiteX36" fmla="*/ 27871 w 432000"/>
              <a:gd name="connsiteY36" fmla="*/ 169353 h 338704"/>
              <a:gd name="connsiteX37" fmla="*/ 83613 w 432000"/>
              <a:gd name="connsiteY37" fmla="*/ 23793 h 338704"/>
              <a:gd name="connsiteX38" fmla="*/ 83613 w 432000"/>
              <a:gd name="connsiteY38" fmla="*/ 4199 h 338704"/>
              <a:gd name="connsiteX39" fmla="*/ 64103 w 432000"/>
              <a:gd name="connsiteY39" fmla="*/ 4199 h 338704"/>
              <a:gd name="connsiteX40" fmla="*/ 0 w 432000"/>
              <a:gd name="connsiteY40" fmla="*/ 169353 h 338704"/>
              <a:gd name="connsiteX41" fmla="*/ 64103 w 432000"/>
              <a:gd name="connsiteY41" fmla="*/ 334505 h 338704"/>
              <a:gd name="connsiteX42" fmla="*/ 75252 w 432000"/>
              <a:gd name="connsiteY42" fmla="*/ 337305 h 338704"/>
              <a:gd name="connsiteX43" fmla="*/ 86400 w 432000"/>
              <a:gd name="connsiteY43" fmla="*/ 328906 h 338704"/>
              <a:gd name="connsiteX44" fmla="*/ 83613 w 432000"/>
              <a:gd name="connsiteY44" fmla="*/ 314912 h 338704"/>
              <a:gd name="connsiteX45" fmla="*/ 27871 w 432000"/>
              <a:gd name="connsiteY45" fmla="*/ 169353 h 33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32000" h="338704">
                <a:moveTo>
                  <a:pt x="340026" y="76978"/>
                </a:moveTo>
                <a:cubicBezTo>
                  <a:pt x="334451" y="71380"/>
                  <a:pt x="326091" y="68581"/>
                  <a:pt x="320515" y="74179"/>
                </a:cubicBezTo>
                <a:cubicBezTo>
                  <a:pt x="314942" y="79777"/>
                  <a:pt x="312155" y="88175"/>
                  <a:pt x="317729" y="93774"/>
                </a:cubicBezTo>
                <a:cubicBezTo>
                  <a:pt x="334451" y="116167"/>
                  <a:pt x="342812" y="141361"/>
                  <a:pt x="342812" y="169353"/>
                </a:cubicBezTo>
                <a:cubicBezTo>
                  <a:pt x="342812" y="197344"/>
                  <a:pt x="334451" y="222538"/>
                  <a:pt x="317729" y="244931"/>
                </a:cubicBezTo>
                <a:cubicBezTo>
                  <a:pt x="314942" y="247731"/>
                  <a:pt x="314942" y="253328"/>
                  <a:pt x="314942" y="258927"/>
                </a:cubicBezTo>
                <a:cubicBezTo>
                  <a:pt x="314942" y="264526"/>
                  <a:pt x="320515" y="267326"/>
                  <a:pt x="326091" y="267326"/>
                </a:cubicBezTo>
                <a:cubicBezTo>
                  <a:pt x="331665" y="267326"/>
                  <a:pt x="337238" y="264526"/>
                  <a:pt x="340026" y="261727"/>
                </a:cubicBezTo>
                <a:cubicBezTo>
                  <a:pt x="359535" y="233735"/>
                  <a:pt x="370683" y="202943"/>
                  <a:pt x="370683" y="169353"/>
                </a:cubicBezTo>
                <a:cubicBezTo>
                  <a:pt x="370683" y="135762"/>
                  <a:pt x="362323" y="102171"/>
                  <a:pt x="340026" y="76978"/>
                </a:cubicBezTo>
                <a:close/>
                <a:moveTo>
                  <a:pt x="214606" y="71380"/>
                </a:moveTo>
                <a:cubicBezTo>
                  <a:pt x="161651" y="71380"/>
                  <a:pt x="114271" y="113368"/>
                  <a:pt x="114271" y="169353"/>
                </a:cubicBezTo>
                <a:cubicBezTo>
                  <a:pt x="114271" y="225336"/>
                  <a:pt x="158864" y="267326"/>
                  <a:pt x="214606" y="267326"/>
                </a:cubicBezTo>
                <a:cubicBezTo>
                  <a:pt x="270348" y="267326"/>
                  <a:pt x="314942" y="222538"/>
                  <a:pt x="314942" y="169353"/>
                </a:cubicBezTo>
                <a:cubicBezTo>
                  <a:pt x="314942" y="116167"/>
                  <a:pt x="270348" y="71380"/>
                  <a:pt x="214606" y="71380"/>
                </a:cubicBezTo>
                <a:close/>
                <a:moveTo>
                  <a:pt x="365109" y="4199"/>
                </a:moveTo>
                <a:cubicBezTo>
                  <a:pt x="359535" y="-1400"/>
                  <a:pt x="351174" y="-1400"/>
                  <a:pt x="345600" y="4199"/>
                </a:cubicBezTo>
                <a:cubicBezTo>
                  <a:pt x="340026" y="9797"/>
                  <a:pt x="340026" y="18195"/>
                  <a:pt x="345600" y="23793"/>
                </a:cubicBezTo>
                <a:cubicBezTo>
                  <a:pt x="381832" y="62982"/>
                  <a:pt x="401342" y="116167"/>
                  <a:pt x="401342" y="169353"/>
                </a:cubicBezTo>
                <a:cubicBezTo>
                  <a:pt x="401342" y="222538"/>
                  <a:pt x="381832" y="275721"/>
                  <a:pt x="345600" y="314912"/>
                </a:cubicBezTo>
                <a:cubicBezTo>
                  <a:pt x="340026" y="320511"/>
                  <a:pt x="340026" y="328906"/>
                  <a:pt x="348388" y="334505"/>
                </a:cubicBezTo>
                <a:cubicBezTo>
                  <a:pt x="353962" y="340105"/>
                  <a:pt x="362323" y="340105"/>
                  <a:pt x="367897" y="334505"/>
                </a:cubicBezTo>
                <a:cubicBezTo>
                  <a:pt x="409703" y="289717"/>
                  <a:pt x="432000" y="230935"/>
                  <a:pt x="432000" y="169353"/>
                </a:cubicBezTo>
                <a:cubicBezTo>
                  <a:pt x="429212" y="107770"/>
                  <a:pt x="406915" y="51785"/>
                  <a:pt x="365109" y="4199"/>
                </a:cubicBezTo>
                <a:close/>
                <a:moveTo>
                  <a:pt x="105910" y="74179"/>
                </a:moveTo>
                <a:cubicBezTo>
                  <a:pt x="103122" y="71380"/>
                  <a:pt x="100335" y="71380"/>
                  <a:pt x="94761" y="71380"/>
                </a:cubicBezTo>
                <a:cubicBezTo>
                  <a:pt x="91974" y="71380"/>
                  <a:pt x="89187" y="74179"/>
                  <a:pt x="86400" y="76978"/>
                </a:cubicBezTo>
                <a:cubicBezTo>
                  <a:pt x="66890" y="102171"/>
                  <a:pt x="55742" y="135762"/>
                  <a:pt x="55742" y="169353"/>
                </a:cubicBezTo>
                <a:cubicBezTo>
                  <a:pt x="55742" y="202943"/>
                  <a:pt x="66890" y="233735"/>
                  <a:pt x="86400" y="261727"/>
                </a:cubicBezTo>
                <a:cubicBezTo>
                  <a:pt x="89187" y="264526"/>
                  <a:pt x="94761" y="267326"/>
                  <a:pt x="100335" y="267326"/>
                </a:cubicBezTo>
                <a:cubicBezTo>
                  <a:pt x="105910" y="267326"/>
                  <a:pt x="108697" y="264526"/>
                  <a:pt x="111484" y="258927"/>
                </a:cubicBezTo>
                <a:cubicBezTo>
                  <a:pt x="114271" y="253328"/>
                  <a:pt x="114271" y="247731"/>
                  <a:pt x="108697" y="244931"/>
                </a:cubicBezTo>
                <a:cubicBezTo>
                  <a:pt x="94761" y="222538"/>
                  <a:pt x="83613" y="197344"/>
                  <a:pt x="83613" y="169353"/>
                </a:cubicBezTo>
                <a:cubicBezTo>
                  <a:pt x="83613" y="141361"/>
                  <a:pt x="91974" y="116167"/>
                  <a:pt x="108697" y="93774"/>
                </a:cubicBezTo>
                <a:cubicBezTo>
                  <a:pt x="111484" y="90974"/>
                  <a:pt x="114271" y="85376"/>
                  <a:pt x="111484" y="82577"/>
                </a:cubicBezTo>
                <a:cubicBezTo>
                  <a:pt x="108697" y="79777"/>
                  <a:pt x="108697" y="74179"/>
                  <a:pt x="105910" y="74179"/>
                </a:cubicBezTo>
                <a:close/>
                <a:moveTo>
                  <a:pt x="27871" y="169353"/>
                </a:moveTo>
                <a:cubicBezTo>
                  <a:pt x="27871" y="116167"/>
                  <a:pt x="47381" y="65781"/>
                  <a:pt x="83613" y="23793"/>
                </a:cubicBezTo>
                <a:cubicBezTo>
                  <a:pt x="89187" y="18195"/>
                  <a:pt x="89187" y="9797"/>
                  <a:pt x="83613" y="4199"/>
                </a:cubicBezTo>
                <a:cubicBezTo>
                  <a:pt x="78039" y="-1400"/>
                  <a:pt x="69677" y="-1400"/>
                  <a:pt x="64103" y="4199"/>
                </a:cubicBezTo>
                <a:cubicBezTo>
                  <a:pt x="22297" y="51785"/>
                  <a:pt x="0" y="107770"/>
                  <a:pt x="0" y="169353"/>
                </a:cubicBezTo>
                <a:cubicBezTo>
                  <a:pt x="0" y="230935"/>
                  <a:pt x="22297" y="286920"/>
                  <a:pt x="64103" y="334505"/>
                </a:cubicBezTo>
                <a:cubicBezTo>
                  <a:pt x="66890" y="337305"/>
                  <a:pt x="72464" y="337305"/>
                  <a:pt x="75252" y="337305"/>
                </a:cubicBezTo>
                <a:cubicBezTo>
                  <a:pt x="80826" y="337305"/>
                  <a:pt x="83613" y="331706"/>
                  <a:pt x="86400" y="328906"/>
                </a:cubicBezTo>
                <a:cubicBezTo>
                  <a:pt x="89187" y="326108"/>
                  <a:pt x="86400" y="317711"/>
                  <a:pt x="83613" y="314912"/>
                </a:cubicBezTo>
                <a:cubicBezTo>
                  <a:pt x="47381" y="275721"/>
                  <a:pt x="27871" y="222538"/>
                  <a:pt x="27871" y="169353"/>
                </a:cubicBezTo>
                <a:close/>
              </a:path>
            </a:pathLst>
          </a:custGeom>
          <a:solidFill>
            <a:srgbClr val="FFFFFF"/>
          </a:solidFill>
          <a:ln w="16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5244860"/>
            <a:ext cx="12192000" cy="1613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508" b="42901"/>
          <a:stretch>
            <a:fillRect/>
          </a:stretch>
        </p:blipFill>
        <p:spPr>
          <a:xfrm rot="10800000">
            <a:off x="1859185" y="0"/>
            <a:ext cx="8371677" cy="516466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8"/>
          <p:cNvSpPr txBox="1"/>
          <p:nvPr/>
        </p:nvSpPr>
        <p:spPr>
          <a:xfrm>
            <a:off x="4280993" y="1218260"/>
            <a:ext cx="3528060" cy="2303145"/>
          </a:xfrm>
          <a:prstGeom prst="rect">
            <a:avLst/>
          </a:prstGeom>
          <a:noFill/>
        </p:spPr>
        <p:txBody>
          <a:bodyPr wrap="none" lIns="87764" tIns="43881" rIns="87764" bIns="43881" rtlCol="0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lang="zh-CN" altLang="en-US" sz="6000" kern="1700" spc="600" dirty="0">
                <a:solidFill>
                  <a:srgbClr val="EEEED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深度智算</a:t>
            </a:r>
            <a:endParaRPr lang="en-US" altLang="zh-CN" sz="6000" kern="1700" spc="600" dirty="0">
              <a:solidFill>
                <a:srgbClr val="EEEED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914400">
              <a:lnSpc>
                <a:spcPct val="120000"/>
              </a:lnSpc>
            </a:pPr>
            <a:r>
              <a:rPr lang="zh-CN" altLang="en-US" sz="6000" kern="1700" spc="600" dirty="0">
                <a:solidFill>
                  <a:srgbClr val="EEEED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启承未来</a:t>
            </a:r>
            <a:endParaRPr lang="zh-CN" altLang="en-US" sz="6000" kern="1700" spc="600" dirty="0">
              <a:solidFill>
                <a:srgbClr val="EEEED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Text Box 37"/>
          <p:cNvSpPr txBox="1"/>
          <p:nvPr/>
        </p:nvSpPr>
        <p:spPr>
          <a:xfrm>
            <a:off x="3603791" y="5583379"/>
            <a:ext cx="3442091" cy="1037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defTabSz="914400">
              <a:lnSpc>
                <a:spcPct val="140000"/>
              </a:lnSpc>
            </a:pP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</a:rPr>
              <a:t>总部地址：合肥市中国科大国金院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</a:rPr>
              <a:t>号楼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</a:rPr>
              <a:t>702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>
              <a:lnSpc>
                <a:spcPct val="140000"/>
              </a:lnSpc>
            </a:pP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</a:rPr>
              <a:t>北京地址：北京市丰台区星火路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</a:rPr>
              <a:t>号院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</a:rPr>
              <a:t>1805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>
              <a:lnSpc>
                <a:spcPct val="140000"/>
              </a:lnSpc>
            </a:pP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</a:rPr>
              <a:t>网址：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</a:rPr>
              <a:t>www.tsingdeep.com /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</a:rPr>
              <a:t>www.deeprev.com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>
              <a:lnSpc>
                <a:spcPct val="140000"/>
              </a:lnSpc>
            </a:pP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</a:rPr>
              <a:t>客服热线：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</a:rPr>
              <a:t>010-83668052 / 18911883538 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17"/>
          <p:cNvSpPr/>
          <p:nvPr/>
        </p:nvSpPr>
        <p:spPr>
          <a:xfrm>
            <a:off x="10723033" y="6475307"/>
            <a:ext cx="905087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defTabSz="914400" eaLnBrk="1" hangingPunct="1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微信公众号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094005" y="5561851"/>
            <a:ext cx="4347092" cy="1095579"/>
            <a:chOff x="3562464" y="5598782"/>
            <a:chExt cx="4941473" cy="3515833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3562464" y="5598782"/>
              <a:ext cx="0" cy="35158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8503937" y="5598782"/>
              <a:ext cx="0" cy="35158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矩形 16"/>
          <p:cNvSpPr/>
          <p:nvPr/>
        </p:nvSpPr>
        <p:spPr>
          <a:xfrm>
            <a:off x="9441416" y="6474907"/>
            <a:ext cx="886301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defTabSz="914400" eaLnBrk="1" hangingPunct="1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深启官网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16"/>
          <p:cNvSpPr/>
          <p:nvPr/>
        </p:nvSpPr>
        <p:spPr>
          <a:xfrm>
            <a:off x="8174885" y="6474907"/>
            <a:ext cx="886301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defTabSz="914400" eaLnBrk="1" hangingPunct="1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总部官网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3340" y="5645043"/>
            <a:ext cx="848700" cy="8383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-1" b="4908"/>
          <a:stretch>
            <a:fillRect/>
          </a:stretch>
        </p:blipFill>
        <p:spPr>
          <a:xfrm>
            <a:off x="10650840" y="5570128"/>
            <a:ext cx="978120" cy="9327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8"/>
          <a:stretch>
            <a:fillRect/>
          </a:stretch>
        </p:blipFill>
        <p:spPr>
          <a:xfrm>
            <a:off x="8097967" y="5585765"/>
            <a:ext cx="969248" cy="9251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297"/>
          <a:stretch>
            <a:fillRect/>
          </a:stretch>
        </p:blipFill>
        <p:spPr>
          <a:xfrm>
            <a:off x="9384311" y="5600423"/>
            <a:ext cx="969248" cy="92758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13" y="5839868"/>
            <a:ext cx="2490159" cy="53954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4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5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6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7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8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9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0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1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2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3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4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5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6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7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8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19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0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1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2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3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4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5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6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7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8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29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0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1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2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3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4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5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6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7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8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39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40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41.xml><?xml version="1.0" encoding="utf-8"?>
<p:tagLst xmlns:p="http://schemas.openxmlformats.org/presentationml/2006/main">
  <p:tag name="KSO_WM_DIAGRAM_VIRTUALLY_FRAME" val="{&quot;height&quot;:446.79660443949416,&quot;left&quot;:29.54669291338583,&quot;top&quot;:93.33133858267716,&quot;width&quot;:918.4533070866142}"/>
</p:tagLst>
</file>

<file path=ppt/tags/tag42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43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44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45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46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47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48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49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50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51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52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53.xml><?xml version="1.0" encoding="utf-8"?>
<p:tagLst xmlns:p="http://schemas.openxmlformats.org/presentationml/2006/main">
  <p:tag name="KSO_WM_DIAGRAM_VIRTUALLY_FRAME" val="{&quot;height&quot;:437.35,&quot;left&quot;:32.8,&quot;top&quot;:82.3,&quot;width&quot;:1366.273622047244}"/>
</p:tagLst>
</file>

<file path=ppt/tags/tag54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55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56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57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58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59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60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61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62.xml><?xml version="1.0" encoding="utf-8"?>
<p:tagLst xmlns:p="http://schemas.openxmlformats.org/presentationml/2006/main">
  <p:tag name="KSO_WM_DIAGRAM_VIRTUALLY_FRAME" val="{&quot;height&quot;:162.61839063002384,&quot;left&quot;:121.14076230897095,&quot;top&quot;:182.20080468498807,&quot;width&quot;:650.0649320749715}"/>
</p:tagLst>
</file>

<file path=ppt/tags/tag63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64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65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66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67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68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69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0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1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2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3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4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5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6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7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8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79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80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81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82.xml><?xml version="1.0" encoding="utf-8"?>
<p:tagLst xmlns:p="http://schemas.openxmlformats.org/presentationml/2006/main">
  <p:tag name="KSO_WM_DIAGRAM_VIRTUALLY_FRAME" val="{&quot;height&quot;:231.81551181102364,&quot;left&quot;:133.39740157480315,&quot;top&quot;:167.83149606299213,&quot;width&quot;:693.5849606299213}"/>
</p:tagLst>
</file>

<file path=ppt/tags/tag83.xml><?xml version="1.0" encoding="utf-8"?>
<p:tagLst xmlns:p="http://schemas.openxmlformats.org/presentationml/2006/main">
  <p:tag name="KSO_WM_UNIT_PLACING_PICTURE_USER_VIEWPORT" val="{&quot;height&quot;:9460,&quot;width&quot;:9600}"/>
</p:tagLst>
</file>

<file path=ppt/theme/theme1.xml><?xml version="1.0" encoding="utf-8"?>
<a:theme xmlns:a="http://schemas.openxmlformats.org/drawingml/2006/main" name="无logo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48600">
              <a:srgbClr val="AD1F24">
                <a:alpha val="20000"/>
              </a:srgbClr>
            </a:gs>
            <a:gs pos="0">
              <a:srgbClr val="AD1F24">
                <a:alpha val="0"/>
              </a:srgbClr>
            </a:gs>
            <a:gs pos="100000">
              <a:srgbClr val="AD1F24">
                <a:alpha val="0"/>
              </a:srgbClr>
            </a:gs>
          </a:gsLst>
          <a:lin ang="0" scaled="0"/>
        </a:gradFill>
        <a:ln w="6350" cap="flat" cmpd="sng" algn="ctr">
          <a:gradFill>
            <a:gsLst>
              <a:gs pos="0">
                <a:srgbClr val="AD1F24">
                  <a:alpha val="0"/>
                </a:srgbClr>
              </a:gs>
              <a:gs pos="50000">
                <a:srgbClr val="AD1F24"/>
              </a:gs>
              <a:gs pos="100000">
                <a:srgbClr val="AD1F24">
                  <a:alpha val="0"/>
                </a:srgbClr>
              </a:gs>
            </a:gsLst>
            <a:lin ang="0" scaled="0"/>
          </a:gradFill>
          <a:prstDash val="solid"/>
          <a:miter lim="800000"/>
        </a:ln>
      </a:spPr>
      <a:bodyPr rtlCol="0" anchor="ctr"/>
      <a:lstStyle>
        <a:defPPr algn="ctr" defTabSz="914400">
          <a:lnSpc>
            <a:spcPct val="150000"/>
          </a:lnSpc>
          <a:defRPr sz="1600" dirty="0">
            <a:solidFill>
              <a:srgbClr val="085192"/>
            </a:solidFill>
            <a:latin typeface="Arial" panose="020B0604020202020204" pitchFamily="34" charset="0"/>
            <a:ea typeface="微软雅黑" panose="020B0503020204020204" charset="-122"/>
            <a:cs typeface="Arial" panose="020B0604020202020204" pitchFamily="34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4252</Words>
  <Application>WPS 演示</Application>
  <PresentationFormat>宽屏</PresentationFormat>
  <Paragraphs>568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Calibri</vt:lpstr>
      <vt:lpstr>Helvetica</vt:lpstr>
      <vt:lpstr>黑体</vt:lpstr>
      <vt:lpstr>幼圆</vt:lpstr>
      <vt:lpstr>Noto Sans SC</vt:lpstr>
      <vt:lpstr>Wingdings</vt:lpstr>
      <vt:lpstr>Arial Unicode MS</vt:lpstr>
      <vt:lpstr>Helvetica</vt:lpstr>
      <vt:lpstr>Helvetica LT Pro</vt:lpstr>
      <vt:lpstr>无logo版</vt:lpstr>
      <vt:lpstr>PowerPoint 演示文稿</vt:lpstr>
      <vt:lpstr>行业痛点</vt:lpstr>
      <vt:lpstr>建设目标</vt:lpstr>
      <vt:lpstr>建设前 VS 建设后</vt:lpstr>
      <vt:lpstr>产品定位</vt:lpstr>
      <vt:lpstr>产品架构</vt:lpstr>
      <vt:lpstr>核心能力一：智能知识助手</vt:lpstr>
      <vt:lpstr>核心能力二：超温分析</vt:lpstr>
      <vt:lpstr>核心能力三：缺陷识别</vt:lpstr>
      <vt:lpstr>核心能力四：泄爆分析</vt:lpstr>
      <vt:lpstr>核心能力四：非结构化报告解析</vt:lpstr>
      <vt:lpstr>产品价值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爱因斯坦--嵬</cp:lastModifiedBy>
  <cp:revision>227</cp:revision>
  <dcterms:created xsi:type="dcterms:W3CDTF">2019-06-19T02:08:00Z</dcterms:created>
  <dcterms:modified xsi:type="dcterms:W3CDTF">2026-07-02T07:14:59Z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22F65F7329B54E6FB16DA6F16560CA7A_11</vt:lpwstr>
  </property>
</Properties>
</file>